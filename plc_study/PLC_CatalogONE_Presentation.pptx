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CatalogONE is the PLC. It publishes to consuming apps and 'the customer's CRM'. Dynamics 365 is named on the Amdocs–Microsoft CEP, not as a CatalogONE connector.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say CatalogONE sends data to Dynamics. Say: publishes to CRM; CEP names Dynamics.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Evidence: role-based UI; Commerce wizard; iCatalog for ideation.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920240"/>
            <a:ext cx="109728" cy="2377440"/>
          </a:xfrm>
          <a:prstGeom prst="rect">
            <a:avLst/>
          </a:prstGeom>
          <a:solidFill>
            <a:srgbClr val="F07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828800"/>
            <a:ext cx="1005840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600" b="1">
                <a:solidFill>
                  <a:srgbClr val="E8F0F8"/>
                </a:solidFill>
              </a:rPr>
              <a:t>PLC STUDY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286000"/>
            <a:ext cx="10515600" cy="13716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Product Lifecycle Management in Amdocs CatalogONE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749039"/>
            <a:ext cx="10515600" cy="8229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2000" b="0">
                <a:solidFill>
                  <a:srgbClr val="E8F0F8"/>
                </a:solidFill>
              </a:rPr>
              <a:t>A catalog-only PLC that publishes to consuming applications — including the customer's CRM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5212080"/>
            <a:ext cx="10058400" cy="4114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400" b="0">
                <a:solidFill>
                  <a:srgbClr val="E8F0F8"/>
                </a:solidFill>
              </a:rPr>
              <a:t>Prepared by: [Your name]   |   October 2026   |   Draft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C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0972800" cy="6400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2800" b="1">
                <a:solidFill>
                  <a:srgbClr val="0C294B"/>
                </a:solidFill>
              </a:rP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000" b="0">
                <a:solidFill>
                  <a:srgbClr val="5F5A6B"/>
                </a:solidFill>
              </a:rPr>
              <a:t>PLC study  |  Amdocs CatalogONE: from idea to CRM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r"/>
            <a:r>
              <a:rPr sz="1000" b="0">
                <a:solidFill>
                  <a:srgbClr val="5F5A6B"/>
                </a:solidFill>
              </a:rPr>
              <a:t>2 / 17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5212080" cy="1280160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00200"/>
            <a:ext cx="1005840" cy="9144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3600" b="1">
                <a:solidFill>
                  <a:srgbClr val="0C294B"/>
                </a:solidFill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645920"/>
            <a:ext cx="393192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2000" b="1">
                <a:solidFill>
                  <a:srgbClr val="26222E"/>
                </a:solidFill>
              </a:rPr>
              <a:t>Why this PLC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20240" y="2103120"/>
            <a:ext cx="393192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400" b="0">
                <a:solidFill>
                  <a:srgbClr val="5F5A6B"/>
                </a:solidFill>
              </a:rPr>
              <a:t>Catalog only; CRM is not replaced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59" y="1417320"/>
            <a:ext cx="5212080" cy="1280160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39" y="1600200"/>
            <a:ext cx="1005840" cy="9144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3600" b="1">
                <a:solidFill>
                  <a:srgbClr val="0C294B"/>
                </a:solidFill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79" y="1645920"/>
            <a:ext cx="393192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2000" b="1">
                <a:solidFill>
                  <a:srgbClr val="26222E"/>
                </a:solidFill>
              </a:rPr>
              <a:t>PLC and TM Forum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79" y="2103120"/>
            <a:ext cx="393192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400" b="0">
                <a:solidFill>
                  <a:srgbClr val="5F5A6B"/>
                </a:solidFill>
              </a:rPr>
              <a:t>The industry lifecycle model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2971800"/>
            <a:ext cx="5212080" cy="1280160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3154680"/>
            <a:ext cx="1005840" cy="9144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3600" b="1">
                <a:solidFill>
                  <a:srgbClr val="0C294B"/>
                </a:solidFill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3200400"/>
            <a:ext cx="393192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2000" b="1">
                <a:solidFill>
                  <a:srgbClr val="26222E"/>
                </a:solidFill>
              </a:rPr>
              <a:t>CatalogONE at a glance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20240" y="3657600"/>
            <a:ext cx="393192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400" b="0">
                <a:solidFill>
                  <a:srgbClr val="5F5A6B"/>
                </a:solidFill>
              </a:rPr>
              <a:t>Modules and data model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9359" y="2971800"/>
            <a:ext cx="5212080" cy="1280160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39" y="3154680"/>
            <a:ext cx="1005840" cy="9144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3600" b="1">
                <a:solidFill>
                  <a:srgbClr val="0C294B"/>
                </a:solidFill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79" y="3200400"/>
            <a:ext cx="393192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2000" b="1">
                <a:solidFill>
                  <a:srgbClr val="26222E"/>
                </a:solidFill>
              </a:rPr>
              <a:t>Using the system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79" y="3657600"/>
            <a:ext cx="393192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400" b="0">
                <a:solidFill>
                  <a:srgbClr val="5F5A6B"/>
                </a:solidFill>
              </a:rPr>
              <a:t>Eight stages from idea to launch-ready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4526280"/>
            <a:ext cx="5212080" cy="1280160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4709160"/>
            <a:ext cx="1005840" cy="9144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3600" b="1">
                <a:solidFill>
                  <a:srgbClr val="0C294B"/>
                </a:solidFill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920240" y="4754880"/>
            <a:ext cx="393192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2000" b="1">
                <a:solidFill>
                  <a:srgbClr val="26222E"/>
                </a:solidFill>
              </a:rPr>
              <a:t>How catalog reaches CRM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20240" y="5212080"/>
            <a:ext cx="393192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400" b="0">
                <a:solidFill>
                  <a:srgbClr val="5F5A6B"/>
                </a:solidFill>
              </a:rPr>
              <a:t>CatalogONE vs CEP vs Dynamics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309359" y="4526280"/>
            <a:ext cx="5212080" cy="1280160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92239" y="4709160"/>
            <a:ext cx="1005840" cy="9144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3600" b="1">
                <a:solidFill>
                  <a:srgbClr val="0C294B"/>
                </a:solidFill>
              </a:rPr>
              <a:t>06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79" y="4754880"/>
            <a:ext cx="393192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2000" b="1">
                <a:solidFill>
                  <a:srgbClr val="26222E"/>
                </a:solidFill>
              </a:rPr>
              <a:t>Evidence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8079" y="5212080"/>
            <a:ext cx="393192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400" b="0">
                <a:solidFill>
                  <a:srgbClr val="5F5A6B"/>
                </a:solidFill>
              </a:rPr>
              <a:t>Results at real operators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C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0972800" cy="6400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2800" b="1">
                <a:solidFill>
                  <a:srgbClr val="0C294B"/>
                </a:solidFill>
              </a:rPr>
              <a:t>Why this PLC: catalog only. CRM is not replaced.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4114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500" b="0">
                <a:solidFill>
                  <a:srgbClr val="5F5A6B"/>
                </a:solidFill>
              </a:rPr>
              <a:t>Two facts, kept separate: CatalogONE publishes to CRM. CEP names Dynamics 365.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000" b="0">
                <a:solidFill>
                  <a:srgbClr val="5F5A6B"/>
                </a:solidFill>
              </a:rPr>
              <a:t>PLC study  |  Amdocs CatalogONE: from idea to CRM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r"/>
            <a:r>
              <a:rPr sz="1000" b="0">
                <a:solidFill>
                  <a:srgbClr val="5F5A6B"/>
                </a:solidFill>
              </a:rPr>
              <a:t>3 / 17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63040"/>
            <a:ext cx="3474720" cy="2103120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463040"/>
            <a:ext cx="3474720" cy="91440"/>
          </a:xfrm>
          <a:prstGeom prst="rect">
            <a:avLst/>
          </a:prstGeom>
          <a:solidFill>
            <a:srgbClr val="0C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691640"/>
            <a:ext cx="320040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700" b="1">
                <a:solidFill>
                  <a:srgbClr val="0C294B"/>
                </a:solidFill>
              </a:rPr>
              <a:t>Catalog, not CRM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194560"/>
            <a:ext cx="3200400" cy="12344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300" b="0">
                <a:solidFill>
                  <a:srgbClr val="26222E"/>
                </a:solidFill>
              </a:rPr>
              <a:t>CatalogONE owns products, prices, rules and approvals. It publishes to consuming apps and "the customer's CRM".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97679" y="1463040"/>
            <a:ext cx="3474720" cy="2103120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97679" y="1463040"/>
            <a:ext cx="3474720" cy="91440"/>
          </a:xfrm>
          <a:prstGeom prst="rect">
            <a:avLst/>
          </a:prstGeom>
          <a:solidFill>
            <a:srgbClr val="0C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34839" y="1691640"/>
            <a:ext cx="320040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700" b="1">
                <a:solidFill>
                  <a:srgbClr val="0C294B"/>
                </a:solidFill>
              </a:rPr>
              <a:t>One source of truth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39" y="2194560"/>
            <a:ext cx="3200400" cy="12344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300" b="0">
                <a:solidFill>
                  <a:srgbClr val="26222E"/>
                </a:solidFill>
              </a:rPr>
              <a:t>Commercial and technical definitions live once. CRM, ordering and billing consume them.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46719" y="1463040"/>
            <a:ext cx="3474720" cy="2103120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19" y="1463040"/>
            <a:ext cx="3474720" cy="91440"/>
          </a:xfrm>
          <a:prstGeom prst="rect">
            <a:avLst/>
          </a:prstGeom>
          <a:solidFill>
            <a:srgbClr val="0C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83879" y="1691640"/>
            <a:ext cx="320040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700" b="1">
                <a:solidFill>
                  <a:srgbClr val="0C294B"/>
                </a:solidFill>
              </a:rPr>
              <a:t>A governed journey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83879" y="2194560"/>
            <a:ext cx="3200400" cy="12344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300" b="0">
                <a:solidFill>
                  <a:srgbClr val="26222E"/>
                </a:solidFill>
              </a:rPr>
              <a:t>Ideation to end-of-life, with workflow, approvals, simulations and versioned change.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3794760"/>
            <a:ext cx="3474720" cy="2103120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3794760"/>
            <a:ext cx="3474720" cy="91440"/>
          </a:xfrm>
          <a:prstGeom prst="rect">
            <a:avLst/>
          </a:prstGeom>
          <a:solidFill>
            <a:srgbClr val="0C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4023360"/>
            <a:ext cx="320040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700" b="1">
                <a:solidFill>
                  <a:srgbClr val="0C294B"/>
                </a:solidFill>
              </a:rPr>
              <a:t>Business users configure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4526280"/>
            <a:ext cx="3200400" cy="12344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300" b="0">
                <a:solidFill>
                  <a:srgbClr val="26222E"/>
                </a:solidFill>
              </a:rPr>
              <a:t>Role-based UI, templates and building blocks. No code. No deployment overhead.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97679" y="3794760"/>
            <a:ext cx="3474720" cy="2103120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297679" y="3794760"/>
            <a:ext cx="3474720" cy="9144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34839" y="4023360"/>
            <a:ext cx="320040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700" b="1">
                <a:solidFill>
                  <a:srgbClr val="0C294B"/>
                </a:solidFill>
              </a:rPr>
              <a:t>Publish, do not re-key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34839" y="4526280"/>
            <a:ext cx="3200400" cy="12344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300" b="0">
                <a:solidFill>
                  <a:srgbClr val="26222E"/>
                </a:solidFill>
              </a:rPr>
              <a:t>Kafka + TMF620 to consuming applications. Dynamics 365 is named on CEP, not on the CatalogONE datasheet.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046719" y="3794760"/>
            <a:ext cx="3474720" cy="2103120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046719" y="3794760"/>
            <a:ext cx="3474720" cy="91440"/>
          </a:xfrm>
          <a:prstGeom prst="rect">
            <a:avLst/>
          </a:prstGeom>
          <a:solidFill>
            <a:srgbClr val="F07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83879" y="4023360"/>
            <a:ext cx="320040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700" b="1">
                <a:solidFill>
                  <a:srgbClr val="0C294B"/>
                </a:solidFill>
              </a:rPr>
              <a:t>Proven results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83879" y="4526280"/>
            <a:ext cx="3200400" cy="12344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300" b="0">
                <a:solidFill>
                  <a:srgbClr val="26222E"/>
                </a:solidFill>
              </a:rPr>
              <a:t>European operator: 9 months to 1–2 weeks. Sprint / T-Mobile: expected 50% faster TTM.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C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0972800" cy="6400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2800" b="1">
                <a:solidFill>
                  <a:srgbClr val="0C294B"/>
                </a:solidFill>
              </a:rPr>
              <a:t>PLC and the TM Forum standard in brief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4114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500" b="0">
                <a:solidFill>
                  <a:srgbClr val="5F5A6B"/>
                </a:solidFill>
              </a:rPr>
              <a:t>TMF620 defines the statuses. CatalogONE PLM runs them. CRM sees Active / Launched after publish.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000" b="0">
                <a:solidFill>
                  <a:srgbClr val="5F5A6B"/>
                </a:solidFill>
              </a:rPr>
              <a:t>PLC study  |  Amdocs CatalogONE: from idea to CRM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r"/>
            <a:r>
              <a:rPr sz="1000" b="0">
                <a:solidFill>
                  <a:srgbClr val="5F5A6B"/>
                </a:solidFill>
              </a:rPr>
              <a:t>4 / 17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331720"/>
            <a:ext cx="1600200" cy="1005840"/>
          </a:xfrm>
          <a:prstGeom prst="roundRect">
            <a:avLst/>
          </a:prstGeom>
          <a:solidFill>
            <a:srgbClr val="0C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>
                <a:solidFill>
                  <a:srgbClr val="FFFFFF"/>
                </a:solidFill>
              </a:rPr>
              <a:t>In Study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429000"/>
            <a:ext cx="160020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ctr"/>
            <a:r>
              <a:rPr sz="1300" b="0">
                <a:solidFill>
                  <a:srgbClr val="5F5A6B"/>
                </a:solidFill>
              </a:rPr>
              <a:t>Idea studied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176272" y="2834640"/>
            <a:ext cx="329184" cy="0"/>
          </a:xfrm>
          <a:prstGeom prst="line">
            <a:avLst/>
          </a:prstGeom>
          <a:ln w="25400">
            <a:solidFill>
              <a:srgbClr val="0C29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737360" y="1554480"/>
            <a:ext cx="1207008" cy="6400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ctr"/>
            <a:r>
              <a:rPr sz="1100" b="0">
                <a:solidFill>
                  <a:srgbClr val="0C294B"/>
                </a:solidFill>
              </a:rPr>
              <a:t>Conception
approved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532888" y="2331720"/>
            <a:ext cx="1600200" cy="1005840"/>
          </a:xfrm>
          <a:prstGeom prst="roundRect">
            <a:avLst/>
          </a:prstGeom>
          <a:solidFill>
            <a:srgbClr val="0C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>
                <a:solidFill>
                  <a:srgbClr val="FFFFFF"/>
                </a:solidFill>
              </a:rPr>
              <a:t>In Design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32888" y="3429000"/>
            <a:ext cx="160020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ctr"/>
            <a:r>
              <a:rPr sz="1300" b="0">
                <a:solidFill>
                  <a:srgbClr val="5F5A6B"/>
                </a:solidFill>
              </a:rPr>
              <a:t>Being designed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160520" y="2834640"/>
            <a:ext cx="329184" cy="0"/>
          </a:xfrm>
          <a:prstGeom prst="line">
            <a:avLst/>
          </a:prstGeom>
          <a:ln w="25400">
            <a:solidFill>
              <a:srgbClr val="0C29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3721608" y="1554480"/>
            <a:ext cx="1207008" cy="6400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ctr"/>
            <a:r>
              <a:rPr sz="1100" b="0">
                <a:solidFill>
                  <a:srgbClr val="0C294B"/>
                </a:solidFill>
              </a:rPr>
              <a:t>Design
approved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17136" y="2331720"/>
            <a:ext cx="1600200" cy="1005840"/>
          </a:xfrm>
          <a:prstGeom prst="roundRect">
            <a:avLst/>
          </a:prstGeom>
          <a:solidFill>
            <a:srgbClr val="0C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>
                <a:solidFill>
                  <a:srgbClr val="FFFFFF"/>
                </a:solidFill>
              </a:rPr>
              <a:t>In Test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17136" y="3429000"/>
            <a:ext cx="160020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ctr"/>
            <a:r>
              <a:rPr sz="1300" b="0">
                <a:solidFill>
                  <a:srgbClr val="5F5A6B"/>
                </a:solidFill>
              </a:rPr>
              <a:t>Being tested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144768" y="2834640"/>
            <a:ext cx="329184" cy="0"/>
          </a:xfrm>
          <a:prstGeom prst="line">
            <a:avLst/>
          </a:prstGeom>
          <a:ln w="25400">
            <a:solidFill>
              <a:srgbClr val="0C29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705856" y="1554480"/>
            <a:ext cx="1207008" cy="6400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ctr"/>
            <a:r>
              <a:rPr sz="1100" b="0">
                <a:solidFill>
                  <a:srgbClr val="0C294B"/>
                </a:solidFill>
              </a:rPr>
              <a:t>Test
approved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01384" y="2331720"/>
            <a:ext cx="1600200" cy="1005840"/>
          </a:xfrm>
          <a:prstGeom prst="roundRect">
            <a:avLst/>
          </a:prstGeom>
          <a:solidFill>
            <a:srgbClr val="0C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>
                <a:solidFill>
                  <a:srgbClr val="FFFFFF"/>
                </a:solidFill>
              </a:rPr>
              <a:t>Active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01384" y="3429000"/>
            <a:ext cx="160020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ctr"/>
            <a:r>
              <a:rPr sz="1300" b="0">
                <a:solidFill>
                  <a:srgbClr val="5F5A6B"/>
                </a:solidFill>
              </a:rPr>
              <a:t>Ready, not yet sold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129016" y="2834640"/>
            <a:ext cx="329184" cy="0"/>
          </a:xfrm>
          <a:prstGeom prst="line">
            <a:avLst/>
          </a:prstGeom>
          <a:ln w="25400">
            <a:solidFill>
              <a:srgbClr val="0C29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7690104" y="1554480"/>
            <a:ext cx="1207008" cy="6400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ctr"/>
            <a:r>
              <a:rPr sz="1100" b="0">
                <a:solidFill>
                  <a:srgbClr val="0C294B"/>
                </a:solidFill>
              </a:rPr>
              <a:t>Start of
marketing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485632" y="2331720"/>
            <a:ext cx="1600200" cy="1005840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>
                <a:solidFill>
                  <a:srgbClr val="FFFFFF"/>
                </a:solidFill>
              </a:rPr>
              <a:t>Launched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85632" y="3429000"/>
            <a:ext cx="160020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ctr"/>
            <a:r>
              <a:rPr sz="1300" b="0">
                <a:solidFill>
                  <a:srgbClr val="5F5A6B"/>
                </a:solidFill>
              </a:rPr>
              <a:t>On sale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0113264" y="2834640"/>
            <a:ext cx="329184" cy="0"/>
          </a:xfrm>
          <a:prstGeom prst="line">
            <a:avLst/>
          </a:prstGeom>
          <a:ln w="25400">
            <a:solidFill>
              <a:srgbClr val="0C29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9674352" y="1554480"/>
            <a:ext cx="1207008" cy="6400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ctr"/>
            <a:r>
              <a:rPr sz="1100" b="0">
                <a:solidFill>
                  <a:srgbClr val="0C294B"/>
                </a:solidFill>
              </a:rPr>
              <a:t>End of
marketing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469880" y="2331720"/>
            <a:ext cx="1600200" cy="1005840"/>
          </a:xfrm>
          <a:prstGeom prst="roundRect">
            <a:avLst/>
          </a:prstGeom>
          <a:solidFill>
            <a:srgbClr val="5F5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>
                <a:solidFill>
                  <a:srgbClr val="FFFFFF"/>
                </a:solidFill>
              </a:rPr>
              <a:t>Retired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69880" y="3429000"/>
            <a:ext cx="160020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ctr"/>
            <a:r>
              <a:rPr sz="1300" b="0">
                <a:solidFill>
                  <a:srgbClr val="5F5A6B"/>
                </a:solidFill>
              </a:rPr>
              <a:t>No new sales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17136" y="4114800"/>
            <a:ext cx="1600200" cy="502920"/>
          </a:xfrm>
          <a:prstGeom prst="roundRect">
            <a:avLst/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>
                <a:solidFill>
                  <a:srgbClr val="FFFFFF"/>
                </a:solidFill>
              </a:rPr>
              <a:t>Rejected (test KO)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4983480"/>
            <a:ext cx="7735824" cy="73152"/>
          </a:xfrm>
          <a:prstGeom prst="rect">
            <a:avLst/>
          </a:prstGeom>
          <a:solidFill>
            <a:srgbClr val="0C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8640" y="5120640"/>
            <a:ext cx="731520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400" b="1">
                <a:solidFill>
                  <a:srgbClr val="0C294B"/>
                </a:solidFill>
              </a:rPr>
              <a:t>Inside CatalogONE: defined, approved and tested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85632" y="5120640"/>
            <a:ext cx="384048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400" b="1">
                <a:solidFill>
                  <a:srgbClr val="0078D4"/>
                </a:solidFill>
              </a:rPr>
              <a:t>Sales CRM: visible after publish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5669280"/>
            <a:ext cx="1097280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300" b="0">
                <a:solidFill>
                  <a:srgbClr val="5F5A6B"/>
                </a:solidFill>
              </a:rPr>
              <a:t>Amdocs is TM Forum-certified on TMF620. CatalogONE APIs use the TMF data model.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C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0972800" cy="6400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2800" b="1">
                <a:solidFill>
                  <a:srgbClr val="0C294B"/>
                </a:solidFill>
              </a:rPr>
              <a:t>CatalogONE at a glance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4114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500" b="0">
                <a:solidFill>
                  <a:srgbClr val="5F5A6B"/>
                </a:solidFill>
              </a:rPr>
              <a:t>Standalone telecom catalog + PLM. Modular. Does not replace CRM.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000" b="0">
                <a:solidFill>
                  <a:srgbClr val="5F5A6B"/>
                </a:solidFill>
              </a:rPr>
              <a:t>PLC study  |  Amdocs CatalogONE: from idea to CRM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r"/>
            <a:r>
              <a:rPr sz="1000" b="0">
                <a:solidFill>
                  <a:srgbClr val="5F5A6B"/>
                </a:solidFill>
              </a:rPr>
              <a:t>5 / 17</a:t>
            </a:r>
          </a:p>
        </p:txBody>
      </p:sp>
      <p:sp>
        <p:nvSpPr>
          <p:cNvPr id="7" name="Rectangle 6"/>
          <p:cNvSpPr/>
          <p:nvPr/>
        </p:nvSpPr>
        <p:spPr>
          <a:xfrm>
            <a:off x="1498980" y="1380744"/>
            <a:ext cx="3402839" cy="4507992"/>
          </a:xfrm>
          <a:prstGeom prst="rect">
            <a:avLst/>
          </a:prstGeom>
          <a:noFill/>
          <a:ln w="15875">
            <a:solidFill>
              <a:srgbClr val="C5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09_modules_l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5556" y="1417320"/>
            <a:ext cx="3329687" cy="4434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5907024"/>
            <a:ext cx="5486400" cy="4114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ctr"/>
            <a:r>
              <a:rPr sz="1000" b="0">
                <a:solidFill>
                  <a:srgbClr val="5F5A6B"/>
                </a:solidFill>
              </a:rPr>
              <a:t>Source: Amdocs, 6 Steps ebook, p.19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126480" y="1417320"/>
          <a:ext cx="5577840" cy="42793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383280"/>
              </a:tblGrid>
              <a:tr h="47548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Module</a:t>
                      </a:r>
                    </a:p>
                  </a:txBody>
                  <a:tcPr marL="73152" marR="73152">
                    <a:solidFill>
                      <a:srgbClr val="0C294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Role</a:t>
                      </a:r>
                    </a:p>
                  </a:txBody>
                  <a:tcPr marL="73152" marR="73152">
                    <a:solidFill>
                      <a:srgbClr val="0C294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6222E"/>
                          </a:solidFill>
                        </a:rPr>
                        <a:t>PLM</a:t>
                      </a:r>
                    </a:p>
                  </a:txBody>
                  <a:tcPr marL="73152" marR="73152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22E"/>
                          </a:solidFill>
                        </a:rPr>
                        <a:t>Ideation to end-of-life; approvals</a:t>
                      </a:r>
                    </a:p>
                  </a:txBody>
                  <a:tcPr marL="73152" marR="73152">
                    <a:solidFill>
                      <a:srgbClr val="E8F0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6222E"/>
                          </a:solidFill>
                        </a:rPr>
                        <a:t>Commerce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22E"/>
                          </a:solidFill>
                        </a:rPr>
                        <a:t>Offers, bundles, channels, segments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6222E"/>
                          </a:solidFill>
                        </a:rPr>
                        <a:t>Centralized</a:t>
                      </a:r>
                    </a:p>
                  </a:txBody>
                  <a:tcPr marL="73152" marR="73152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22E"/>
                          </a:solidFill>
                        </a:rPr>
                        <a:t>Master catalog; publish downstream</a:t>
                      </a:r>
                    </a:p>
                  </a:txBody>
                  <a:tcPr marL="73152" marR="73152">
                    <a:solidFill>
                      <a:srgbClr val="E8F0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6222E"/>
                          </a:solidFill>
                        </a:rPr>
                        <a:t>Service / resource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22E"/>
                          </a:solidFill>
                        </a:rPr>
                        <a:t>Technical specs for delivery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6222E"/>
                          </a:solidFill>
                        </a:rPr>
                        <a:t>Templates</a:t>
                      </a:r>
                    </a:p>
                  </a:txBody>
                  <a:tcPr marL="73152" marR="73152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22E"/>
                          </a:solidFill>
                        </a:rPr>
                        <a:t>Reusable telco building blocks</a:t>
                      </a:r>
                    </a:p>
                  </a:txBody>
                  <a:tcPr marL="73152" marR="73152">
                    <a:solidFill>
                      <a:srgbClr val="E8F0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6222E"/>
                          </a:solidFill>
                        </a:rPr>
                        <a:t>Federation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22E"/>
                          </a:solidFill>
                        </a:rPr>
                        <a:t>Partner catalogs via TMF APIs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6222E"/>
                          </a:solidFill>
                        </a:rPr>
                        <a:t>iCatalog</a:t>
                      </a:r>
                    </a:p>
                  </a:txBody>
                  <a:tcPr marL="73152" marR="73152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22E"/>
                          </a:solidFill>
                        </a:rPr>
                        <a:t>KPI dashboards and recommendations</a:t>
                      </a:r>
                    </a:p>
                  </a:txBody>
                  <a:tcPr marL="73152" marR="73152">
                    <a:solidFill>
                      <a:srgbClr val="E8F0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6222E"/>
                          </a:solidFill>
                        </a:rPr>
                        <a:t>Charging (optional)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22E"/>
                          </a:solidFill>
                        </a:rPr>
                        <a:t>Rated usage — not required here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C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0972800" cy="6400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2800" b="1">
                <a:solidFill>
                  <a:srgbClr val="0C294B"/>
                </a:solidFill>
              </a:rPr>
              <a:t>Where Dynamics 365 is named: the Amdocs–Microsoft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4114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500" b="0">
                <a:solidFill>
                  <a:srgbClr val="5F5A6B"/>
                </a:solidFill>
              </a:rPr>
              <a:t>CEP puts Catalog next to Dynamics. CatalogONE datasheets do not name Dynamics.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000" b="0">
                <a:solidFill>
                  <a:srgbClr val="5F5A6B"/>
                </a:solidFill>
              </a:rPr>
              <a:t>PLC study  |  Amdocs CatalogONE: from idea to CRM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r"/>
            <a:r>
              <a:rPr sz="1000" b="0">
                <a:solidFill>
                  <a:srgbClr val="5F5A6B"/>
                </a:solidFill>
              </a:rPr>
              <a:t>6 / 17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624" y="1335024"/>
            <a:ext cx="7022592" cy="3821164"/>
          </a:xfrm>
          <a:prstGeom prst="rect">
            <a:avLst/>
          </a:prstGeom>
          <a:noFill/>
          <a:ln w="15875">
            <a:solidFill>
              <a:srgbClr val="C5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01_cep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6949440" cy="37480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5174476"/>
            <a:ext cx="6949440" cy="4114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ctr"/>
            <a:r>
              <a:rPr sz="1000" b="0">
                <a:solidFill>
                  <a:srgbClr val="5F5A6B"/>
                </a:solidFill>
              </a:rPr>
              <a:t>Source: Amdocs and Microsoft CEP paper, p.3 — this is CEP, not a CatalogONE datasheet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35240" y="1417320"/>
            <a:ext cx="4069080" cy="1280160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0" y="1527048"/>
            <a:ext cx="379476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600" b="1">
                <a:solidFill>
                  <a:srgbClr val="0C294B"/>
                </a:solidFill>
              </a:rPr>
              <a:t>Catalog (Amdocs)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1892808"/>
            <a:ext cx="3794760" cy="7315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300" b="0">
                <a:solidFill>
                  <a:srgbClr val="26222E"/>
                </a:solidFill>
              </a:rPr>
              <a:t>Product lifecycle, offerings, prices, rules. Source of truth.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35240" y="2834640"/>
            <a:ext cx="4069080" cy="1280160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2944368"/>
            <a:ext cx="379476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600" b="1">
                <a:solidFill>
                  <a:srgbClr val="0C294B"/>
                </a:solidFill>
              </a:rPr>
              <a:t>Sales / Service (Dynamics 365)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0" y="3310128"/>
            <a:ext cx="3794760" cy="7315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300" b="0">
                <a:solidFill>
                  <a:srgbClr val="26222E"/>
                </a:solidFill>
              </a:rPr>
              <a:t>In CEP, quotes, orders and cases sit here. CRM is not replaced.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635240" y="4251960"/>
            <a:ext cx="4069080" cy="1280160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4361688"/>
            <a:ext cx="379476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600" b="1">
                <a:solidFill>
                  <a:srgbClr val="0C294B"/>
                </a:solidFill>
              </a:rPr>
              <a:t>Live operator: PLDT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4727448"/>
            <a:ext cx="3794760" cy="7315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300" b="0">
                <a:solidFill>
                  <a:srgbClr val="26222E"/>
                </a:solidFill>
              </a:rPr>
              <a:t>IDC 2026: case management on CEP. Agents use Dynamics 365. Care, not a CatalogONE catalog feed.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C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0972800" cy="6400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2800" b="1">
                <a:solidFill>
                  <a:srgbClr val="0C294B"/>
                </a:solidFill>
              </a:rPr>
              <a:t>Core data model, with one running example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4114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500" b="0">
                <a:solidFill>
                  <a:srgbClr val="5F5A6B"/>
                </a:solidFill>
              </a:rPr>
              <a:t>TM Forum entities in CatalogONE, illustrated with "Business Internet 100"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000" b="0">
                <a:solidFill>
                  <a:srgbClr val="5F5A6B"/>
                </a:solidFill>
              </a:rPr>
              <a:t>PLC study  |  Amdocs CatalogONE: from idea to CRM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r"/>
            <a:r>
              <a:rPr sz="1000" b="0">
                <a:solidFill>
                  <a:srgbClr val="5F5A6B"/>
                </a:solidFill>
              </a:rPr>
              <a:t>7 / 17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3291840" cy="685800"/>
          </a:xfrm>
          <a:prstGeom prst="roundRect">
            <a:avLst/>
          </a:prstGeom>
          <a:solidFill>
            <a:srgbClr val="0C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>
                <a:solidFill>
                  <a:srgbClr val="FFFFFF"/>
                </a:solidFill>
              </a:rPr>
              <a:t>Product Specification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1600200"/>
            <a:ext cx="365760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500" b="0">
                <a:solidFill>
                  <a:srgbClr val="26222E"/>
                </a:solidFill>
              </a:rPr>
              <a:t>What it technically is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863840" y="1463040"/>
            <a:ext cx="3749039" cy="685800"/>
          </a:xfrm>
          <a:prstGeom prst="round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0">
                <a:solidFill>
                  <a:srgbClr val="0C294B"/>
                </a:solidFill>
              </a:rPr>
              <a:t>Dedicated Internet Access, 100 Mbps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286000"/>
            <a:ext cx="3291840" cy="685800"/>
          </a:xfrm>
          <a:prstGeom prst="roundRect">
            <a:avLst/>
          </a:prstGeom>
          <a:solidFill>
            <a:srgbClr val="0C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>
                <a:solidFill>
                  <a:srgbClr val="FFFFFF"/>
                </a:solidFill>
              </a:rPr>
              <a:t>Product Offering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40" y="2423160"/>
            <a:ext cx="365760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500" b="0">
                <a:solidFill>
                  <a:srgbClr val="26222E"/>
                </a:solidFill>
              </a:rPr>
              <a:t>What is sold (single or bundle)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63840" y="2286000"/>
            <a:ext cx="3749039" cy="685800"/>
          </a:xfrm>
          <a:prstGeom prst="round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0">
                <a:solidFill>
                  <a:srgbClr val="0C294B"/>
                </a:solidFill>
              </a:rPr>
              <a:t>"Business Internet 100" bundle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108960"/>
            <a:ext cx="3291840" cy="685800"/>
          </a:xfrm>
          <a:prstGeom prst="roundRect">
            <a:avLst/>
          </a:prstGeom>
          <a:solidFill>
            <a:srgbClr val="0C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>
                <a:solidFill>
                  <a:srgbClr val="FFFFFF"/>
                </a:solidFill>
              </a:rPr>
              <a:t>Product Offering Price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06240" y="3246120"/>
            <a:ext cx="365760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500" b="0">
                <a:solidFill>
                  <a:srgbClr val="26222E"/>
                </a:solidFill>
              </a:rPr>
              <a:t>Prices attached to the offer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863840" y="3108960"/>
            <a:ext cx="3749039" cy="685800"/>
          </a:xfrm>
          <a:prstGeom prst="round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0">
                <a:solidFill>
                  <a:srgbClr val="0C294B"/>
                </a:solidFill>
              </a:rPr>
              <a:t>Monthly fee + installation per site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3931920"/>
            <a:ext cx="3291840" cy="685800"/>
          </a:xfrm>
          <a:prstGeom prst="roundRect">
            <a:avLst/>
          </a:prstGeom>
          <a:solidFill>
            <a:srgbClr val="0C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>
                <a:solidFill>
                  <a:srgbClr val="FFFFFF"/>
                </a:solidFill>
              </a:rPr>
              <a:t>Channel / segment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06240" y="4069080"/>
            <a:ext cx="365760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500" b="0">
                <a:solidFill>
                  <a:srgbClr val="26222E"/>
                </a:solidFill>
              </a:rPr>
              <a:t>Where and to whom it is sold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863840" y="3931920"/>
            <a:ext cx="3749039" cy="685800"/>
          </a:xfrm>
          <a:prstGeom prst="round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0">
                <a:solidFill>
                  <a:srgbClr val="0C294B"/>
                </a:solidFill>
              </a:rPr>
              <a:t>Enterprise AMs; SME and corporate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4754880"/>
            <a:ext cx="3291840" cy="685800"/>
          </a:xfrm>
          <a:prstGeom prst="roundRect">
            <a:avLst/>
          </a:prstGeom>
          <a:solidFill>
            <a:srgbClr val="5F5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>
                <a:solidFill>
                  <a:srgbClr val="FFFFFF"/>
                </a:solidFill>
              </a:rPr>
              <a:t>Product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06240" y="4892040"/>
            <a:ext cx="365760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500" b="0">
                <a:solidFill>
                  <a:srgbClr val="26222E"/>
                </a:solidFill>
              </a:rPr>
              <a:t>What the customer owns after sale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863840" y="4754880"/>
            <a:ext cx="3749039" cy="685800"/>
          </a:xfrm>
          <a:prstGeom prst="round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0">
                <a:solidFill>
                  <a:srgbClr val="0C294B"/>
                </a:solidFill>
              </a:rPr>
              <a:t>Company X, 3 sites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0" y="1143000"/>
            <a:ext cx="3749039" cy="3200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ctr"/>
            <a:r>
              <a:rPr sz="1200" b="0">
                <a:solidFill>
                  <a:srgbClr val="5F5A6B"/>
                </a:solidFill>
              </a:rPr>
              <a:t>Example (illustrative)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669280"/>
            <a:ext cx="10972800" cy="5029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300" b="0">
                <a:solidFill>
                  <a:srgbClr val="5F5A6B"/>
                </a:solidFill>
              </a:rPr>
              <a:t>"Business Internet 100" = 100 Mbps dedicated internet + static IPs + managed router + SLA, on 12 / 24 / 36-month contracts. Unrated enterprise product — Charging catalog is not required.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C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0972800" cy="6400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2800" b="1">
                <a:solidFill>
                  <a:srgbClr val="0C294B"/>
                </a:solidFill>
              </a:rPr>
              <a:t>Using the system (1/2): define the 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4114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500" b="0">
                <a:solidFill>
                  <a:srgbClr val="5F5A6B"/>
                </a:solidFill>
              </a:rPr>
              <a:t>What the user does, stage by stage (screen names are illustrative)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000" b="0">
                <a:solidFill>
                  <a:srgbClr val="5F5A6B"/>
                </a:solidFill>
              </a:rPr>
              <a:t>PLC study  |  Amdocs CatalogONE: from idea to CRM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r"/>
            <a:r>
              <a:rPr sz="1000" b="0">
                <a:solidFill>
                  <a:srgbClr val="5F5A6B"/>
                </a:solidFill>
              </a:rPr>
              <a:t>8 / 17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417320"/>
            <a:ext cx="2743200" cy="4800600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417320"/>
            <a:ext cx="2743200" cy="914400"/>
          </a:xfrm>
          <a:prstGeom prst="rect">
            <a:avLst/>
          </a:prstGeom>
          <a:solidFill>
            <a:srgbClr val="0C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825"/>
              </a:spcAft>
            </a:pPr>
            <a:r>
              <a:rPr sz="1500" b="1">
                <a:solidFill>
                  <a:srgbClr val="FFFFFF"/>
                </a:solidFill>
              </a:rPr>
              <a:t>Stage 1</a:t>
            </a:r>
          </a:p>
          <a:p>
            <a:pPr algn="l">
              <a:spcAft>
                <a:spcPts val="825"/>
              </a:spcAft>
            </a:pPr>
            <a:r>
              <a:rPr sz="1500" b="1">
                <a:solidFill>
                  <a:srgbClr val="FFFFFF"/>
                </a:solidFill>
              </a:rPr>
              <a:t>Ideation &amp; business case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404872"/>
            <a:ext cx="2560320" cy="292608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200" b="1">
                <a:solidFill>
                  <a:srgbClr val="F07300"/>
                </a:solidFill>
              </a:rPr>
              <a:t>In Study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679192"/>
            <a:ext cx="256032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200" b="0">
                <a:solidFill>
                  <a:srgbClr val="5F5A6B"/>
                </a:solidFill>
              </a:rPr>
              <a:t>Owner: Product Manager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" y="3108960"/>
            <a:ext cx="26974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74320" indent="-228600">
              <a:spcAft>
                <a:spcPts val="900"/>
              </a:spcAft>
              <a:buChar char="•"/>
            </a:pPr>
            <a:r>
              <a:rPr sz="1200">
                <a:solidFill>
                  <a:srgbClr val="26222E"/>
                </a:solidFill>
              </a:rPr>
              <a:t>Register "Business Internet 100 for SMEs"</a:t>
            </a:r>
          </a:p>
          <a:p>
            <a:pPr marL="274320" indent="-228600">
              <a:spcAft>
                <a:spcPts val="900"/>
              </a:spcAft>
              <a:buChar char="•"/>
            </a:pPr>
            <a:r>
              <a:rPr sz="1200">
                <a:solidFill>
                  <a:srgbClr val="26222E"/>
                </a:solidFill>
              </a:rPr>
              <a:t>Attach business case: segment, sites, revenue</a:t>
            </a:r>
          </a:p>
          <a:p>
            <a:pPr marL="274320" indent="-228600">
              <a:spcAft>
                <a:spcPts val="900"/>
              </a:spcAft>
              <a:buChar char="•"/>
            </a:pPr>
            <a:r>
              <a:rPr sz="1200">
                <a:solidFill>
                  <a:srgbClr val="26222E"/>
                </a:solidFill>
              </a:rPr>
              <a:t>Use iCatalog to size demand and cannibalisation</a:t>
            </a:r>
          </a:p>
          <a:p>
            <a:pPr marL="274320" indent="-228600">
              <a:spcAft>
                <a:spcPts val="900"/>
              </a:spcAft>
              <a:buChar char="•"/>
            </a:pPr>
            <a:r>
              <a:rPr sz="1200">
                <a:solidFill>
                  <a:srgbClr val="26222E"/>
                </a:solidFill>
              </a:rPr>
              <a:t>Reuse existing catalog items</a:t>
            </a:r>
          </a:p>
          <a:p>
            <a:pPr marL="274320" indent="-228600">
              <a:spcAft>
                <a:spcPts val="900"/>
              </a:spcAft>
              <a:buChar char="•"/>
            </a:pPr>
            <a:r>
              <a:rPr sz="1200">
                <a:solidFill>
                  <a:srgbClr val="26222E"/>
                </a:solidFill>
              </a:rPr>
              <a:t>Submit for conception approval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83280" y="1417320"/>
            <a:ext cx="2743200" cy="4800600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83280" y="1417320"/>
            <a:ext cx="2743200" cy="914400"/>
          </a:xfrm>
          <a:prstGeom prst="rect">
            <a:avLst/>
          </a:prstGeom>
          <a:solidFill>
            <a:srgbClr val="0C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825"/>
              </a:spcAft>
            </a:pPr>
            <a:r>
              <a:rPr sz="1500" b="1">
                <a:solidFill>
                  <a:srgbClr val="FFFFFF"/>
                </a:solidFill>
              </a:rPr>
              <a:t>Stage 2</a:t>
            </a:r>
          </a:p>
          <a:p>
            <a:pPr algn="l">
              <a:spcAft>
                <a:spcPts val="825"/>
              </a:spcAft>
            </a:pPr>
            <a:r>
              <a:rPr sz="1500" b="1">
                <a:solidFill>
                  <a:srgbClr val="FFFFFF"/>
                </a:solidFill>
              </a:rPr>
              <a:t>Technical definition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2404872"/>
            <a:ext cx="2560320" cy="292608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200" b="1">
                <a:solidFill>
                  <a:srgbClr val="F07300"/>
                </a:solidFill>
              </a:rPr>
              <a:t>In Design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2679192"/>
            <a:ext cx="256032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200" b="0">
                <a:solidFill>
                  <a:srgbClr val="5F5A6B"/>
                </a:solidFill>
              </a:rPr>
              <a:t>Owner: Product Specialist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01568" y="3108960"/>
            <a:ext cx="26974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74320" indent="-228600">
              <a:spcAft>
                <a:spcPts val="900"/>
              </a:spcAft>
              <a:buChar char="•"/>
            </a:pPr>
            <a:r>
              <a:rPr sz="1200">
                <a:solidFill>
                  <a:srgbClr val="26222E"/>
                </a:solidFill>
              </a:rPr>
              <a:t>Open the service / resource catalog</a:t>
            </a:r>
          </a:p>
          <a:p>
            <a:pPr marL="274320" indent="-228600">
              <a:spcAft>
                <a:spcPts val="900"/>
              </a:spcAft>
              <a:buChar char="•"/>
            </a:pPr>
            <a:r>
              <a:rPr sz="1200">
                <a:solidFill>
                  <a:srgbClr val="26222E"/>
                </a:solidFill>
              </a:rPr>
              <a:t>Set bandwidth, access type, IP block</a:t>
            </a:r>
          </a:p>
          <a:p>
            <a:pPr marL="274320" indent="-228600">
              <a:spcAft>
                <a:spcPts val="900"/>
              </a:spcAft>
              <a:buChar char="•"/>
            </a:pPr>
            <a:r>
              <a:rPr sz="1200">
                <a:solidFill>
                  <a:srgbClr val="26222E"/>
                </a:solidFill>
              </a:rPr>
              <a:t>Add router, IP block, SLA specs</a:t>
            </a:r>
          </a:p>
          <a:p>
            <a:pPr marL="274320" indent="-228600">
              <a:spcAft>
                <a:spcPts val="900"/>
              </a:spcAft>
              <a:buChar char="•"/>
            </a:pPr>
            <a:r>
              <a:rPr sz="1200">
                <a:solidFill>
                  <a:srgbClr val="26222E"/>
                </a:solidFill>
              </a:rPr>
              <a:t>Expose them to the commercial catalog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417320"/>
            <a:ext cx="2743200" cy="4800600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63640" y="1417320"/>
            <a:ext cx="2743200" cy="914400"/>
          </a:xfrm>
          <a:prstGeom prst="rect">
            <a:avLst/>
          </a:prstGeom>
          <a:solidFill>
            <a:srgbClr val="0C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825"/>
              </a:spcAft>
            </a:pPr>
            <a:r>
              <a:rPr sz="1500" b="1">
                <a:solidFill>
                  <a:srgbClr val="FFFFFF"/>
                </a:solidFill>
              </a:rPr>
              <a:t>Stage 3</a:t>
            </a:r>
          </a:p>
          <a:p>
            <a:pPr algn="l">
              <a:spcAft>
                <a:spcPts val="825"/>
              </a:spcAft>
            </a:pPr>
            <a:r>
              <a:rPr sz="1500" b="1">
                <a:solidFill>
                  <a:srgbClr val="FFFFFF"/>
                </a:solidFill>
              </a:rPr>
              <a:t>Commercial offer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2404872"/>
            <a:ext cx="2560320" cy="292608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200" b="1">
                <a:solidFill>
                  <a:srgbClr val="F07300"/>
                </a:solidFill>
              </a:rPr>
              <a:t>In Design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2679192"/>
            <a:ext cx="256032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200" b="0">
                <a:solidFill>
                  <a:srgbClr val="5F5A6B"/>
                </a:solidFill>
              </a:rPr>
              <a:t>Owner: Product Manager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81928" y="3108960"/>
            <a:ext cx="26974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74320" indent="-228600">
              <a:spcAft>
                <a:spcPts val="900"/>
              </a:spcAft>
              <a:buChar char="•"/>
            </a:pPr>
            <a:r>
              <a:rPr sz="1200">
                <a:solidFill>
                  <a:srgbClr val="26222E"/>
                </a:solidFill>
              </a:rPr>
              <a:t>Start the Commerce offer wizard</a:t>
            </a:r>
          </a:p>
          <a:p>
            <a:pPr marL="274320" indent="-228600">
              <a:spcAft>
                <a:spcPts val="900"/>
              </a:spcAft>
              <a:buChar char="•"/>
            </a:pPr>
            <a:r>
              <a:rPr sz="1200">
                <a:solidFill>
                  <a:srgbClr val="26222E"/>
                </a:solidFill>
              </a:rPr>
              <a:t>Bundle internet + IPs + router + SLA</a:t>
            </a:r>
          </a:p>
          <a:p>
            <a:pPr marL="274320" indent="-228600">
              <a:spcAft>
                <a:spcPts val="900"/>
              </a:spcAft>
              <a:buChar char="•"/>
            </a:pPr>
            <a:r>
              <a:rPr sz="1200">
                <a:solidFill>
                  <a:srgbClr val="26222E"/>
                </a:solidFill>
              </a:rPr>
              <a:t>Add optional add-ons</a:t>
            </a:r>
          </a:p>
          <a:p>
            <a:pPr marL="274320" indent="-228600">
              <a:spcAft>
                <a:spcPts val="900"/>
              </a:spcAft>
              <a:buChar char="•"/>
            </a:pPr>
            <a:r>
              <a:rPr sz="1200">
                <a:solidFill>
                  <a:srgbClr val="26222E"/>
                </a:solidFill>
              </a:rPr>
              <a:t>Place in the Enterprise catalog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44000" y="1417320"/>
            <a:ext cx="2743200" cy="4800600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144000" y="1417320"/>
            <a:ext cx="2743200" cy="914400"/>
          </a:xfrm>
          <a:prstGeom prst="rect">
            <a:avLst/>
          </a:prstGeom>
          <a:solidFill>
            <a:srgbClr val="0C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825"/>
              </a:spcAft>
            </a:pPr>
            <a:r>
              <a:rPr sz="1500" b="1">
                <a:solidFill>
                  <a:srgbClr val="FFFFFF"/>
                </a:solidFill>
              </a:rPr>
              <a:t>Stage 4</a:t>
            </a:r>
          </a:p>
          <a:p>
            <a:pPr algn="l">
              <a:spcAft>
                <a:spcPts val="825"/>
              </a:spcAft>
            </a:pPr>
            <a:r>
              <a:rPr sz="1500" b="1">
                <a:solidFill>
                  <a:srgbClr val="FFFFFF"/>
                </a:solidFill>
              </a:rPr>
              <a:t>Pricing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35440" y="2404872"/>
            <a:ext cx="2560320" cy="292608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200" b="1">
                <a:solidFill>
                  <a:srgbClr val="F07300"/>
                </a:solidFill>
              </a:rPr>
              <a:t>In Design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35440" y="2679192"/>
            <a:ext cx="256032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200" b="0">
                <a:solidFill>
                  <a:srgbClr val="5F5A6B"/>
                </a:solidFill>
              </a:rPr>
              <a:t>Owner: PM + Finance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62288" y="3108960"/>
            <a:ext cx="26974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74320" indent="-228600">
              <a:spcAft>
                <a:spcPts val="900"/>
              </a:spcAft>
              <a:buChar char="•"/>
            </a:pPr>
            <a:r>
              <a:rPr sz="1200">
                <a:solidFill>
                  <a:srgbClr val="26222E"/>
                </a:solidFill>
              </a:rPr>
              <a:t>Monthly fee and installation per site</a:t>
            </a:r>
          </a:p>
          <a:p>
            <a:pPr marL="274320" indent="-228600">
              <a:spcAft>
                <a:spcPts val="900"/>
              </a:spcAft>
              <a:buChar char="•"/>
            </a:pPr>
            <a:r>
              <a:rPr sz="1200">
                <a:solidFill>
                  <a:srgbClr val="26222E"/>
                </a:solidFill>
              </a:rPr>
              <a:t>Prices by contract term (12 / 24 / 36)</a:t>
            </a:r>
          </a:p>
          <a:p>
            <a:pPr marL="274320" indent="-228600">
              <a:spcAft>
                <a:spcPts val="900"/>
              </a:spcAft>
              <a:buChar char="•"/>
            </a:pPr>
            <a:r>
              <a:rPr sz="1200">
                <a:solidFill>
                  <a:srgbClr val="26222E"/>
                </a:solidFill>
              </a:rPr>
              <a:t>Multi-site discount, validity dates</a:t>
            </a:r>
          </a:p>
          <a:p>
            <a:pPr marL="274320" indent="-228600">
              <a:spcAft>
                <a:spcPts val="900"/>
              </a:spcAft>
              <a:buChar char="•"/>
            </a:pPr>
            <a:r>
              <a:rPr sz="1200">
                <a:solidFill>
                  <a:srgbClr val="26222E"/>
                </a:solidFill>
              </a:rPr>
              <a:t>Charging catalog is optional here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C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0972800" cy="6400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2800" b="1">
                <a:solidFill>
                  <a:srgbClr val="0C294B"/>
                </a:solidFill>
              </a:rPr>
              <a:t>Using the system (2/2): control and release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4114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500" b="0">
                <a:solidFill>
                  <a:srgbClr val="5F5A6B"/>
                </a:solidFill>
              </a:rPr>
              <a:t>Rules, approvals, versions and testing decide when a product is ready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000" b="0">
                <a:solidFill>
                  <a:srgbClr val="5F5A6B"/>
                </a:solidFill>
              </a:rPr>
              <a:t>PLC study  |  Amdocs CatalogONE: from idea to CRM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r"/>
            <a:r>
              <a:rPr sz="1000" b="0">
                <a:solidFill>
                  <a:srgbClr val="5F5A6B"/>
                </a:solidFill>
              </a:rPr>
              <a:t>9 / 17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417320"/>
            <a:ext cx="2743200" cy="4800600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417320"/>
            <a:ext cx="2743200" cy="914400"/>
          </a:xfrm>
          <a:prstGeom prst="rect">
            <a:avLst/>
          </a:prstGeom>
          <a:solidFill>
            <a:srgbClr val="0C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825"/>
              </a:spcAft>
            </a:pPr>
            <a:r>
              <a:rPr sz="1500" b="1">
                <a:solidFill>
                  <a:srgbClr val="FFFFFF"/>
                </a:solidFill>
              </a:rPr>
              <a:t>Stage 5</a:t>
            </a:r>
          </a:p>
          <a:p>
            <a:pPr algn="l">
              <a:spcAft>
                <a:spcPts val="825"/>
              </a:spcAft>
            </a:pPr>
            <a:r>
              <a:rPr sz="1500" b="1">
                <a:solidFill>
                  <a:srgbClr val="FFFFFF"/>
                </a:solidFill>
              </a:rPr>
              <a:t>Rules &amp; eligibility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404872"/>
            <a:ext cx="2560320" cy="292608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200" b="1">
                <a:solidFill>
                  <a:srgbClr val="F07300"/>
                </a:solidFill>
              </a:rPr>
              <a:t>In Design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679192"/>
            <a:ext cx="256032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200" b="0">
                <a:solidFill>
                  <a:srgbClr val="5F5A6B"/>
                </a:solidFill>
              </a:rPr>
              <a:t>Owner: Product Manager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" y="3108960"/>
            <a:ext cx="26974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74320" indent="-228600">
              <a:spcAft>
                <a:spcPts val="900"/>
              </a:spcAft>
              <a:buChar char="•"/>
            </a:pPr>
            <a:r>
              <a:rPr sz="1200">
                <a:solidFill>
                  <a:srgbClr val="26222E"/>
                </a:solidFill>
              </a:rPr>
              <a:t>Market: fibre-covered areas</a:t>
            </a:r>
          </a:p>
          <a:p>
            <a:pPr marL="274320" indent="-228600">
              <a:spcAft>
                <a:spcPts val="900"/>
              </a:spcAft>
              <a:buChar char="•"/>
            </a:pPr>
            <a:r>
              <a:rPr sz="1200">
                <a:solidFill>
                  <a:srgbClr val="26222E"/>
                </a:solidFill>
              </a:rPr>
              <a:t>Channel: enterprise account managers</a:t>
            </a:r>
          </a:p>
          <a:p>
            <a:pPr marL="274320" indent="-228600">
              <a:spcAft>
                <a:spcPts val="900"/>
              </a:spcAft>
              <a:buChar char="•"/>
            </a:pPr>
            <a:r>
              <a:rPr sz="1200">
                <a:solidFill>
                  <a:srgbClr val="26222E"/>
                </a:solidFill>
              </a:rPr>
              <a:t>Segment: SME, corporate</a:t>
            </a:r>
          </a:p>
          <a:p>
            <a:pPr marL="274320" indent="-228600">
              <a:spcAft>
                <a:spcPts val="900"/>
              </a:spcAft>
              <a:buChar char="•"/>
            </a:pPr>
            <a:r>
              <a:rPr sz="1200">
                <a:solidFill>
                  <a:srgbClr val="26222E"/>
                </a:solidFill>
              </a:rPr>
              <a:t>Constraints (backup link only on 24/36 months)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83280" y="1417320"/>
            <a:ext cx="2743200" cy="4800600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83280" y="1417320"/>
            <a:ext cx="2743200" cy="914400"/>
          </a:xfrm>
          <a:prstGeom prst="rect">
            <a:avLst/>
          </a:prstGeom>
          <a:solidFill>
            <a:srgbClr val="0C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825"/>
              </a:spcAft>
            </a:pPr>
            <a:r>
              <a:rPr sz="1500" b="1">
                <a:solidFill>
                  <a:srgbClr val="FFFFFF"/>
                </a:solidFill>
              </a:rPr>
              <a:t>Stage 6</a:t>
            </a:r>
          </a:p>
          <a:p>
            <a:pPr algn="l">
              <a:spcAft>
                <a:spcPts val="825"/>
              </a:spcAft>
            </a:pPr>
            <a:r>
              <a:rPr sz="1500" b="1">
                <a:solidFill>
                  <a:srgbClr val="FFFFFF"/>
                </a:solidFill>
              </a:rPr>
              <a:t>Approval gates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2404872"/>
            <a:ext cx="2560320" cy="292608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200" b="1">
                <a:solidFill>
                  <a:srgbClr val="F07300"/>
                </a:solidFill>
              </a:rPr>
              <a:t>In Design to In Test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2679192"/>
            <a:ext cx="256032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200" b="0">
                <a:solidFill>
                  <a:srgbClr val="5F5A6B"/>
                </a:solidFill>
              </a:rPr>
              <a:t>Owner: Approvers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01568" y="3108960"/>
            <a:ext cx="26974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74320" indent="-228600">
              <a:spcAft>
                <a:spcPts val="900"/>
              </a:spcAft>
              <a:buChar char="•"/>
            </a:pPr>
            <a:r>
              <a:rPr sz="1200">
                <a:solidFill>
                  <a:srgbClr val="26222E"/>
                </a:solidFill>
              </a:rPr>
              <a:t>PM submits in PLM</a:t>
            </a:r>
          </a:p>
          <a:p>
            <a:pPr marL="274320" indent="-228600">
              <a:spcAft>
                <a:spcPts val="900"/>
              </a:spcAft>
              <a:buChar char="•"/>
            </a:pPr>
            <a:r>
              <a:rPr sz="1200">
                <a:solidFill>
                  <a:srgbClr val="26222E"/>
                </a:solidFill>
              </a:rPr>
              <a:t>Marketing, Finance, Legal, IT review</a:t>
            </a:r>
          </a:p>
          <a:p>
            <a:pPr marL="274320" indent="-228600">
              <a:spcAft>
                <a:spcPts val="900"/>
              </a:spcAft>
              <a:buChar char="•"/>
            </a:pPr>
            <a:r>
              <a:rPr sz="1200">
                <a:solidFill>
                  <a:srgbClr val="26222E"/>
                </a:solidFill>
              </a:rPr>
              <a:t>Approve or reject with comments</a:t>
            </a:r>
          </a:p>
          <a:p>
            <a:pPr marL="274320" indent="-228600">
              <a:spcAft>
                <a:spcPts val="900"/>
              </a:spcAft>
              <a:buChar char="•"/>
            </a:pPr>
            <a:r>
              <a:rPr sz="1200">
                <a:solidFill>
                  <a:srgbClr val="26222E"/>
                </a:solidFill>
              </a:rPr>
              <a:t>All approved: status moves to In Test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417320"/>
            <a:ext cx="2743200" cy="4800600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63640" y="1417320"/>
            <a:ext cx="2743200" cy="914400"/>
          </a:xfrm>
          <a:prstGeom prst="rect">
            <a:avLst/>
          </a:prstGeom>
          <a:solidFill>
            <a:srgbClr val="0C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825"/>
              </a:spcAft>
            </a:pPr>
            <a:r>
              <a:rPr sz="1500" b="1">
                <a:solidFill>
                  <a:srgbClr val="FFFFFF"/>
                </a:solidFill>
              </a:rPr>
              <a:t>Stage 7</a:t>
            </a:r>
          </a:p>
          <a:p>
            <a:pPr algn="l">
              <a:spcAft>
                <a:spcPts val="825"/>
              </a:spcAft>
            </a:pPr>
            <a:r>
              <a:rPr sz="1500" b="1">
                <a:solidFill>
                  <a:srgbClr val="FFFFFF"/>
                </a:solidFill>
              </a:rPr>
              <a:t>Versioning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2404872"/>
            <a:ext cx="2560320" cy="292608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200" b="1">
                <a:solidFill>
                  <a:srgbClr val="F07300"/>
                </a:solidFill>
              </a:rPr>
              <a:t>Any status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2679192"/>
            <a:ext cx="256032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200" b="0">
                <a:solidFill>
                  <a:srgbClr val="5F5A6B"/>
                </a:solidFill>
              </a:rPr>
              <a:t>Owner: PM / Catalog admin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81928" y="3108960"/>
            <a:ext cx="26974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74320" indent="-228600">
              <a:spcAft>
                <a:spcPts val="900"/>
              </a:spcAft>
              <a:buChar char="•"/>
            </a:pPr>
            <a:r>
              <a:rPr sz="1200">
                <a:solidFill>
                  <a:srgbClr val="26222E"/>
                </a:solidFill>
              </a:rPr>
              <a:t>Never edit a launched product directly</a:t>
            </a:r>
          </a:p>
          <a:p>
            <a:pPr marL="274320" indent="-228600">
              <a:spcAft>
                <a:spcPts val="900"/>
              </a:spcAft>
              <a:buChar char="•"/>
            </a:pPr>
            <a:r>
              <a:rPr sz="1200">
                <a:solidFill>
                  <a:srgbClr val="26222E"/>
                </a:solidFill>
              </a:rPr>
              <a:t>Create a new version instead</a:t>
            </a:r>
          </a:p>
          <a:p>
            <a:pPr marL="274320" indent="-228600">
              <a:spcAft>
                <a:spcPts val="900"/>
              </a:spcAft>
              <a:buChar char="•"/>
            </a:pPr>
            <a:r>
              <a:rPr sz="1200">
                <a:solidFill>
                  <a:srgbClr val="26222E"/>
                </a:solidFill>
              </a:rPr>
              <a:t>New version re-runs approval and test</a:t>
            </a:r>
          </a:p>
          <a:p>
            <a:pPr marL="274320" indent="-228600">
              <a:spcAft>
                <a:spcPts val="900"/>
              </a:spcAft>
              <a:buChar char="•"/>
            </a:pPr>
            <a:r>
              <a:rPr sz="1200">
                <a:solidFill>
                  <a:srgbClr val="26222E"/>
                </a:solidFill>
              </a:rPr>
              <a:t>Auto-release publishes the new version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44000" y="1417320"/>
            <a:ext cx="2743200" cy="4800600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144000" y="1417320"/>
            <a:ext cx="2743200" cy="914400"/>
          </a:xfrm>
          <a:prstGeom prst="rect">
            <a:avLst/>
          </a:prstGeom>
          <a:solidFill>
            <a:srgbClr val="0C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825"/>
              </a:spcAft>
            </a:pPr>
            <a:r>
              <a:rPr sz="1500" b="1">
                <a:solidFill>
                  <a:srgbClr val="FFFFFF"/>
                </a:solidFill>
              </a:rPr>
              <a:t>Stage 8</a:t>
            </a:r>
          </a:p>
          <a:p>
            <a:pPr algn="l">
              <a:spcAft>
                <a:spcPts val="825"/>
              </a:spcAft>
            </a:pPr>
            <a:r>
              <a:rPr sz="1500" b="1">
                <a:solidFill>
                  <a:srgbClr val="FFFFFF"/>
                </a:solidFill>
              </a:rPr>
              <a:t>Testing &amp; readiness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35440" y="2404872"/>
            <a:ext cx="2560320" cy="292608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200" b="1">
                <a:solidFill>
                  <a:srgbClr val="F07300"/>
                </a:solidFill>
              </a:rPr>
              <a:t>In Test to Active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35440" y="2679192"/>
            <a:ext cx="256032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200" b="0">
                <a:solidFill>
                  <a:srgbClr val="5F5A6B"/>
                </a:solidFill>
              </a:rPr>
              <a:t>Owner: Test team / 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62288" y="3108960"/>
            <a:ext cx="26974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74320" indent="-228600">
              <a:spcAft>
                <a:spcPts val="900"/>
              </a:spcAft>
              <a:buChar char="•"/>
            </a:pPr>
            <a:r>
              <a:rPr sz="1200">
                <a:solidFill>
                  <a:srgbClr val="26222E"/>
                </a:solidFill>
              </a:rPr>
              <a:t>Release to sandbox</a:t>
            </a:r>
          </a:p>
          <a:p>
            <a:pPr marL="274320" indent="-228600">
              <a:spcAft>
                <a:spcPts val="900"/>
              </a:spcAft>
              <a:buChar char="•"/>
            </a:pPr>
            <a:r>
              <a:rPr sz="1200">
                <a:solidFill>
                  <a:srgbClr val="26222E"/>
                </a:solidFill>
              </a:rPr>
              <a:t>Test quotes and orders</a:t>
            </a:r>
          </a:p>
          <a:p>
            <a:pPr marL="274320" indent="-228600">
              <a:spcAft>
                <a:spcPts val="900"/>
              </a:spcAft>
              <a:buChar char="•"/>
            </a:pPr>
            <a:r>
              <a:rPr sz="1200">
                <a:solidFill>
                  <a:srgbClr val="26222E"/>
                </a:solidFill>
              </a:rPr>
              <a:t>Pass: Active, ready to publish</a:t>
            </a:r>
          </a:p>
          <a:p>
            <a:pPr marL="274320" indent="-228600">
              <a:spcAft>
                <a:spcPts val="900"/>
              </a:spcAft>
              <a:buChar char="•"/>
            </a:pPr>
            <a:r>
              <a:rPr sz="1200">
                <a:solidFill>
                  <a:srgbClr val="26222E"/>
                </a:solidFill>
              </a:rPr>
              <a:t>Fail: Rejected or new version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C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0972800" cy="6400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2800" b="1">
                <a:solidFill>
                  <a:srgbClr val="0C294B"/>
                </a:solidFill>
              </a:rPr>
              <a:t>Approval gates: nothing is published by accident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4114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500" b="0">
                <a:solidFill>
                  <a:srgbClr val="5F5A6B"/>
                </a:solidFill>
              </a:rPr>
              <a:t>Each status change is a decision, recorded with who approved it and why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000" b="0">
                <a:solidFill>
                  <a:srgbClr val="5F5A6B"/>
                </a:solidFill>
              </a:rPr>
              <a:t>PLC study  |  Amdocs CatalogONE: from idea to CRM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r"/>
            <a:r>
              <a:rPr sz="1000" b="0">
                <a:solidFill>
                  <a:srgbClr val="5F5A6B"/>
                </a:solidFill>
              </a:rPr>
              <a:t>10 / 17</a:t>
            </a:r>
          </a:p>
        </p:txBody>
      </p:sp>
      <p:sp>
        <p:nvSpPr>
          <p:cNvPr id="7" name="Pentagon 6"/>
          <p:cNvSpPr/>
          <p:nvPr/>
        </p:nvSpPr>
        <p:spPr>
          <a:xfrm>
            <a:off x="548640" y="1554480"/>
            <a:ext cx="2697480" cy="1005840"/>
          </a:xfrm>
          <a:prstGeom prst="homePlate">
            <a:avLst/>
          </a:prstGeom>
          <a:solidFill>
            <a:srgbClr val="0C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825"/>
              </a:spcAft>
            </a:pPr>
            <a:r>
              <a:rPr sz="1500" b="1">
                <a:solidFill>
                  <a:srgbClr val="FFFFFF"/>
                </a:solidFill>
              </a:rPr>
              <a:t>Gate 1</a:t>
            </a:r>
          </a:p>
          <a:p>
            <a:pPr algn="ctr">
              <a:spcAft>
                <a:spcPts val="825"/>
              </a:spcAft>
            </a:pPr>
            <a:r>
              <a:rPr sz="1500" b="1">
                <a:solidFill>
                  <a:srgbClr val="FFFFFF"/>
                </a:solidFill>
              </a:rPr>
              <a:t>Conception approved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697480"/>
            <a:ext cx="269748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ctr"/>
            <a:r>
              <a:rPr sz="1300" b="1">
                <a:solidFill>
                  <a:srgbClr val="F07300"/>
                </a:solidFill>
              </a:rPr>
              <a:t>In Study to In Design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154680"/>
            <a:ext cx="2697480" cy="2194560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3246120"/>
            <a:ext cx="2468880" cy="20116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770"/>
              </a:spcAft>
            </a:pPr>
            <a:r>
              <a:rPr b="1" sz="1400">
                <a:solidFill>
                  <a:srgbClr val="0C294B"/>
                </a:solidFill>
              </a:rPr>
              <a:t>Question: </a:t>
            </a:r>
            <a:r>
              <a:rPr sz="1400">
                <a:solidFill>
                  <a:srgbClr val="26222E"/>
                </a:solidFill>
              </a:rPr>
              <a:t>Is the idea worth designing?</a:t>
            </a:r>
          </a:p>
          <a:p>
            <a:pPr algn="l">
              <a:spcAft>
                <a:spcPts val="770"/>
              </a:spcAft>
            </a:pPr>
            <a:r>
              <a:rPr b="1" sz="1400">
                <a:solidFill>
                  <a:srgbClr val="0C294B"/>
                </a:solidFill>
              </a:rPr>
              <a:t>Approvers: </a:t>
            </a:r>
            <a:r>
              <a:rPr sz="1400">
                <a:solidFill>
                  <a:srgbClr val="26222E"/>
                </a:solidFill>
              </a:rPr>
              <a:t>Product Manager, Marketing, Finance</a:t>
            </a:r>
          </a:p>
        </p:txBody>
      </p:sp>
      <p:sp>
        <p:nvSpPr>
          <p:cNvPr id="11" name="Pentagon 10"/>
          <p:cNvSpPr/>
          <p:nvPr/>
        </p:nvSpPr>
        <p:spPr>
          <a:xfrm>
            <a:off x="3429000" y="1554480"/>
            <a:ext cx="2697480" cy="1005840"/>
          </a:xfrm>
          <a:prstGeom prst="homePlate">
            <a:avLst/>
          </a:prstGeom>
          <a:solidFill>
            <a:srgbClr val="0C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825"/>
              </a:spcAft>
            </a:pPr>
            <a:r>
              <a:rPr sz="1500" b="1">
                <a:solidFill>
                  <a:srgbClr val="FFFFFF"/>
                </a:solidFill>
              </a:rPr>
              <a:t>Gate 2</a:t>
            </a:r>
          </a:p>
          <a:p>
            <a:pPr algn="ctr">
              <a:spcAft>
                <a:spcPts val="825"/>
              </a:spcAft>
            </a:pPr>
            <a:r>
              <a:rPr sz="1500" b="1">
                <a:solidFill>
                  <a:srgbClr val="FFFFFF"/>
                </a:solidFill>
              </a:rPr>
              <a:t>Design approved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29000" y="2697480"/>
            <a:ext cx="269748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ctr"/>
            <a:r>
              <a:rPr sz="1300" b="1">
                <a:solidFill>
                  <a:srgbClr val="F07300"/>
                </a:solidFill>
              </a:rPr>
              <a:t>In Design to In Test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29000" y="3154680"/>
            <a:ext cx="2697480" cy="2194560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38728" y="3246120"/>
            <a:ext cx="2468880" cy="20116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770"/>
              </a:spcAft>
            </a:pPr>
            <a:r>
              <a:rPr b="1" sz="1400">
                <a:solidFill>
                  <a:srgbClr val="0C294B"/>
                </a:solidFill>
              </a:rPr>
              <a:t>Question: </a:t>
            </a:r>
            <a:r>
              <a:rPr sz="1400">
                <a:solidFill>
                  <a:srgbClr val="26222E"/>
                </a:solidFill>
              </a:rPr>
              <a:t>Are offer, price, rules and terms right?</a:t>
            </a:r>
          </a:p>
          <a:p>
            <a:pPr algn="l">
              <a:spcAft>
                <a:spcPts val="770"/>
              </a:spcAft>
            </a:pPr>
            <a:r>
              <a:rPr b="1" sz="1400">
                <a:solidFill>
                  <a:srgbClr val="0C294B"/>
                </a:solidFill>
              </a:rPr>
              <a:t>Approvers: </a:t>
            </a:r>
            <a:r>
              <a:rPr sz="1400">
                <a:solidFill>
                  <a:srgbClr val="26222E"/>
                </a:solidFill>
              </a:rPr>
              <a:t>Marketing, Finance, Legal / Regulatory, IT</a:t>
            </a:r>
          </a:p>
        </p:txBody>
      </p:sp>
      <p:sp>
        <p:nvSpPr>
          <p:cNvPr id="15" name="Pentagon 14"/>
          <p:cNvSpPr/>
          <p:nvPr/>
        </p:nvSpPr>
        <p:spPr>
          <a:xfrm>
            <a:off x="6309359" y="1554480"/>
            <a:ext cx="2697480" cy="1005840"/>
          </a:xfrm>
          <a:prstGeom prst="homePlate">
            <a:avLst/>
          </a:prstGeom>
          <a:solidFill>
            <a:srgbClr val="0C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825"/>
              </a:spcAft>
            </a:pPr>
            <a:r>
              <a:rPr sz="1500" b="1">
                <a:solidFill>
                  <a:srgbClr val="FFFFFF"/>
                </a:solidFill>
              </a:rPr>
              <a:t>Gate 3</a:t>
            </a:r>
          </a:p>
          <a:p>
            <a:pPr algn="ctr">
              <a:spcAft>
                <a:spcPts val="825"/>
              </a:spcAft>
            </a:pPr>
            <a:r>
              <a:rPr sz="1500" b="1">
                <a:solidFill>
                  <a:srgbClr val="FFFFFF"/>
                </a:solidFill>
              </a:rPr>
              <a:t>Test approved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2697480"/>
            <a:ext cx="269748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ctr"/>
            <a:r>
              <a:rPr sz="1300" b="1">
                <a:solidFill>
                  <a:srgbClr val="F07300"/>
                </a:solidFill>
              </a:rPr>
              <a:t>In Test to Active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09359" y="3154680"/>
            <a:ext cx="2697480" cy="2194560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19087" y="3246120"/>
            <a:ext cx="2468880" cy="20116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770"/>
              </a:spcAft>
            </a:pPr>
            <a:r>
              <a:rPr b="1" sz="1400">
                <a:solidFill>
                  <a:srgbClr val="0C294B"/>
                </a:solidFill>
              </a:rPr>
              <a:t>Question: </a:t>
            </a:r>
            <a:r>
              <a:rPr sz="1400">
                <a:solidFill>
                  <a:srgbClr val="26222E"/>
                </a:solidFill>
              </a:rPr>
              <a:t>Does it work end to end?</a:t>
            </a:r>
          </a:p>
          <a:p>
            <a:pPr algn="l">
              <a:spcAft>
                <a:spcPts val="770"/>
              </a:spcAft>
            </a:pPr>
            <a:r>
              <a:rPr b="1" sz="1400">
                <a:solidFill>
                  <a:srgbClr val="0C294B"/>
                </a:solidFill>
              </a:rPr>
              <a:t>Approvers: </a:t>
            </a:r>
            <a:r>
              <a:rPr sz="1400">
                <a:solidFill>
                  <a:srgbClr val="26222E"/>
                </a:solidFill>
              </a:rPr>
              <a:t>Test team, IT</a:t>
            </a:r>
          </a:p>
        </p:txBody>
      </p:sp>
      <p:sp>
        <p:nvSpPr>
          <p:cNvPr id="19" name="Pentagon 18"/>
          <p:cNvSpPr/>
          <p:nvPr/>
        </p:nvSpPr>
        <p:spPr>
          <a:xfrm>
            <a:off x="9189719" y="1554480"/>
            <a:ext cx="2697480" cy="1005840"/>
          </a:xfrm>
          <a:prstGeom prst="homePlat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825"/>
              </a:spcAft>
            </a:pPr>
            <a:r>
              <a:rPr sz="1500" b="1">
                <a:solidFill>
                  <a:srgbClr val="FFFFFF"/>
                </a:solidFill>
              </a:rPr>
              <a:t>Gate 4</a:t>
            </a:r>
          </a:p>
          <a:p>
            <a:pPr algn="ctr">
              <a:spcAft>
                <a:spcPts val="825"/>
              </a:spcAft>
            </a:pPr>
            <a:r>
              <a:rPr sz="1500" b="1">
                <a:solidFill>
                  <a:srgbClr val="FFFFFF"/>
                </a:solidFill>
              </a:rPr>
              <a:t>Start of marketing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89719" y="2697480"/>
            <a:ext cx="269748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ctr"/>
            <a:r>
              <a:rPr sz="1300" b="1">
                <a:solidFill>
                  <a:srgbClr val="F07300"/>
                </a:solidFill>
              </a:rPr>
              <a:t>Active to Launched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189719" y="3154680"/>
            <a:ext cx="2697480" cy="2194560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99447" y="3246120"/>
            <a:ext cx="2468880" cy="20116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770"/>
              </a:spcAft>
            </a:pPr>
            <a:r>
              <a:rPr b="1" sz="1400">
                <a:solidFill>
                  <a:srgbClr val="0C294B"/>
                </a:solidFill>
              </a:rPr>
              <a:t>Question: </a:t>
            </a:r>
            <a:r>
              <a:rPr sz="1400">
                <a:solidFill>
                  <a:srgbClr val="26222E"/>
                </a:solidFill>
              </a:rPr>
              <a:t>Go on sale on the planned date</a:t>
            </a:r>
          </a:p>
          <a:p>
            <a:pPr algn="l">
              <a:spcAft>
                <a:spcPts val="770"/>
              </a:spcAft>
            </a:pPr>
            <a:r>
              <a:rPr b="1" sz="1400">
                <a:solidFill>
                  <a:srgbClr val="0C294B"/>
                </a:solidFill>
              </a:rPr>
              <a:t>Approvers: </a:t>
            </a:r>
            <a:r>
              <a:rPr sz="1400">
                <a:solidFill>
                  <a:srgbClr val="26222E"/>
                </a:solidFill>
              </a:rPr>
              <a:t>Product Manager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5577840"/>
            <a:ext cx="10972800" cy="5486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200" b="0">
                <a:solidFill>
                  <a:srgbClr val="5F5A6B"/>
                </a:solidFill>
              </a:rPr>
              <a:t>Gates and statuses: TMF620. CatalogONE PLM supplies workflow, approvals and notifications (KT: business users manage the offering lifecycle).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C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0972800" cy="6400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2800" b="1">
                <a:solidFill>
                  <a:srgbClr val="0C294B"/>
                </a:solidFill>
              </a:rPr>
              <a:t>The catalog publishes. CRM consumes. Two documented facts.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4114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500" b="0">
                <a:solidFill>
                  <a:srgbClr val="5F5A6B"/>
                </a:solidFill>
              </a:rPr>
              <a:t>CatalogONE names CRM. CEP names Dynamics 365. They are not the same sentence.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000" b="0">
                <a:solidFill>
                  <a:srgbClr val="5F5A6B"/>
                </a:solidFill>
              </a:rPr>
              <a:t>PLC study  |  Amdocs CatalogONE: from idea to CRM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r"/>
            <a:r>
              <a:rPr sz="1000" b="0">
                <a:solidFill>
                  <a:srgbClr val="5F5A6B"/>
                </a:solidFill>
              </a:rPr>
              <a:t>11 / 17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91640"/>
            <a:ext cx="3200400" cy="3383280"/>
          </a:xfrm>
          <a:prstGeom prst="roundRect">
            <a:avLst/>
          </a:prstGeom>
          <a:solidFill>
            <a:srgbClr val="0C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825"/>
              </a:spcAft>
            </a:pPr>
            <a:r>
              <a:rPr sz="1500" b="1">
                <a:solidFill>
                  <a:srgbClr val="FFFFFF"/>
                </a:solidFill>
              </a:rPr>
              <a:t>CatalogONE</a:t>
            </a:r>
          </a:p>
          <a:p>
            <a:pPr algn="ctr">
              <a:spcAft>
                <a:spcPts val="825"/>
              </a:spcAft>
            </a:pPr>
            <a:r>
              <a:rPr sz="1500" b="1">
                <a:solidFill>
                  <a:srgbClr val="FFFFFF"/>
                </a:solidFill>
              </a:rPr>
              <a:t>Commerce + PLM</a:t>
            </a:r>
          </a:p>
          <a:p>
            <a:pPr algn="ctr">
              <a:spcAft>
                <a:spcPts val="825"/>
              </a:spcAft>
            </a:pPr>
            <a:r>
              <a:rPr sz="1500" b="1">
                <a:solidFill>
                  <a:srgbClr val="FFFFFF"/>
                </a:solidFill>
              </a:rPr>
              <a:t/>
            </a:r>
          </a:p>
          <a:p>
            <a:pPr algn="ctr">
              <a:spcAft>
                <a:spcPts val="825"/>
              </a:spcAft>
            </a:pPr>
            <a:r>
              <a:rPr sz="1500" b="1">
                <a:solidFill>
                  <a:srgbClr val="FFFFFF"/>
                </a:solidFill>
              </a:rPr>
              <a:t>Publishes Active products to consuming applications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749039" y="3383280"/>
            <a:ext cx="868681" cy="0"/>
          </a:xfrm>
          <a:prstGeom prst="line">
            <a:avLst/>
          </a:prstGeom>
          <a:ln w="25400">
            <a:solidFill>
              <a:srgbClr val="0C29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709160" y="1371600"/>
            <a:ext cx="3566160" cy="3200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400" b="1">
                <a:solidFill>
                  <a:srgbClr val="0C294B"/>
                </a:solidFill>
              </a:rPr>
              <a:t>What gets published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09160" y="1783080"/>
            <a:ext cx="3566160" cy="457200"/>
          </a:xfrm>
          <a:prstGeom prst="round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0">
                <a:solidFill>
                  <a:srgbClr val="26222E"/>
                </a:solidFill>
              </a:rPr>
              <a:t>Offering and bundle structure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09160" y="2313432"/>
            <a:ext cx="3566160" cy="457200"/>
          </a:xfrm>
          <a:prstGeom prst="round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0">
                <a:solidFill>
                  <a:srgbClr val="26222E"/>
                </a:solidFill>
              </a:rPr>
              <a:t>Prices, discounts, contract terms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09160" y="2843784"/>
            <a:ext cx="3566160" cy="457200"/>
          </a:xfrm>
          <a:prstGeom prst="round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0">
                <a:solidFill>
                  <a:srgbClr val="26222E"/>
                </a:solidFill>
              </a:rPr>
              <a:t>Eligibility: channel, segment, market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09160" y="3374135"/>
            <a:ext cx="3566160" cy="457200"/>
          </a:xfrm>
          <a:prstGeom prst="round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0">
                <a:solidFill>
                  <a:srgbClr val="26222E"/>
                </a:solidFill>
              </a:rPr>
              <a:t>Dependencies and constraints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709160" y="3904487"/>
            <a:ext cx="3566160" cy="457200"/>
          </a:xfrm>
          <a:prstGeom prst="round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0">
                <a:solidFill>
                  <a:srgbClr val="26222E"/>
                </a:solidFill>
              </a:rPr>
              <a:t>Validity dates (start / end of sale)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09160" y="4434840"/>
            <a:ext cx="3566160" cy="457200"/>
          </a:xfrm>
          <a:prstGeom prst="round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0">
                <a:solidFill>
                  <a:srgbClr val="26222E"/>
                </a:solidFill>
              </a:rPr>
              <a:t>Status and version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321040" y="3383280"/>
            <a:ext cx="868680" cy="0"/>
          </a:xfrm>
          <a:prstGeom prst="line">
            <a:avLst/>
          </a:prstGeom>
          <a:ln w="25400">
            <a:solidFill>
              <a:srgbClr val="0078D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9281160" y="1691640"/>
            <a:ext cx="2468880" cy="3383280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770"/>
              </a:spcAft>
            </a:pPr>
            <a:r>
              <a:rPr sz="1400" b="1">
                <a:solidFill>
                  <a:srgbClr val="FFFFFF"/>
                </a:solidFill>
              </a:rPr>
              <a:t>Customer's CRM</a:t>
            </a:r>
          </a:p>
          <a:p>
            <a:pPr algn="ctr">
              <a:spcAft>
                <a:spcPts val="770"/>
              </a:spcAft>
            </a:pPr>
            <a:r>
              <a:rPr sz="1400" b="1">
                <a:solidFill>
                  <a:srgbClr val="FFFFFF"/>
                </a:solidFill>
              </a:rPr>
              <a:t>(unnamed on CatalogONE)</a:t>
            </a:r>
          </a:p>
          <a:p>
            <a:pPr algn="ctr">
              <a:spcAft>
                <a:spcPts val="770"/>
              </a:spcAft>
            </a:pPr>
            <a:r>
              <a:rPr sz="1400" b="1">
                <a:solidFill>
                  <a:srgbClr val="FFFFFF"/>
                </a:solidFill>
              </a:rPr>
              <a:t/>
            </a:r>
          </a:p>
          <a:p>
            <a:pPr algn="ctr">
              <a:spcAft>
                <a:spcPts val="770"/>
              </a:spcAft>
            </a:pPr>
            <a:r>
              <a:rPr sz="1400" b="1">
                <a:solidFill>
                  <a:srgbClr val="FFFFFF"/>
                </a:solidFill>
              </a:rPr>
              <a:t>Dynamics 365 only where CEP is the platform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5303520"/>
            <a:ext cx="11155680" cy="8229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300" b="0">
                <a:solidFill>
                  <a:srgbClr val="5F5A6B"/>
                </a:solidFill>
              </a:rPr>
              <a:t>Fact 1 — CatalogONE: "publishing catalog information to multiple consuming applications" and "integration to … the customer's CRM solution". Fact 2 — CEP: unified Catalog plus "Dynamics 365 modules focused on sales, marketing, and customer service".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C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0972800" cy="6400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2800" b="1">
                <a:solidFill>
                  <a:srgbClr val="0C294B"/>
                </a:solidFill>
              </a:rPr>
              <a:t>How CatalogONE publishes — destination is CRM, not named as Dynamics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4114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500" b="0">
                <a:solidFill>
                  <a:srgbClr val="5F5A6B"/>
                </a:solidFill>
              </a:rPr>
              <a:t>Master-catalog publish + Kafka events + TM Forum Open APIs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000" b="0">
                <a:solidFill>
                  <a:srgbClr val="5F5A6B"/>
                </a:solidFill>
              </a:rPr>
              <a:t>PLC study  |  Amdocs CatalogONE: from idea to CRM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r"/>
            <a:r>
              <a:rPr sz="1000" b="0">
                <a:solidFill>
                  <a:srgbClr val="5F5A6B"/>
                </a:solidFill>
              </a:rPr>
              <a:t>12 / 17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371600"/>
          <a:ext cx="1115568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2926080"/>
                <a:gridCol w="5212080"/>
              </a:tblGrid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Mechanism</a:t>
                      </a:r>
                    </a:p>
                  </a:txBody>
                  <a:tcPr marL="73152" marR="73152">
                    <a:solidFill>
                      <a:srgbClr val="0C294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Direction</a:t>
                      </a:r>
                    </a:p>
                  </a:txBody>
                  <a:tcPr marL="73152" marR="73152">
                    <a:solidFill>
                      <a:srgbClr val="0C294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What it does</a:t>
                      </a:r>
                    </a:p>
                  </a:txBody>
                  <a:tcPr marL="73152" marR="73152">
                    <a:solidFill>
                      <a:srgbClr val="0C294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6222E"/>
                          </a:solidFill>
                        </a:rPr>
                        <a:t>CatalogONE Centralized</a:t>
                      </a:r>
                    </a:p>
                  </a:txBody>
                  <a:tcPr marL="73152" marR="73152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22E"/>
                          </a:solidFill>
                        </a:rPr>
                        <a:t>Catalog → consuming apps</a:t>
                      </a:r>
                    </a:p>
                  </a:txBody>
                  <a:tcPr marL="73152" marR="73152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22E"/>
                          </a:solidFill>
                        </a:rPr>
                        <a:t>Author once; publish offerings, prices, rules</a:t>
                      </a:r>
                    </a:p>
                  </a:txBody>
                  <a:tcPr marL="73152" marR="73152">
                    <a:solidFill>
                      <a:srgbClr val="E8F0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6222E"/>
                          </a:solidFill>
                        </a:rPr>
                        <a:t>Kafka distribution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22E"/>
                          </a:solidFill>
                        </a:rPr>
                        <a:t>Catalog → downstream systems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22E"/>
                          </a:solidFill>
                        </a:rPr>
                        <a:t>Sync approved versions in minutes, not weeks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6222E"/>
                          </a:solidFill>
                        </a:rPr>
                        <a:t>TMF620 Product Catalog</a:t>
                      </a:r>
                    </a:p>
                  </a:txBody>
                  <a:tcPr marL="73152" marR="73152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22E"/>
                          </a:solidFill>
                        </a:rPr>
                        <a:t>Catalog → any TMF consumer</a:t>
                      </a:r>
                    </a:p>
                  </a:txBody>
                  <a:tcPr marL="73152" marR="73152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22E"/>
                          </a:solidFill>
                        </a:rPr>
                        <a:t>Read catalogs, offerings, prices, specifications</a:t>
                      </a:r>
                    </a:p>
                  </a:txBody>
                  <a:tcPr marL="73152" marR="73152">
                    <a:solidFill>
                      <a:srgbClr val="E8F0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6222E"/>
                          </a:solidFill>
                        </a:rPr>
                        <a:t>TMF620 events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22E"/>
                          </a:solidFill>
                        </a:rPr>
                        <a:t>Catalog → subscribers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22E"/>
                          </a:solidFill>
                        </a:rPr>
                        <a:t>Notify on create / change / status change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6222E"/>
                          </a:solidFill>
                        </a:rPr>
                        <a:t>TMF679 Qualification</a:t>
                      </a:r>
                    </a:p>
                  </a:txBody>
                  <a:tcPr marL="73152" marR="73152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22E"/>
                          </a:solidFill>
                        </a:rPr>
                        <a:t>CRM / CPQ → catalog</a:t>
                      </a:r>
                    </a:p>
                  </a:txBody>
                  <a:tcPr marL="73152" marR="73152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22E"/>
                          </a:solidFill>
                        </a:rPr>
                        <a:t>"Can this customer get this offer here?"</a:t>
                      </a:r>
                    </a:p>
                  </a:txBody>
                  <a:tcPr marL="73152" marR="73152">
                    <a:solidFill>
                      <a:srgbClr val="E8F0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6222E"/>
                          </a:solidFill>
                        </a:rPr>
                        <a:t>TMF622 Product Ordering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22E"/>
                          </a:solidFill>
                        </a:rPr>
                        <a:t>CRM / CPQ → order mgmt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22E"/>
                          </a:solidFill>
                        </a:rPr>
                        <a:t>Order carries offering ID and version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02920" y="5074920"/>
            <a:ext cx="2057400" cy="868680"/>
          </a:xfrm>
          <a:prstGeom prst="roundRect">
            <a:avLst/>
          </a:prstGeom>
          <a:solidFill>
            <a:srgbClr val="0C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>
                <a:solidFill>
                  <a:srgbClr val="FFFFFF"/>
                </a:solidFill>
              </a:rPr>
              <a:t>Product becomes Active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87751" y="5504688"/>
            <a:ext cx="182881" cy="0"/>
          </a:xfrm>
          <a:prstGeom prst="line">
            <a:avLst/>
          </a:prstGeom>
          <a:ln w="25400">
            <a:solidFill>
              <a:srgbClr val="0C29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2788920" y="5074920"/>
            <a:ext cx="2057400" cy="868680"/>
          </a:xfrm>
          <a:prstGeom prst="roundRect">
            <a:avLst/>
          </a:prstGeom>
          <a:solidFill>
            <a:srgbClr val="0C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>
                <a:solidFill>
                  <a:srgbClr val="FFFFFF"/>
                </a:solidFill>
              </a:rPr>
              <a:t>Kafka / TMF event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873751" y="5504688"/>
            <a:ext cx="182881" cy="0"/>
          </a:xfrm>
          <a:prstGeom prst="line">
            <a:avLst/>
          </a:prstGeom>
          <a:ln w="25400">
            <a:solidFill>
              <a:srgbClr val="0C29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5074920" y="5074920"/>
            <a:ext cx="2057400" cy="868680"/>
          </a:xfrm>
          <a:prstGeom prst="roundRect">
            <a:avLst/>
          </a:prstGeom>
          <a:solidFill>
            <a:srgbClr val="0C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>
                <a:solidFill>
                  <a:srgbClr val="FFFFFF"/>
                </a:solidFill>
              </a:rPr>
              <a:t>CRM reads TMF620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159751" y="5504688"/>
            <a:ext cx="182881" cy="0"/>
          </a:xfrm>
          <a:prstGeom prst="line">
            <a:avLst/>
          </a:prstGeom>
          <a:ln w="25400">
            <a:solidFill>
              <a:srgbClr val="0C29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7360920" y="5074920"/>
            <a:ext cx="2057400" cy="868680"/>
          </a:xfrm>
          <a:prstGeom prst="roundRect">
            <a:avLst/>
          </a:prstGeom>
          <a:solidFill>
            <a:srgbClr val="0C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>
                <a:solidFill>
                  <a:srgbClr val="FFFFFF"/>
                </a:solidFill>
              </a:rPr>
              <a:t>AM quotes in CRM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445751" y="5504688"/>
            <a:ext cx="182881" cy="0"/>
          </a:xfrm>
          <a:prstGeom prst="line">
            <a:avLst/>
          </a:prstGeom>
          <a:ln w="25400">
            <a:solidFill>
              <a:srgbClr val="0078D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9646920" y="5074920"/>
            <a:ext cx="2057400" cy="868680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>
                <a:solidFill>
                  <a:srgbClr val="FFFFFF"/>
                </a:solidFill>
              </a:rPr>
              <a:t>Order stores offer version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C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0972800" cy="6400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2800" b="1">
                <a:solidFill>
                  <a:srgbClr val="0C294B"/>
                </a:solidFill>
              </a:rPr>
              <a:t>What sits around the catalog — on CEP, not on a CatalogONE datasheet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4114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500" b="0">
                <a:solidFill>
                  <a:srgbClr val="5F5A6B"/>
                </a:solidFill>
              </a:rPr>
              <a:t>Digital Enterprise Catalog (Amdocs) and Sales management (Dynamics 365) on one CEP 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000" b="0">
                <a:solidFill>
                  <a:srgbClr val="5F5A6B"/>
                </a:solidFill>
              </a:rPr>
              <a:t>PLC study  |  Amdocs CatalogONE: from idea to CRM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r"/>
            <a:r>
              <a:rPr sz="1000" b="0">
                <a:solidFill>
                  <a:srgbClr val="5F5A6B"/>
                </a:solidFill>
              </a:rPr>
              <a:t>13 / 17</a:t>
            </a:r>
          </a:p>
        </p:txBody>
      </p:sp>
      <p:sp>
        <p:nvSpPr>
          <p:cNvPr id="7" name="Rectangle 6"/>
          <p:cNvSpPr/>
          <p:nvPr/>
        </p:nvSpPr>
        <p:spPr>
          <a:xfrm>
            <a:off x="986187" y="1335024"/>
            <a:ext cx="10189145" cy="4553712"/>
          </a:xfrm>
          <a:prstGeom prst="rect">
            <a:avLst/>
          </a:prstGeom>
          <a:noFill/>
          <a:ln w="15875">
            <a:solidFill>
              <a:srgbClr val="C5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02_cep_catalog_and_c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2763" y="1371600"/>
            <a:ext cx="10115993" cy="44805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5907024"/>
            <a:ext cx="11247120" cy="4114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ctr"/>
            <a:r>
              <a:rPr sz="1000" b="0">
                <a:solidFill>
                  <a:srgbClr val="5F5A6B"/>
                </a:solidFill>
              </a:rPr>
              <a:t>Source: Amdocs and Microsoft Customer Engagement Platform paper, p.4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C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0972800" cy="6400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2800" b="1">
                <a:solidFill>
                  <a:srgbClr val="0C294B"/>
                </a:solidFill>
              </a:rPr>
              <a:t>When a product changes after launch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4114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500" b="0">
                <a:solidFill>
                  <a:srgbClr val="5F5A6B"/>
                </a:solidFill>
              </a:rPr>
              <a:t>Versioning keeps sales and existing customers consistent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000" b="0">
                <a:solidFill>
                  <a:srgbClr val="5F5A6B"/>
                </a:solidFill>
              </a:rPr>
              <a:t>PLC study  |  Amdocs CatalogONE: from idea to CRM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r"/>
            <a:r>
              <a:rPr sz="1000" b="0">
                <a:solidFill>
                  <a:srgbClr val="5F5A6B"/>
                </a:solidFill>
              </a:rPr>
              <a:t>14 / 17</a:t>
            </a:r>
          </a:p>
        </p:txBody>
      </p:sp>
      <p:sp>
        <p:nvSpPr>
          <p:cNvPr id="7" name="Oval 6"/>
          <p:cNvSpPr/>
          <p:nvPr/>
        </p:nvSpPr>
        <p:spPr>
          <a:xfrm>
            <a:off x="1188720" y="1691640"/>
            <a:ext cx="731520" cy="731520"/>
          </a:xfrm>
          <a:prstGeom prst="ellipse">
            <a:avLst/>
          </a:prstGeom>
          <a:solidFill>
            <a:srgbClr val="0C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200" b="1">
                <a:solidFill>
                  <a:srgbClr val="FFFFFF"/>
                </a:solidFill>
              </a:rPr>
              <a:t>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65960" y="2057400"/>
            <a:ext cx="1463040" cy="0"/>
          </a:xfrm>
          <a:prstGeom prst="line">
            <a:avLst/>
          </a:prstGeom>
          <a:ln w="25400">
            <a:solidFill>
              <a:srgbClr val="0C29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48640" y="2606040"/>
            <a:ext cx="201168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ctr"/>
            <a:r>
              <a:rPr sz="1600" b="1">
                <a:solidFill>
                  <a:srgbClr val="0C294B"/>
                </a:solidFill>
              </a:rPr>
              <a:t>New version created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063240"/>
            <a:ext cx="2011680" cy="7315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ctr"/>
            <a:r>
              <a:rPr sz="1300" b="0">
                <a:solidFill>
                  <a:srgbClr val="5F5A6B"/>
                </a:solidFill>
              </a:rPr>
              <a:t>In CatalogONE, not in CRM</a:t>
            </a:r>
          </a:p>
        </p:txBody>
      </p:sp>
      <p:sp>
        <p:nvSpPr>
          <p:cNvPr id="11" name="Oval 10"/>
          <p:cNvSpPr/>
          <p:nvPr/>
        </p:nvSpPr>
        <p:spPr>
          <a:xfrm>
            <a:off x="3474720" y="1691640"/>
            <a:ext cx="731520" cy="731520"/>
          </a:xfrm>
          <a:prstGeom prst="ellipse">
            <a:avLst/>
          </a:prstGeom>
          <a:solidFill>
            <a:srgbClr val="0C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200" b="1">
                <a:solidFill>
                  <a:srgbClr val="FFFFFF"/>
                </a:solidFill>
              </a:rPr>
              <a:t>2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251960" y="2057400"/>
            <a:ext cx="1463040" cy="0"/>
          </a:xfrm>
          <a:prstGeom prst="line">
            <a:avLst/>
          </a:prstGeom>
          <a:ln w="25400">
            <a:solidFill>
              <a:srgbClr val="0C29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2834640" y="2606040"/>
            <a:ext cx="201168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ctr"/>
            <a:r>
              <a:rPr sz="1600" b="1">
                <a:solidFill>
                  <a:srgbClr val="0C294B"/>
                </a:solidFill>
              </a:rPr>
              <a:t>Approval and test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34640" y="3063240"/>
            <a:ext cx="2011680" cy="7315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ctr"/>
            <a:r>
              <a:rPr sz="1300" b="0">
                <a:solidFill>
                  <a:srgbClr val="5F5A6B"/>
                </a:solidFill>
              </a:rPr>
              <a:t>Same gates as a new product</a:t>
            </a:r>
          </a:p>
        </p:txBody>
      </p:sp>
      <p:sp>
        <p:nvSpPr>
          <p:cNvPr id="15" name="Oval 14"/>
          <p:cNvSpPr/>
          <p:nvPr/>
        </p:nvSpPr>
        <p:spPr>
          <a:xfrm>
            <a:off x="5760720" y="1691640"/>
            <a:ext cx="731520" cy="731520"/>
          </a:xfrm>
          <a:prstGeom prst="ellipse">
            <a:avLst/>
          </a:prstGeom>
          <a:solidFill>
            <a:srgbClr val="0C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200" b="1">
                <a:solidFill>
                  <a:srgbClr val="FFFFFF"/>
                </a:solidFill>
              </a:rPr>
              <a:t>3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537960" y="2057400"/>
            <a:ext cx="1463040" cy="0"/>
          </a:xfrm>
          <a:prstGeom prst="line">
            <a:avLst/>
          </a:prstGeom>
          <a:ln w="25400">
            <a:solidFill>
              <a:srgbClr val="0C29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120640" y="2606040"/>
            <a:ext cx="201168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ctr"/>
            <a:r>
              <a:rPr sz="1600" b="1">
                <a:solidFill>
                  <a:srgbClr val="0C294B"/>
                </a:solidFill>
              </a:rPr>
              <a:t>Event to CRM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0640" y="3063240"/>
            <a:ext cx="2011680" cy="7315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ctr"/>
            <a:r>
              <a:rPr sz="1300" b="0">
                <a:solidFill>
                  <a:srgbClr val="5F5A6B"/>
                </a:solidFill>
              </a:rPr>
              <a:t>New version becomes sellable</a:t>
            </a:r>
          </a:p>
        </p:txBody>
      </p:sp>
      <p:sp>
        <p:nvSpPr>
          <p:cNvPr id="19" name="Oval 18"/>
          <p:cNvSpPr/>
          <p:nvPr/>
        </p:nvSpPr>
        <p:spPr>
          <a:xfrm>
            <a:off x="8046720" y="1691640"/>
            <a:ext cx="731520" cy="731520"/>
          </a:xfrm>
          <a:prstGeom prst="ellipse">
            <a:avLst/>
          </a:prstGeom>
          <a:solidFill>
            <a:srgbClr val="0C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200" b="1">
                <a:solidFill>
                  <a:srgbClr val="FFFFFF"/>
                </a:solidFill>
              </a:rPr>
              <a:t>4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823960" y="2057400"/>
            <a:ext cx="1463040" cy="0"/>
          </a:xfrm>
          <a:prstGeom prst="line">
            <a:avLst/>
          </a:prstGeom>
          <a:ln w="25400">
            <a:solidFill>
              <a:srgbClr val="0C29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406640" y="2606040"/>
            <a:ext cx="201168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ctr"/>
            <a:r>
              <a:rPr sz="1600" b="1">
                <a:solidFill>
                  <a:srgbClr val="0C294B"/>
                </a:solidFill>
              </a:rPr>
              <a:t>New sales use v2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06640" y="3063240"/>
            <a:ext cx="2011680" cy="7315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ctr"/>
            <a:r>
              <a:rPr sz="1300" b="0">
                <a:solidFill>
                  <a:srgbClr val="5F5A6B"/>
                </a:solidFill>
              </a:rPr>
              <a:t>Existing customers keep v1</a:t>
            </a:r>
          </a:p>
        </p:txBody>
      </p:sp>
      <p:sp>
        <p:nvSpPr>
          <p:cNvPr id="23" name="Oval 22"/>
          <p:cNvSpPr/>
          <p:nvPr/>
        </p:nvSpPr>
        <p:spPr>
          <a:xfrm>
            <a:off x="10332720" y="1691640"/>
            <a:ext cx="731520" cy="731520"/>
          </a:xfrm>
          <a:prstGeom prst="ellipse">
            <a:avLst/>
          </a:prstGeom>
          <a:solidFill>
            <a:srgbClr val="0C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2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92640" y="2606040"/>
            <a:ext cx="201168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ctr"/>
            <a:r>
              <a:rPr sz="1600" b="1">
                <a:solidFill>
                  <a:srgbClr val="0C294B"/>
                </a:solidFill>
              </a:rPr>
              <a:t>Old version retired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92640" y="3063240"/>
            <a:ext cx="2011680" cy="7315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ctr"/>
            <a:r>
              <a:rPr sz="1300" b="0">
                <a:solidFill>
                  <a:srgbClr val="5F5A6B"/>
                </a:solidFill>
              </a:rPr>
              <a:t>Disappears from sales screens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4069080"/>
            <a:ext cx="11064240" cy="1965960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4206240"/>
            <a:ext cx="10698480" cy="17373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825"/>
              </a:spcAft>
            </a:pPr>
            <a:r>
              <a:rPr b="1" sz="1500">
                <a:solidFill>
                  <a:srgbClr val="0C294B"/>
                </a:solidFill>
              </a:rPr>
              <a:t>Why it works: </a:t>
            </a:r>
            <a:r>
              <a:rPr sz="1500">
                <a:solidFill>
                  <a:srgbClr val="26222E"/>
                </a:solidFill>
              </a:rPr>
              <a:t>every order records the offering ID and version, so delivery and billing always match what the customer bought.</a:t>
            </a:r>
          </a:p>
          <a:p>
            <a:pPr algn="l">
              <a:spcAft>
                <a:spcPts val="825"/>
              </a:spcAft>
            </a:pPr>
            <a:r>
              <a:rPr b="1" sz="1500">
                <a:solidFill>
                  <a:srgbClr val="0C294B"/>
                </a:solidFill>
              </a:rPr>
              <a:t>If the CRM is Dynamics 365 [E]: </a:t>
            </a:r>
            <a:r>
              <a:rPr sz="1500">
                <a:solidFill>
                  <a:srgbClr val="26222E"/>
                </a:solidFill>
              </a:rPr>
              <a:t>new version maps to Under Revision, then Active. Retired catalog versions are Retired and drop off the quote screen.</a:t>
            </a:r>
          </a:p>
          <a:p>
            <a:pPr algn="l">
              <a:spcAft>
                <a:spcPts val="825"/>
              </a:spcAft>
            </a:pPr>
            <a:r>
              <a:rPr b="1" sz="1500">
                <a:solidFill>
                  <a:srgbClr val="0C294B"/>
                </a:solidFill>
              </a:rPr>
              <a:t>Result: </a:t>
            </a:r>
            <a:r>
              <a:rPr sz="1500">
                <a:solidFill>
                  <a:srgbClr val="26222E"/>
                </a:solidFill>
              </a:rPr>
              <a:t>a price or bundle change never breaks existing contracts.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C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0972800" cy="6400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2800" b="1">
                <a:solidFill>
                  <a:srgbClr val="0C294B"/>
                </a:solidFill>
              </a:rPr>
              <a:t>Example only: TMF620 items on Dynamics 365 Sales [E]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4114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500" b="0">
                <a:solidFill>
                  <a:srgbClr val="5F5A6B"/>
                </a:solidFill>
              </a:rPr>
              <a:t>Not a vendor connector spec. Same pattern as any TMF620 catalog, if Dynamics is the CRM.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000" b="0">
                <a:solidFill>
                  <a:srgbClr val="5F5A6B"/>
                </a:solidFill>
              </a:rPr>
              <a:t>PLC study  |  Amdocs CatalogONE: from idea to CRM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r"/>
            <a:r>
              <a:rPr sz="1000" b="0">
                <a:solidFill>
                  <a:srgbClr val="5F5A6B"/>
                </a:solidFill>
              </a:rPr>
              <a:t>15 / 17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371600"/>
            <a:ext cx="2468880" cy="960120"/>
          </a:xfrm>
          <a:prstGeom prst="roundRect">
            <a:avLst/>
          </a:prstGeom>
          <a:solidFill>
            <a:srgbClr val="0C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825"/>
              </a:spcAft>
            </a:pPr>
            <a:r>
              <a:rPr sz="1500" b="1">
                <a:solidFill>
                  <a:srgbClr val="FFFFFF"/>
                </a:solidFill>
              </a:rPr>
              <a:t>CatalogONE</a:t>
            </a:r>
          </a:p>
          <a:p>
            <a:pPr algn="ctr">
              <a:spcAft>
                <a:spcPts val="825"/>
              </a:spcAft>
            </a:pPr>
            <a:r>
              <a:rPr sz="1500" b="1">
                <a:solidFill>
                  <a:srgbClr val="FFFFFF"/>
                </a:solidFill>
              </a:rPr>
              <a:t>TMF620 + Kafka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017520" y="1847088"/>
            <a:ext cx="685800" cy="0"/>
          </a:xfrm>
          <a:prstGeom prst="line">
            <a:avLst/>
          </a:prstGeom>
          <a:ln w="25400">
            <a:solidFill>
              <a:srgbClr val="0C29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3749039" y="1371600"/>
            <a:ext cx="2468880" cy="960120"/>
          </a:xfrm>
          <a:prstGeom prst="roundRect">
            <a:avLst/>
          </a:prstGeom>
          <a:solidFill>
            <a:srgbClr val="5F5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825"/>
              </a:spcAft>
            </a:pPr>
            <a:r>
              <a:rPr sz="1500" b="1">
                <a:solidFill>
                  <a:srgbClr val="FFFFFF"/>
                </a:solidFill>
              </a:rPr>
              <a:t>Integration</a:t>
            </a:r>
          </a:p>
          <a:p>
            <a:pPr algn="ctr">
              <a:spcAft>
                <a:spcPts val="825"/>
              </a:spcAft>
            </a:pPr>
            <a:r>
              <a:rPr sz="1500" b="1">
                <a:solidFill>
                  <a:srgbClr val="FFFFFF"/>
                </a:solidFill>
              </a:rPr>
              <a:t>maps into Dataverse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263640" y="1847088"/>
            <a:ext cx="685800" cy="0"/>
          </a:xfrm>
          <a:prstGeom prst="line">
            <a:avLst/>
          </a:prstGeom>
          <a:ln w="25400">
            <a:solidFill>
              <a:srgbClr val="0078D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995160" y="1371600"/>
            <a:ext cx="2468880" cy="960120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825"/>
              </a:spcAft>
            </a:pPr>
            <a:r>
              <a:rPr sz="1500" b="1">
                <a:solidFill>
                  <a:srgbClr val="FFFFFF"/>
                </a:solidFill>
              </a:rPr>
              <a:t>Dynamics 365</a:t>
            </a:r>
          </a:p>
          <a:p>
            <a:pPr algn="ctr">
              <a:spcAft>
                <a:spcPts val="825"/>
              </a:spcAft>
            </a:pPr>
            <a:r>
              <a:rPr sz="1500" b="1">
                <a:solidFill>
                  <a:srgbClr val="FFFFFF"/>
                </a:solidFill>
              </a:rPr>
              <a:t>product catalog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1371600"/>
            <a:ext cx="2103120" cy="10515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200" b="0">
                <a:solidFill>
                  <a:srgbClr val="5F5A6B"/>
                </a:solidFill>
              </a:rPr>
              <a:t>Pre-built Catalog+Dynamics is CEP. Not a CatalogONE AppSource connector.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02920" y="2606040"/>
          <a:ext cx="11155680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77840"/>
                <a:gridCol w="5577840"/>
              </a:tblGrid>
              <a:tr h="438912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Catalog / TMF620 item</a:t>
                      </a:r>
                    </a:p>
                  </a:txBody>
                  <a:tcPr marL="73152" marR="73152">
                    <a:solidFill>
                      <a:srgbClr val="0C294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Dynamics 365 Sales entity [M] — example [E]</a:t>
                      </a:r>
                    </a:p>
                  </a:txBody>
                  <a:tcPr marL="73152" marR="73152">
                    <a:solidFill>
                      <a:srgbClr val="0C294B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26222E"/>
                          </a:solidFill>
                        </a:rPr>
                        <a:t>Product Offering / Bundle offering</a:t>
                      </a:r>
                    </a:p>
                  </a:txBody>
                  <a:tcPr marL="73152" marR="73152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6222E"/>
                          </a:solidFill>
                        </a:rPr>
                        <a:t>Product / Product bundle</a:t>
                      </a:r>
                    </a:p>
                  </a:txBody>
                  <a:tcPr marL="73152" marR="73152">
                    <a:solidFill>
                      <a:srgbClr val="E8F0F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26222E"/>
                          </a:solidFill>
                        </a:rPr>
                        <a:t>Product Catalog / Category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6222E"/>
                          </a:solidFill>
                        </a:rPr>
                        <a:t>Product family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26222E"/>
                          </a:solidFill>
                        </a:rPr>
                        <a:t>Product Offering Price / Discounts</a:t>
                      </a:r>
                    </a:p>
                  </a:txBody>
                  <a:tcPr marL="73152" marR="73152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6222E"/>
                          </a:solidFill>
                        </a:rPr>
                        <a:t>Price list item / Discount list</a:t>
                      </a:r>
                    </a:p>
                  </a:txBody>
                  <a:tcPr marL="73152" marR="73152">
                    <a:solidFill>
                      <a:srgbClr val="E8F0F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26222E"/>
                          </a:solidFill>
                        </a:rPr>
                        <a:t>Related offers, add-ons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6222E"/>
                          </a:solidFill>
                        </a:rPr>
                        <a:t>Product relationships (accessory, cross-sell, up-sell)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26222E"/>
                          </a:solidFill>
                        </a:rPr>
                        <a:t>Status Active / Launched / Retired</a:t>
                      </a:r>
                    </a:p>
                  </a:txBody>
                  <a:tcPr marL="73152" marR="73152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6222E"/>
                          </a:solidFill>
                        </a:rPr>
                        <a:t>Product status Active / Retired</a:t>
                      </a:r>
                    </a:p>
                  </a:txBody>
                  <a:tcPr marL="73152" marR="73152">
                    <a:solidFill>
                      <a:srgbClr val="E8F0F8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502920" y="5715000"/>
            <a:ext cx="1115568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300" b="1">
                <a:solidFill>
                  <a:srgbClr val="0C294B"/>
                </a:solidFill>
              </a:rPr>
              <a:t>Two paths: buy CEP (Catalog next to Dynamics, documented) or keep Dynamics and integrate via TMF620 / Kafka (CatalogONE pattern for any CRM).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C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0972800" cy="6400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2800" b="1">
                <a:solidFill>
                  <a:srgbClr val="0C294B"/>
                </a:solidFill>
              </a:rPr>
              <a:t>Evidence: results at real operators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4114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500" b="0">
                <a:solidFill>
                  <a:srgbClr val="5F5A6B"/>
                </a:solidFill>
              </a:rPr>
              <a:t>CatalogONE cases first. PLDT is CEP customer care with Dynamics 365 — not a CatalogONE catalog feed.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000" b="0">
                <a:solidFill>
                  <a:srgbClr val="5F5A6B"/>
                </a:solidFill>
              </a:rPr>
              <a:t>PLC study  |  Amdocs CatalogONE: from idea to CRM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r"/>
            <a:r>
              <a:rPr sz="1000" b="0">
                <a:solidFill>
                  <a:srgbClr val="5F5A6B"/>
                </a:solidFill>
              </a:rPr>
              <a:t>16 / 17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371600"/>
            <a:ext cx="6858000" cy="1024128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371600"/>
            <a:ext cx="109728" cy="1024128"/>
          </a:xfrm>
          <a:prstGeom prst="rect">
            <a:avLst/>
          </a:prstGeom>
          <a:solidFill>
            <a:srgbClr val="F07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426464"/>
            <a:ext cx="6446520" cy="292608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600" b="1">
                <a:solidFill>
                  <a:srgbClr val="0C294B"/>
                </a:solidFill>
              </a:rPr>
              <a:t>European quad-play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700784"/>
            <a:ext cx="6446520" cy="237744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200" b="0">
                <a:solidFill>
                  <a:srgbClr val="5F5A6B"/>
                </a:solidFill>
              </a:rPr>
              <a:t>CatalogONE unifying siloed LoBs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975104"/>
            <a:ext cx="6446520" cy="347472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300" b="1">
                <a:solidFill>
                  <a:srgbClr val="26222E"/>
                </a:solidFill>
              </a:rPr>
              <a:t>New offers: 9 months → 1–2 weeks. Changes in hours. 80% by configuration.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2487168"/>
            <a:ext cx="6858000" cy="1024128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2487168"/>
            <a:ext cx="109728" cy="1024128"/>
          </a:xfrm>
          <a:prstGeom prst="rect">
            <a:avLst/>
          </a:prstGeom>
          <a:solidFill>
            <a:srgbClr val="0C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2542032"/>
            <a:ext cx="6446520" cy="292608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600" b="1">
                <a:solidFill>
                  <a:srgbClr val="0C294B"/>
                </a:solidFill>
              </a:rPr>
              <a:t>Sprint / T-Mobile US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2816352"/>
            <a:ext cx="6446520" cy="237744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200" b="0">
                <a:solidFill>
                  <a:srgbClr val="5F5A6B"/>
                </a:solidFill>
              </a:rPr>
              <a:t>CatalogONE + DigitalONE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090672"/>
            <a:ext cx="6446520" cy="347472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300" b="1">
                <a:solidFill>
                  <a:srgbClr val="26222E"/>
                </a:solidFill>
              </a:rPr>
              <a:t>Expected 50% TTM cut. 22 channel catalogs → one. Business users define offers.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3602736"/>
            <a:ext cx="6858000" cy="1024128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3602736"/>
            <a:ext cx="109728" cy="1024128"/>
          </a:xfrm>
          <a:prstGeom prst="rect">
            <a:avLst/>
          </a:prstGeom>
          <a:solidFill>
            <a:srgbClr val="0C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3657600"/>
            <a:ext cx="6446520" cy="292608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600" b="1">
                <a:solidFill>
                  <a:srgbClr val="0C294B"/>
                </a:solidFill>
              </a:rPr>
              <a:t>KT Corporation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3931920"/>
            <a:ext cx="6446520" cy="237744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200" b="0">
                <a:solidFill>
                  <a:srgbClr val="5F5A6B"/>
                </a:solidFill>
              </a:rPr>
              <a:t>CatalogONE on KT private cloud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206240"/>
            <a:ext cx="6446520" cy="347472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300" b="1">
                <a:solidFill>
                  <a:srgbClr val="26222E"/>
                </a:solidFill>
              </a:rPr>
              <a:t>Business-driven UI; foundation to accelerate 5G consumer and enterprise offers.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4718304"/>
            <a:ext cx="6858000" cy="1024128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920" y="4718304"/>
            <a:ext cx="109728" cy="1024128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4773168"/>
            <a:ext cx="6446520" cy="292608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600" b="1">
                <a:solidFill>
                  <a:srgbClr val="0C294B"/>
                </a:solidFill>
              </a:rPr>
              <a:t>PLDT (Philippines)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5047488"/>
            <a:ext cx="6446520" cy="237744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200" b="0">
                <a:solidFill>
                  <a:srgbClr val="5F5A6B"/>
                </a:solidFill>
              </a:rPr>
              <a:t>CEP Unified Case Management — agents use Dynamics 365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5321808"/>
            <a:ext cx="6446520" cy="347472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300" b="1">
                <a:solidFill>
                  <a:srgbClr val="26222E"/>
                </a:solidFill>
              </a:rPr>
              <a:t>IDC: 6 weeks; 48% faster L1; +27 NPS. Care, not catalog publish.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970676" y="1335024"/>
            <a:ext cx="3306767" cy="4645152"/>
          </a:xfrm>
          <a:prstGeom prst="rect">
            <a:avLst/>
          </a:prstGeom>
          <a:noFill/>
          <a:ln w="15875">
            <a:solidFill>
              <a:srgbClr val="C5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10_sprint_res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7252" y="1371600"/>
            <a:ext cx="3233615" cy="457200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543800" y="5998464"/>
            <a:ext cx="4160520" cy="4114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ctr"/>
            <a:r>
              <a:rPr sz="1000" b="0">
                <a:solidFill>
                  <a:srgbClr val="5F5A6B"/>
                </a:solidFill>
              </a:rPr>
              <a:t>Source: TM Forum, Sprint case study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C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0972800" cy="6400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2800" b="1">
                <a:solidFill>
                  <a:srgbClr val="0C294B"/>
                </a:solidFill>
              </a:rPr>
              <a:t>Summary and references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000" b="0">
                <a:solidFill>
                  <a:srgbClr val="5F5A6B"/>
                </a:solidFill>
              </a:rPr>
              <a:t>PLC study  |  Amdocs CatalogONE: from idea to CRM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r"/>
            <a:r>
              <a:rPr sz="1000" b="0">
                <a:solidFill>
                  <a:srgbClr val="5F5A6B"/>
                </a:solidFill>
              </a:rPr>
              <a:t>17 / 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280160"/>
            <a:ext cx="6126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74320" indent="-228600">
              <a:spcAft>
                <a:spcPts val="900"/>
              </a:spcAft>
              <a:buChar char="•"/>
            </a:pPr>
            <a:r>
              <a:rPr b="1" sz="1500">
                <a:solidFill>
                  <a:srgbClr val="0C294B"/>
                </a:solidFill>
              </a:rPr>
              <a:t>Idea to Active </a:t>
            </a:r>
            <a:r>
              <a:rPr sz="1500">
                <a:solidFill>
                  <a:srgbClr val="26222E"/>
                </a:solidFill>
              </a:rPr>
              <a:t>inside CatalogONE: eight stages, approval gates, versions, testing.</a:t>
            </a:r>
          </a:p>
          <a:p>
            <a:pPr marL="274320" indent="-228600">
              <a:spcAft>
                <a:spcPts val="900"/>
              </a:spcAft>
              <a:buChar char="•"/>
            </a:pPr>
            <a:r>
              <a:rPr b="1" sz="1500">
                <a:solidFill>
                  <a:srgbClr val="0C294B"/>
                </a:solidFill>
              </a:rPr>
              <a:t>CatalogONE publishes </a:t>
            </a:r>
            <a:r>
              <a:rPr sz="1500">
                <a:solidFill>
                  <a:srgbClr val="26222E"/>
                </a:solidFill>
              </a:rPr>
              <a:t>to consuming applications and "the customer's CRM" via Centralized, Kafka and TMF620.</a:t>
            </a:r>
          </a:p>
          <a:p>
            <a:pPr marL="274320" indent="-228600">
              <a:spcAft>
                <a:spcPts val="900"/>
              </a:spcAft>
              <a:buChar char="•"/>
            </a:pPr>
            <a:r>
              <a:rPr b="1" sz="1500">
                <a:solidFill>
                  <a:srgbClr val="0C294B"/>
                </a:solidFill>
              </a:rPr>
              <a:t>Dynamics 365 is named on CEP, </a:t>
            </a:r>
            <a:r>
              <a:rPr sz="1500">
                <a:solidFill>
                  <a:srgbClr val="26222E"/>
                </a:solidFill>
              </a:rPr>
              <a:t>as Sales and Customer Service next to Catalog — not on the CatalogONE datasheet as a connector. PLDT is live on CEP care.</a:t>
            </a:r>
          </a:p>
          <a:p>
            <a:pPr marL="274320" indent="-228600">
              <a:spcAft>
                <a:spcPts val="900"/>
              </a:spcAft>
              <a:buChar char="•"/>
            </a:pPr>
            <a:r>
              <a:rPr b="1" sz="1500">
                <a:solidFill>
                  <a:srgbClr val="0C294B"/>
                </a:solidFill>
              </a:rPr>
              <a:t>Two paths: </a:t>
            </a:r>
            <a:r>
              <a:rPr sz="1500">
                <a:solidFill>
                  <a:srgbClr val="26222E"/>
                </a:solidFill>
              </a:rPr>
              <a:t>buy CEP, or keep Dynamics and integrate via TMF620. CRM is not replaced.</a:t>
            </a:r>
          </a:p>
          <a:p>
            <a:pPr marL="274320" indent="-228600">
              <a:spcAft>
                <a:spcPts val="900"/>
              </a:spcAft>
              <a:buChar char="•"/>
            </a:pPr>
            <a:r>
              <a:rPr b="1" sz="1500">
                <a:solidFill>
                  <a:srgbClr val="0C294B"/>
                </a:solidFill>
              </a:rPr>
              <a:t>Changes are versioned, </a:t>
            </a:r>
            <a:r>
              <a:rPr sz="1500">
                <a:solidFill>
                  <a:srgbClr val="26222E"/>
                </a:solidFill>
              </a:rPr>
              <a:t>so existing customers are never affected.</a:t>
            </a:r>
          </a:p>
          <a:p>
            <a:pPr marL="274320" indent="-228600">
              <a:spcAft>
                <a:spcPts val="900"/>
              </a:spcAft>
              <a:buChar char="•"/>
            </a:pPr>
            <a:r>
              <a:rPr b="1" sz="1500">
                <a:solidFill>
                  <a:srgbClr val="0C294B"/>
                </a:solidFill>
              </a:rPr>
              <a:t>Proven CatalogONE </a:t>
            </a:r>
            <a:r>
              <a:rPr sz="1500">
                <a:solidFill>
                  <a:srgbClr val="26222E"/>
                </a:solidFill>
              </a:rPr>
              <a:t>at a European quad-play, Sprint / T-Mobile and KT. CEP + Dynamics 365 is live at PLDT for case management.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0" y="1280160"/>
            <a:ext cx="4846320" cy="4846320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40880" y="1371600"/>
            <a:ext cx="452628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400" b="1">
                <a:solidFill>
                  <a:srgbClr val="0C294B"/>
                </a:solidFill>
              </a:rPr>
              <a:t>References (full links in the document)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0" y="1828800"/>
            <a:ext cx="4526280" cy="41148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660"/>
              </a:spcAft>
            </a:pPr>
            <a:r>
              <a:rPr sz="1200" b="0">
                <a:solidFill>
                  <a:srgbClr val="26222E"/>
                </a:solidFill>
              </a:rPr>
              <a:t>1. Amdocs CatalogONE datasheets (2025)</a:t>
            </a:r>
          </a:p>
          <a:p>
            <a:pPr algn="l">
              <a:spcAft>
                <a:spcPts val="660"/>
              </a:spcAft>
            </a:pPr>
            <a:r>
              <a:rPr sz="1200" b="0">
                <a:solidFill>
                  <a:srgbClr val="26222E"/>
                </a:solidFill>
              </a:rPr>
              <a:t>2. Amdocs, 6 Steps catalog ebook (2025)</a:t>
            </a:r>
          </a:p>
          <a:p>
            <a:pPr algn="l">
              <a:spcAft>
                <a:spcPts val="660"/>
              </a:spcAft>
            </a:pPr>
            <a:r>
              <a:rPr sz="1200" b="0">
                <a:solidFill>
                  <a:srgbClr val="26222E"/>
                </a:solidFill>
              </a:rPr>
              <a:t>3. Amdocs CatalogONE whitepaper (role-based UI)</a:t>
            </a:r>
          </a:p>
          <a:p>
            <a:pPr algn="l">
              <a:spcAft>
                <a:spcPts val="660"/>
              </a:spcAft>
            </a:pPr>
            <a:r>
              <a:rPr sz="1200" b="0">
                <a:solidFill>
                  <a:srgbClr val="26222E"/>
                </a:solidFill>
              </a:rPr>
              <a:t>4. Appledore Research, CatalogONE profile (2020)</a:t>
            </a:r>
          </a:p>
          <a:p>
            <a:pPr algn="l">
              <a:spcAft>
                <a:spcPts val="660"/>
              </a:spcAft>
            </a:pPr>
            <a:r>
              <a:rPr sz="1200" b="0">
                <a:solidFill>
                  <a:srgbClr val="26222E"/>
                </a:solidFill>
              </a:rPr>
              <a:t>5. Amdocs–Microsoft CEP paper and datasheet</a:t>
            </a:r>
          </a:p>
          <a:p>
            <a:pPr algn="l">
              <a:spcAft>
                <a:spcPts val="660"/>
              </a:spcAft>
            </a:pPr>
            <a:r>
              <a:rPr sz="1200" b="0">
                <a:solidFill>
                  <a:srgbClr val="26222E"/>
                </a:solidFill>
              </a:rPr>
              <a:t>6. Microsoft AppSource: Customer Engagement Platform</a:t>
            </a:r>
          </a:p>
          <a:p>
            <a:pPr algn="l">
              <a:spcAft>
                <a:spcPts val="660"/>
              </a:spcAft>
            </a:pPr>
            <a:r>
              <a:rPr sz="1200" b="0">
                <a:solidFill>
                  <a:srgbClr val="26222E"/>
                </a:solidFill>
              </a:rPr>
              <a:t>7. IDC PLDT case study (CEP Unified Case Management, 2026)</a:t>
            </a:r>
          </a:p>
          <a:p>
            <a:pPr algn="l">
              <a:spcAft>
                <a:spcPts val="660"/>
              </a:spcAft>
            </a:pPr>
            <a:r>
              <a:rPr sz="1200" b="0">
                <a:solidFill>
                  <a:srgbClr val="26222E"/>
                </a:solidFill>
              </a:rPr>
              <a:t>8. TM Forum Sprint / T-Mobile case study</a:t>
            </a:r>
          </a:p>
          <a:p>
            <a:pPr algn="l">
              <a:spcAft>
                <a:spcPts val="660"/>
              </a:spcAft>
            </a:pPr>
            <a:r>
              <a:rPr sz="1200" b="0">
                <a:solidFill>
                  <a:srgbClr val="26222E"/>
                </a:solidFill>
              </a:rPr>
              <a:t>9. Amdocs KT CatalogONE press release (Nov 2020)</a:t>
            </a:r>
          </a:p>
          <a:p>
            <a:pPr algn="l">
              <a:spcAft>
                <a:spcPts val="660"/>
              </a:spcAft>
            </a:pPr>
            <a:r>
              <a:rPr sz="1200" b="0">
                <a:solidFill>
                  <a:srgbClr val="26222E"/>
                </a:solidFill>
              </a:rPr>
              <a:t>10. TM Forum Open API conformance (Amdocs TMF620)</a:t>
            </a:r>
          </a:p>
          <a:p>
            <a:pPr algn="l">
              <a:spcAft>
                <a:spcPts val="660"/>
              </a:spcAft>
            </a:pPr>
            <a:r>
              <a:rPr sz="1200" b="0">
                <a:solidFill>
                  <a:srgbClr val="26222E"/>
                </a:solidFill>
              </a:rPr>
              <a:t>11. Microsoft Learn: Dynamics 365 product catalog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