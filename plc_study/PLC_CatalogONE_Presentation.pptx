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CatalogONE is the PLC. It publishes to consuming apps and 'the customer's CRM'. Dynamics 365 is named on the Amdocs–Microsoft CEP, not as a CatalogONE connector.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say CatalogONE sends data to Dynamics. Say: publishes to CRM; CEP names Dynamics.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Evidence: role-based UI; Commerce wizard; iCatalog for ideation.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920240"/>
            <a:ext cx="109728" cy="2377440"/>
          </a:xfrm>
          <a:prstGeom prst="rect">
            <a:avLst/>
          </a:prstGeom>
          <a:solidFill>
            <a:srgbClr val="F07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058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E8F0F8"/>
                </a:solidFill>
              </a:rPr>
              <a:t>PLC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515600" cy="13716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Product Lifecycle Management in Amdocs CatalogONE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49039"/>
            <a:ext cx="1051560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000" b="0">
                <a:solidFill>
                  <a:srgbClr val="E8F0F8"/>
                </a:solidFill>
              </a:rPr>
              <a:t>A catalog-only PLC that publishes to consuming applications — including the customer's CRM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212080"/>
            <a:ext cx="100584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E8F0F8"/>
                </a:solidFill>
              </a:rPr>
              <a:t>Prepared by: [Your name]   |   October 2026   |   Draft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2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5212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100584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0C294B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64592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000" b="1">
                <a:solidFill>
                  <a:srgbClr val="26222E"/>
                </a:solidFill>
              </a:rPr>
              <a:t>Why this PLC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10312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F5A6B"/>
                </a:solidFill>
              </a:rPr>
              <a:t>Catalog only; CRM is not replaced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59" y="1417320"/>
            <a:ext cx="5212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39" y="1600200"/>
            <a:ext cx="100584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0C294B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164592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000" b="1">
                <a:solidFill>
                  <a:srgbClr val="26222E"/>
                </a:solidFill>
              </a:rPr>
              <a:t>PLC and TM Forum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10312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F5A6B"/>
                </a:solidFill>
              </a:rPr>
              <a:t>The industry lifecycle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971800"/>
            <a:ext cx="5212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54680"/>
            <a:ext cx="100584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0C294B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20040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000" b="1">
                <a:solidFill>
                  <a:srgbClr val="26222E"/>
                </a:solidFill>
              </a:rPr>
              <a:t>CatalogONE at a glance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65760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F5A6B"/>
                </a:solidFill>
              </a:rPr>
              <a:t>Modules and data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59" y="2971800"/>
            <a:ext cx="5212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39" y="3154680"/>
            <a:ext cx="100584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0C294B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20040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000" b="1">
                <a:solidFill>
                  <a:srgbClr val="26222E"/>
                </a:solidFill>
              </a:rPr>
              <a:t>Using the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65760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F5A6B"/>
                </a:solidFill>
              </a:rPr>
              <a:t>Eight stages from idea to launch-ready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526280"/>
            <a:ext cx="5212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709160"/>
            <a:ext cx="100584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0C294B"/>
                </a:solidFill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75488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000" b="1">
                <a:solidFill>
                  <a:srgbClr val="26222E"/>
                </a:solidFill>
              </a:rPr>
              <a:t>How catalog reaches CRM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21208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F5A6B"/>
                </a:solidFill>
              </a:rPr>
              <a:t>CatalogONE vs Customer Engagement Platform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59" y="4526280"/>
            <a:ext cx="5212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39" y="4709160"/>
            <a:ext cx="100584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600" b="1">
                <a:solidFill>
                  <a:srgbClr val="0C294B"/>
                </a:solidFill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475488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000" b="1">
                <a:solidFill>
                  <a:srgbClr val="26222E"/>
                </a:solidFill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5212080"/>
            <a:ext cx="39319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5F5A6B"/>
                </a:solidFill>
              </a:rPr>
              <a:t>Results at real operators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Why this PLC: catalog only. CRM is not replaced.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Two facts, kept separate: CatalogONE publishes to CRM. The Customer Engagement Platform names Dynamics 365.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3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474720" cy="210312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3474720" cy="9144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200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0C294B"/>
                </a:solidFill>
              </a:rPr>
              <a:t>Catalog, not CRM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3200400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CatalogONE owns products, prices, rules and approvals. It publishes to consuming apps and "the customer's CRM".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463040"/>
            <a:ext cx="3474720" cy="210312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79" y="1463040"/>
            <a:ext cx="3474720" cy="9144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39" y="1691640"/>
            <a:ext cx="3200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0C294B"/>
                </a:solidFill>
              </a:rPr>
              <a:t>One source of truth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2194560"/>
            <a:ext cx="3200400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Commercial and technical definitions live once. CRM, ordering and billing consume them.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19" y="1463040"/>
            <a:ext cx="3474720" cy="210312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463040"/>
            <a:ext cx="3474720" cy="9144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1691640"/>
            <a:ext cx="3200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0C294B"/>
                </a:solidFill>
              </a:rPr>
              <a:t>A governed journey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194560"/>
            <a:ext cx="3200400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Ideation to end-of-life, with workflow, approvals, simulations and versioned change.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94760"/>
            <a:ext cx="3474720" cy="210312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794760"/>
            <a:ext cx="3474720" cy="9144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023360"/>
            <a:ext cx="3200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0C294B"/>
                </a:solidFill>
              </a:rPr>
              <a:t>Business users configure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526280"/>
            <a:ext cx="3200400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Role-based UI, templates and building blocks. No code. No deployment overhead.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3794760"/>
            <a:ext cx="3474720" cy="210312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79" y="3794760"/>
            <a:ext cx="347472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39" y="4023360"/>
            <a:ext cx="3200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0C294B"/>
                </a:solidFill>
              </a:rPr>
              <a:t>Publish, do not re-key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39" y="4526280"/>
            <a:ext cx="3200400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Kafka + TMF620 to consuming applications. Dynamics 365 is named on the Amdocs–Microsoft platform, not on CatalogONE.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19" y="3794760"/>
            <a:ext cx="3474720" cy="210312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19" y="3794760"/>
            <a:ext cx="3474720" cy="91440"/>
          </a:xfrm>
          <a:prstGeom prst="rect">
            <a:avLst/>
          </a:prstGeom>
          <a:solidFill>
            <a:srgbClr val="F07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79" y="4023360"/>
            <a:ext cx="3200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0C294B"/>
                </a:solidFill>
              </a:rPr>
              <a:t>Proven results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4526280"/>
            <a:ext cx="3200400" cy="1234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European operator: 9 months to 1–2 weeks. Sprint / T-Mobile: expected 50% faster TTM.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PLC and the TM Forum standard in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TMF620 defines the statuses. CatalogONE PLM runs them. CRM sees Active / Launched after publish.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4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1600200" cy="100584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In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16002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Idea studied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76272" y="2834640"/>
            <a:ext cx="329184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737360" y="1554480"/>
            <a:ext cx="1207008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100" b="0">
                <a:solidFill>
                  <a:srgbClr val="0C294B"/>
                </a:solidFill>
              </a:rPr>
              <a:t>Conception
approved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32888" y="2331720"/>
            <a:ext cx="1600200" cy="100584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In 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2888" y="3429000"/>
            <a:ext cx="16002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Being designed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60520" y="2834640"/>
            <a:ext cx="329184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21608" y="1554480"/>
            <a:ext cx="1207008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100" b="0">
                <a:solidFill>
                  <a:srgbClr val="0C294B"/>
                </a:solidFill>
              </a:rPr>
              <a:t>Design
approved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17136" y="2331720"/>
            <a:ext cx="1600200" cy="100584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In 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3429000"/>
            <a:ext cx="16002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Being tested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44768" y="2834640"/>
            <a:ext cx="329184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05856" y="1554480"/>
            <a:ext cx="1207008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100" b="0">
                <a:solidFill>
                  <a:srgbClr val="0C294B"/>
                </a:solidFill>
              </a:rPr>
              <a:t>Test
approved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01384" y="2331720"/>
            <a:ext cx="1600200" cy="100584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Active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3429000"/>
            <a:ext cx="16002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Ready, not yet sold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29016" y="2834640"/>
            <a:ext cx="329184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690104" y="1554480"/>
            <a:ext cx="1207008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100" b="0">
                <a:solidFill>
                  <a:srgbClr val="0C294B"/>
                </a:solidFill>
              </a:rPr>
              <a:t>Start of
marketing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85632" y="2331720"/>
            <a:ext cx="1600200" cy="100584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Launched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5632" y="3429000"/>
            <a:ext cx="16002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On sale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113264" y="2834640"/>
            <a:ext cx="329184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74352" y="1554480"/>
            <a:ext cx="1207008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100" b="0">
                <a:solidFill>
                  <a:srgbClr val="0C294B"/>
                </a:solidFill>
              </a:rPr>
              <a:t>End of
marketing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69880" y="2331720"/>
            <a:ext cx="1600200" cy="1005840"/>
          </a:xfrm>
          <a:prstGeom prst="roundRect">
            <a:avLst/>
          </a:prstGeom>
          <a:solidFill>
            <a:srgbClr val="5F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Retired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429000"/>
            <a:ext cx="16002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No new sales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17136" y="4114800"/>
            <a:ext cx="1600200" cy="502920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Rejected (test KO)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983480"/>
            <a:ext cx="7735824" cy="73152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120640"/>
            <a:ext cx="73152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>
                <a:solidFill>
                  <a:srgbClr val="0C294B"/>
                </a:solidFill>
              </a:rPr>
              <a:t>Inside CatalogONE: defined, approved and tested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85632" y="5120640"/>
            <a:ext cx="38404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</a:rPr>
              <a:t>Sales CRM: visible after publish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5F5A6B"/>
                </a:solidFill>
              </a:rPr>
              <a:t>Amdocs is TM Forum-certified on TMF620. CatalogONE APIs use the TMF data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CatalogONE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Standalone telecom catalog + PLM. Modular. Does not replace CRM.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5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1498980" y="1380744"/>
            <a:ext cx="3402839" cy="4507992"/>
          </a:xfrm>
          <a:prstGeom prst="rect">
            <a:avLst/>
          </a:prstGeom>
          <a:noFill/>
          <a:ln w="15875">
            <a:solidFill>
              <a:srgbClr val="C5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9_modules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56" y="1417320"/>
            <a:ext cx="3329687" cy="443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07024"/>
            <a:ext cx="54864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000" b="0">
                <a:solidFill>
                  <a:srgbClr val="5F5A6B"/>
                </a:solidFill>
              </a:rPr>
              <a:t>Source: Amdocs, 6 Steps ebook, p.19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126480" y="1417320"/>
          <a:ext cx="557784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8328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Module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PLM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Ideation to end-of-life; approvals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Commerce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Offers, bundles, channels, segments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Centralized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Master catalog; publish downstream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Service / resource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Technical specs for delivery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Templates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Reusable telco building blocks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Federation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Partner catalogs via TMF APIs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iCatalog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KPI dashboards and recommendations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Charging (optional)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Rated usage — not required here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Where Dynamics 365 is named: Customer Engagement Platform (CEP)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CEP = Amdocs catalog + CPQ + commerce + OM, on Dynamics 365. Not a CatalogONE plug-in.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6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" y="1335024"/>
            <a:ext cx="7022592" cy="3821164"/>
          </a:xfrm>
          <a:prstGeom prst="rect">
            <a:avLst/>
          </a:prstGeom>
          <a:noFill/>
          <a:ln w="15875">
            <a:solidFill>
              <a:srgbClr val="C5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ce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949440" cy="3748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174476"/>
            <a:ext cx="694944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000" b="0">
                <a:solidFill>
                  <a:srgbClr val="5F5A6B"/>
                </a:solidFill>
              </a:rPr>
              <a:t>Source: Amdocs and Microsoft CEP paper, p.3 — this is CEP, not a CatalogONE datasheet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1417320"/>
            <a:ext cx="4069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527048"/>
            <a:ext cx="37947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0C294B"/>
                </a:solidFill>
              </a:rPr>
              <a:t>Catalog (Amdocs)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892808"/>
            <a:ext cx="37947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Product lifecycle, offerings, prices, rules. Source of truth.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2834640"/>
            <a:ext cx="4069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2944368"/>
            <a:ext cx="37947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0C294B"/>
                </a:solidFill>
              </a:rPr>
              <a:t>Sales / Service (Dynamics 365)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310128"/>
            <a:ext cx="37947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In CEP, quotes, orders and cases sit here. CRM is not replaced.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4251960"/>
            <a:ext cx="4069080" cy="12801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4361688"/>
            <a:ext cx="37947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0C294B"/>
                </a:solidFill>
              </a:rPr>
              <a:t>Live operator: PLDT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727448"/>
            <a:ext cx="37947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6222E"/>
                </a:solidFill>
              </a:rPr>
              <a:t>IDC 2026: case management on CEP. Agents use Dynamics 365. Care, not a CatalogONE catalog feed.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Core data model, with one running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TM Forum entities in CatalogONE, illustrated with "Business Internet 100"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7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291840" cy="68580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Product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600200"/>
            <a:ext cx="36576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26222E"/>
                </a:solidFill>
              </a:rPr>
              <a:t>What it technically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463040"/>
            <a:ext cx="3749039" cy="6858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0C294B"/>
                </a:solidFill>
              </a:rPr>
              <a:t>Dedicated Internet Access, 100 Mbps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86000"/>
            <a:ext cx="3291840" cy="68580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Product Offering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423160"/>
            <a:ext cx="36576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26222E"/>
                </a:solidFill>
              </a:rPr>
              <a:t>What is sold (single or bundle)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2286000"/>
            <a:ext cx="3749039" cy="6858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0C294B"/>
                </a:solidFill>
              </a:rPr>
              <a:t>"Business Internet 100" bundle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108960"/>
            <a:ext cx="3291840" cy="68580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Product Offering Price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246120"/>
            <a:ext cx="36576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26222E"/>
                </a:solidFill>
              </a:rPr>
              <a:t>Prices attached to the offer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3108960"/>
            <a:ext cx="3749039" cy="6858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0C294B"/>
                </a:solidFill>
              </a:rPr>
              <a:t>Monthly fee + installation per site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3291840" cy="68580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Channel / segment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4069080"/>
            <a:ext cx="36576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26222E"/>
                </a:solidFill>
              </a:rPr>
              <a:t>Where and to whom it is sold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3931920"/>
            <a:ext cx="3749039" cy="6858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0C294B"/>
                </a:solidFill>
              </a:rPr>
              <a:t>Enterprise AMs; SME and corporate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754880"/>
            <a:ext cx="3291840" cy="685800"/>
          </a:xfrm>
          <a:prstGeom prst="roundRect">
            <a:avLst/>
          </a:prstGeom>
          <a:solidFill>
            <a:srgbClr val="5F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4892040"/>
            <a:ext cx="36576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26222E"/>
                </a:solidFill>
              </a:rPr>
              <a:t>What the customer owns after sale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4754880"/>
            <a:ext cx="3749039" cy="6858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0">
                <a:solidFill>
                  <a:srgbClr val="0C294B"/>
                </a:solidFill>
              </a:rPr>
              <a:t>Company X, 3 sites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1143000"/>
            <a:ext cx="3749039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200" b="0">
                <a:solidFill>
                  <a:srgbClr val="5F5A6B"/>
                </a:solidFill>
              </a:rPr>
              <a:t>Example (illustrative)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69280"/>
            <a:ext cx="10972800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5F5A6B"/>
                </a:solidFill>
              </a:rPr>
              <a:t>"Business Internet 100" = 100 Mbps dedicated internet + static IPs + managed router + SLA, on 12 / 24 / 36-month contracts. Unrated enterprise product — Charging catalog is not required.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Using the system (1/2): define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What the user does, stage by stage (screen names are illustrative)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8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1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Ideation &amp; business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Study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Product Manager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Register "Business Internet 100 for SMEs"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Attach business case: segment, sites, revenue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Use iCatalog to size demand and cannibalisation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Reuse existing catalog items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Submit for conception approval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2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Technical definition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Product Specialist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Open the service / resource catalog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Set bandwidth, access type, IP block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Add router, IP block, SLA specs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Expose them to the commercial catalog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3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Commercial offer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Product Manager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192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Start the Commerce offer wizard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Bundle internet + IPs + router + SLA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Add optional add-ons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Place in the Enterprise catalog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4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Pricing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PM + Finance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228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Monthly fee and installation per site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Prices by contract term (12 / 24 / 36)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Multi-site discount, validity dates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Charging catalog is optional 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Using the system (2/2): control and release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Rules, approvals, versions and testing decide when a product is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9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5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Rules &amp; eligibility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Product Manager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Market: fibre-covered areas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Channel: enterprise account managers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Segment: SME, corporate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Constraints (backup link only on 24/36 months)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6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Approval gates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Design to In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Approvers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PM submits in PLM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Marketing, Finance, Legal, IT review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Approve or reject with comments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All approved: status moves to In 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7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Versioning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Any status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PM / Catalog admin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192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Never edit a launched product directly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Create a new version instead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New version re-runs approval and test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Auto-release publishes the new version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1417320"/>
            <a:ext cx="2743200" cy="480060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417320"/>
            <a:ext cx="2743200" cy="914400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Stage 8</a:t>
            </a:r>
          </a:p>
          <a:p>
            <a:pPr algn="l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Testing &amp; readiness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404872"/>
            <a:ext cx="25603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>
                <a:solidFill>
                  <a:srgbClr val="F07300"/>
                </a:solidFill>
              </a:rPr>
              <a:t>In Test to Active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67919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Owner: Test team /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2288" y="3108960"/>
            <a:ext cx="2697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Release to sandbox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Test quotes and orders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Pass: Active, ready to publish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sz="1200">
                <a:solidFill>
                  <a:srgbClr val="26222E"/>
                </a:solidFill>
              </a:rPr>
              <a:t>Fail: Rejected or new version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Approval gates: nothing is published by accident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Each status change is a decision, recorded with who approved it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10 / 17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554480"/>
            <a:ext cx="2697480" cy="1005840"/>
          </a:xfrm>
          <a:prstGeom prst="homePlat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Gate 1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Conception approved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26974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1">
                <a:solidFill>
                  <a:srgbClr val="F07300"/>
                </a:solidFill>
              </a:rPr>
              <a:t>In Study to In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54680"/>
            <a:ext cx="269748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246120"/>
            <a:ext cx="2468880" cy="2011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Question: </a:t>
            </a:r>
            <a:r>
              <a:rPr sz="1400">
                <a:solidFill>
                  <a:srgbClr val="26222E"/>
                </a:solidFill>
              </a:rPr>
              <a:t>Is the idea worth designing?</a:t>
            </a:r>
          </a:p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Approvers: </a:t>
            </a:r>
            <a:r>
              <a:rPr sz="1400">
                <a:solidFill>
                  <a:srgbClr val="26222E"/>
                </a:solidFill>
              </a:rPr>
              <a:t>Product Manager, Marketing, Finance</a:t>
            </a:r>
          </a:p>
        </p:txBody>
      </p:sp>
      <p:sp>
        <p:nvSpPr>
          <p:cNvPr id="11" name="Pentagon 10"/>
          <p:cNvSpPr/>
          <p:nvPr/>
        </p:nvSpPr>
        <p:spPr>
          <a:xfrm>
            <a:off x="3429000" y="1554480"/>
            <a:ext cx="2697480" cy="1005840"/>
          </a:xfrm>
          <a:prstGeom prst="homePlat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Gate 2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Design approved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697480"/>
            <a:ext cx="26974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1">
                <a:solidFill>
                  <a:srgbClr val="F07300"/>
                </a:solidFill>
              </a:rPr>
              <a:t>In Design to In Test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3154680"/>
            <a:ext cx="269748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8728" y="3246120"/>
            <a:ext cx="2468880" cy="2011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Question: </a:t>
            </a:r>
            <a:r>
              <a:rPr sz="1400">
                <a:solidFill>
                  <a:srgbClr val="26222E"/>
                </a:solidFill>
              </a:rPr>
              <a:t>Are offer, price, rules and terms right?</a:t>
            </a:r>
          </a:p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Approvers: </a:t>
            </a:r>
            <a:r>
              <a:rPr sz="1400">
                <a:solidFill>
                  <a:srgbClr val="26222E"/>
                </a:solidFill>
              </a:rPr>
              <a:t>Marketing, Finance, Legal / Regulatory, IT</a:t>
            </a:r>
          </a:p>
        </p:txBody>
      </p:sp>
      <p:sp>
        <p:nvSpPr>
          <p:cNvPr id="15" name="Pentagon 14"/>
          <p:cNvSpPr/>
          <p:nvPr/>
        </p:nvSpPr>
        <p:spPr>
          <a:xfrm>
            <a:off x="6309359" y="1554480"/>
            <a:ext cx="2697480" cy="1005840"/>
          </a:xfrm>
          <a:prstGeom prst="homePlat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Gate 3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Test approved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2697480"/>
            <a:ext cx="26974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1">
                <a:solidFill>
                  <a:srgbClr val="F07300"/>
                </a:solidFill>
              </a:rPr>
              <a:t>In Test to Active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59" y="3154680"/>
            <a:ext cx="269748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7" y="3246120"/>
            <a:ext cx="2468880" cy="2011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Question: </a:t>
            </a:r>
            <a:r>
              <a:rPr sz="1400">
                <a:solidFill>
                  <a:srgbClr val="26222E"/>
                </a:solidFill>
              </a:rPr>
              <a:t>Does it work end to end?</a:t>
            </a:r>
          </a:p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Approvers: </a:t>
            </a:r>
            <a:r>
              <a:rPr sz="1400">
                <a:solidFill>
                  <a:srgbClr val="26222E"/>
                </a:solidFill>
              </a:rPr>
              <a:t>Test team, IT</a:t>
            </a:r>
          </a:p>
        </p:txBody>
      </p:sp>
      <p:sp>
        <p:nvSpPr>
          <p:cNvPr id="19" name="Pentagon 18"/>
          <p:cNvSpPr/>
          <p:nvPr/>
        </p:nvSpPr>
        <p:spPr>
          <a:xfrm>
            <a:off x="9189719" y="1554480"/>
            <a:ext cx="2697480" cy="1005840"/>
          </a:xfrm>
          <a:prstGeom prst="homePlat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Gate 4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Start of marketing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19" y="2697480"/>
            <a:ext cx="26974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1">
                <a:solidFill>
                  <a:srgbClr val="F07300"/>
                </a:solidFill>
              </a:rPr>
              <a:t>Active to Launched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19" y="3154680"/>
            <a:ext cx="2697480" cy="21945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9447" y="3246120"/>
            <a:ext cx="2468880" cy="2011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Question: </a:t>
            </a:r>
            <a:r>
              <a:rPr sz="1400">
                <a:solidFill>
                  <a:srgbClr val="26222E"/>
                </a:solidFill>
              </a:rPr>
              <a:t>Go on sale on the planned date</a:t>
            </a:r>
          </a:p>
          <a:p>
            <a:pPr algn="l">
              <a:spcAft>
                <a:spcPts val="770"/>
              </a:spcAft>
            </a:pPr>
            <a:r>
              <a:rPr b="1" sz="1400">
                <a:solidFill>
                  <a:srgbClr val="0C294B"/>
                </a:solidFill>
              </a:rPr>
              <a:t>Approvers: </a:t>
            </a:r>
            <a:r>
              <a:rPr sz="1400">
                <a:solidFill>
                  <a:srgbClr val="26222E"/>
                </a:solidFill>
              </a:rPr>
              <a:t>Product Manager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Gates and statuses: TMF620. CatalogONE PLM supplies workflow, approvals and notifications (KT: business users manage the offering lifecycle).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The catalog publishes. CRM consumes. Two documented facts.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CatalogONE names CRM. CEP names Dynamics 365. They are not the same sentence.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11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3200400" cy="338328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CatalogONE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Commerce + PLM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/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Publishes Active products to consuming applications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49039" y="3383280"/>
            <a:ext cx="868681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709160" y="1371600"/>
            <a:ext cx="356616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>
                <a:solidFill>
                  <a:srgbClr val="0C294B"/>
                </a:solidFill>
              </a:rPr>
              <a:t>What gets published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783080"/>
            <a:ext cx="3566160" cy="4572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6222E"/>
                </a:solidFill>
              </a:rPr>
              <a:t>Offering and bundle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2313432"/>
            <a:ext cx="3566160" cy="4572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6222E"/>
                </a:solidFill>
              </a:rPr>
              <a:t>Prices, discounts, contract terms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2843784"/>
            <a:ext cx="3566160" cy="4572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6222E"/>
                </a:solidFill>
              </a:rPr>
              <a:t>Eligibility: channel, segment,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3374135"/>
            <a:ext cx="3566160" cy="4572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6222E"/>
                </a:solidFill>
              </a:rPr>
              <a:t>Dependencies and constraints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3904487"/>
            <a:ext cx="3566160" cy="4572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6222E"/>
                </a:solidFill>
              </a:rPr>
              <a:t>Validity dates (start / end of sale)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4434840"/>
            <a:ext cx="3566160" cy="457200"/>
          </a:xfrm>
          <a:prstGeom prst="round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6222E"/>
                </a:solidFill>
              </a:rPr>
              <a:t>Status and version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21040" y="3383280"/>
            <a:ext cx="868680" cy="0"/>
          </a:xfrm>
          <a:prstGeom prst="line">
            <a:avLst/>
          </a:prstGeom>
          <a:ln w="25400">
            <a:solidFill>
              <a:srgbClr val="0078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281160" y="1691640"/>
            <a:ext cx="2468880" cy="33832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770"/>
              </a:spcAft>
            </a:pPr>
            <a:r>
              <a:rPr sz="1400" b="1">
                <a:solidFill>
                  <a:srgbClr val="FFFFFF"/>
                </a:solidFill>
              </a:rPr>
              <a:t>Customer's CRM</a:t>
            </a:r>
          </a:p>
          <a:p>
            <a:pPr algn="ctr">
              <a:spcAft>
                <a:spcPts val="770"/>
              </a:spcAft>
            </a:pPr>
            <a:r>
              <a:rPr sz="1400" b="1">
                <a:solidFill>
                  <a:srgbClr val="FFFFFF"/>
                </a:solidFill>
              </a:rPr>
              <a:t>(unnamed on CatalogONE)</a:t>
            </a:r>
          </a:p>
          <a:p>
            <a:pPr algn="ctr">
              <a:spcAft>
                <a:spcPts val="770"/>
              </a:spcAft>
            </a:pPr>
            <a:r>
              <a:rPr sz="1400" b="1">
                <a:solidFill>
                  <a:srgbClr val="FFFFFF"/>
                </a:solidFill>
              </a:rPr>
              <a:t/>
            </a:r>
          </a:p>
          <a:p>
            <a:pPr algn="ctr">
              <a:spcAft>
                <a:spcPts val="770"/>
              </a:spcAft>
            </a:pPr>
            <a:r>
              <a:rPr sz="1400" b="1">
                <a:solidFill>
                  <a:srgbClr val="FFFFFF"/>
                </a:solidFill>
              </a:rPr>
              <a:t>Dynamics 365 only where CEP is the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303520"/>
            <a:ext cx="1115568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5F5A6B"/>
                </a:solidFill>
              </a:rPr>
              <a:t>Fact 1 — CatalogONE: "publishing catalog information to multiple consuming applications" and "integration to … the customer's CRM solution". Fact 2 — CEP: unified Catalog plus "Dynamics 365 modules focused on sales, marketing, and customer service".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How CatalogONE publishes — destination is CRM, not named as 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Master-catalog publish + Kafka events + TM Forum Open APIs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12 / 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155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926080"/>
                <a:gridCol w="52120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Direction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CatalogONE Centralized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Catalog → consuming apps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Author once; publish offerings, prices, rules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Kafka distribution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Catalog → downstream systems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Sync approved versions in minutes, not weeks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TMF620 Product Catalog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Catalog → any TMF consumer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Read catalogs, offerings, prices, specifications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TMF620 events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Catalog → subscribers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Notify on create / change / status change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TMF679 Qualification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CRM / CPQ → catalog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"Can this customer get this offer here?"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2E"/>
                          </a:solidFill>
                        </a:rPr>
                        <a:t>TMF622 Product Ordering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CRM / CPQ → order mgmt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2E"/>
                          </a:solidFill>
                        </a:rPr>
                        <a:t>Order carries offering ID and version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074920"/>
            <a:ext cx="2057400" cy="86868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Product becomes Active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87751" y="5504688"/>
            <a:ext cx="182881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788920" y="5074920"/>
            <a:ext cx="2057400" cy="86868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Kafka / TMF event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73751" y="5504688"/>
            <a:ext cx="182881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74920" y="5074920"/>
            <a:ext cx="2057400" cy="86868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CRM reads TMF620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59751" y="5504688"/>
            <a:ext cx="182881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360920" y="5074920"/>
            <a:ext cx="2057400" cy="86868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AM quotes in CRM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445751" y="5504688"/>
            <a:ext cx="182881" cy="0"/>
          </a:xfrm>
          <a:prstGeom prst="line">
            <a:avLst/>
          </a:prstGeom>
          <a:ln w="25400">
            <a:solidFill>
              <a:srgbClr val="0078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646920" y="5074920"/>
            <a:ext cx="2057400" cy="86868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Order stores offer version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What sits around the catalog — on CEP, not on a CatalogONE datasheet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Digital Enterprise Catalog (Amdocs) and Sales management (Dynamics 365) on one CEP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13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986187" y="1335024"/>
            <a:ext cx="10189145" cy="4553712"/>
          </a:xfrm>
          <a:prstGeom prst="rect">
            <a:avLst/>
          </a:prstGeom>
          <a:noFill/>
          <a:ln w="15875">
            <a:solidFill>
              <a:srgbClr val="C5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cep_catalog_and_c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763" y="1371600"/>
            <a:ext cx="10115993" cy="4480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07024"/>
            <a:ext cx="1124712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000" b="0">
                <a:solidFill>
                  <a:srgbClr val="5F5A6B"/>
                </a:solidFill>
              </a:rPr>
              <a:t>Source: Amdocs and Microsoft Customer Engagement Platform paper, p.4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When a product changes after 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Versioning keeps sales and existing customers consistent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14 / 17</a:t>
            </a:r>
          </a:p>
        </p:txBody>
      </p:sp>
      <p:sp>
        <p:nvSpPr>
          <p:cNvPr id="7" name="Oval 6"/>
          <p:cNvSpPr/>
          <p:nvPr/>
        </p:nvSpPr>
        <p:spPr>
          <a:xfrm>
            <a:off x="1188720" y="1691640"/>
            <a:ext cx="731520" cy="731520"/>
          </a:xfrm>
          <a:prstGeom prst="ellips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>
                <a:solidFill>
                  <a:srgbClr val="FFFFFF"/>
                </a:solidFill>
              </a:rPr>
              <a:t>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057400"/>
            <a:ext cx="1463040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260604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600" b="1">
                <a:solidFill>
                  <a:srgbClr val="0C294B"/>
                </a:solidFill>
              </a:rPr>
              <a:t>New version created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201168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In CatalogONE, not in CRM</a:t>
            </a:r>
          </a:p>
        </p:txBody>
      </p:sp>
      <p:sp>
        <p:nvSpPr>
          <p:cNvPr id="11" name="Oval 10"/>
          <p:cNvSpPr/>
          <p:nvPr/>
        </p:nvSpPr>
        <p:spPr>
          <a:xfrm>
            <a:off x="3474720" y="1691640"/>
            <a:ext cx="731520" cy="731520"/>
          </a:xfrm>
          <a:prstGeom prst="ellips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>
                <a:solidFill>
                  <a:srgbClr val="FFFFFF"/>
                </a:solidFill>
              </a:rPr>
              <a:t>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51960" y="2057400"/>
            <a:ext cx="1463040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834640" y="260604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600" b="1">
                <a:solidFill>
                  <a:srgbClr val="0C294B"/>
                </a:solidFill>
              </a:rPr>
              <a:t>Approval and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063240"/>
            <a:ext cx="201168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Same gates as a new product</a:t>
            </a:r>
          </a:p>
        </p:txBody>
      </p:sp>
      <p:sp>
        <p:nvSpPr>
          <p:cNvPr id="15" name="Oval 14"/>
          <p:cNvSpPr/>
          <p:nvPr/>
        </p:nvSpPr>
        <p:spPr>
          <a:xfrm>
            <a:off x="5760720" y="1691640"/>
            <a:ext cx="731520" cy="731520"/>
          </a:xfrm>
          <a:prstGeom prst="ellips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>
                <a:solidFill>
                  <a:srgbClr val="FFFFFF"/>
                </a:solidFill>
              </a:rPr>
              <a:t>3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37960" y="2057400"/>
            <a:ext cx="1463040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20640" y="260604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600" b="1">
                <a:solidFill>
                  <a:srgbClr val="0C294B"/>
                </a:solidFill>
              </a:rPr>
              <a:t>Event to CRM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3063240"/>
            <a:ext cx="201168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New version becomes sellable</a:t>
            </a:r>
          </a:p>
        </p:txBody>
      </p:sp>
      <p:sp>
        <p:nvSpPr>
          <p:cNvPr id="19" name="Oval 18"/>
          <p:cNvSpPr/>
          <p:nvPr/>
        </p:nvSpPr>
        <p:spPr>
          <a:xfrm>
            <a:off x="8046720" y="1691640"/>
            <a:ext cx="731520" cy="731520"/>
          </a:xfrm>
          <a:prstGeom prst="ellips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>
                <a:solidFill>
                  <a:srgbClr val="FFFFFF"/>
                </a:solidFill>
              </a:rPr>
              <a:t>4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23960" y="2057400"/>
            <a:ext cx="1463040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406640" y="260604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600" b="1">
                <a:solidFill>
                  <a:srgbClr val="0C294B"/>
                </a:solidFill>
              </a:rPr>
              <a:t>New sales use v2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3063240"/>
            <a:ext cx="201168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Existing customers keep v1</a:t>
            </a:r>
          </a:p>
        </p:txBody>
      </p:sp>
      <p:sp>
        <p:nvSpPr>
          <p:cNvPr id="23" name="Oval 22"/>
          <p:cNvSpPr/>
          <p:nvPr/>
        </p:nvSpPr>
        <p:spPr>
          <a:xfrm>
            <a:off x="10332720" y="1691640"/>
            <a:ext cx="731520" cy="731520"/>
          </a:xfrm>
          <a:prstGeom prst="ellipse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260604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600" b="1">
                <a:solidFill>
                  <a:srgbClr val="0C294B"/>
                </a:solidFill>
              </a:rPr>
              <a:t>Old version retired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3063240"/>
            <a:ext cx="201168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300" b="0">
                <a:solidFill>
                  <a:srgbClr val="5F5A6B"/>
                </a:solidFill>
              </a:rPr>
              <a:t>Disappears from sales screens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069080"/>
            <a:ext cx="11064240" cy="196596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206240"/>
            <a:ext cx="10698480" cy="1737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825"/>
              </a:spcAft>
            </a:pPr>
            <a:r>
              <a:rPr b="1" sz="1500">
                <a:solidFill>
                  <a:srgbClr val="0C294B"/>
                </a:solidFill>
              </a:rPr>
              <a:t>Why it works: </a:t>
            </a:r>
            <a:r>
              <a:rPr sz="1500">
                <a:solidFill>
                  <a:srgbClr val="26222E"/>
                </a:solidFill>
              </a:rPr>
              <a:t>every order records the offering ID and version, so delivery and billing always match what the customer bought.</a:t>
            </a:r>
          </a:p>
          <a:p>
            <a:pPr algn="l">
              <a:spcAft>
                <a:spcPts val="825"/>
              </a:spcAft>
            </a:pPr>
            <a:r>
              <a:rPr b="1" sz="1500">
                <a:solidFill>
                  <a:srgbClr val="0C294B"/>
                </a:solidFill>
              </a:rPr>
              <a:t>If the CRM is Dynamics 365 [E]: </a:t>
            </a:r>
            <a:r>
              <a:rPr sz="1500">
                <a:solidFill>
                  <a:srgbClr val="26222E"/>
                </a:solidFill>
              </a:rPr>
              <a:t>new version maps to Under Revision, then Active. Retired catalog versions are Retired and drop off the quote screen.</a:t>
            </a:r>
          </a:p>
          <a:p>
            <a:pPr algn="l">
              <a:spcAft>
                <a:spcPts val="825"/>
              </a:spcAft>
            </a:pPr>
            <a:r>
              <a:rPr b="1" sz="1500">
                <a:solidFill>
                  <a:srgbClr val="0C294B"/>
                </a:solidFill>
              </a:rPr>
              <a:t>Result: </a:t>
            </a:r>
            <a:r>
              <a:rPr sz="1500">
                <a:solidFill>
                  <a:srgbClr val="26222E"/>
                </a:solidFill>
              </a:rPr>
              <a:t>a price or bundle change never breaks existing contracts.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Example only: TMF620 items on Dynamics 365 Sales [E]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Not a vendor connector spec. Same pattern as any TMF620 catalog, if Dynamics is the CRM.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15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2468880" cy="960120"/>
          </a:xfrm>
          <a:prstGeom prst="round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CatalogONE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TMF620 + Kafka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1847088"/>
            <a:ext cx="685800" cy="0"/>
          </a:xfrm>
          <a:prstGeom prst="line">
            <a:avLst/>
          </a:prstGeom>
          <a:ln w="25400">
            <a:solidFill>
              <a:srgbClr val="0C29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749039" y="1371600"/>
            <a:ext cx="2468880" cy="960120"/>
          </a:xfrm>
          <a:prstGeom prst="roundRect">
            <a:avLst/>
          </a:prstGeom>
          <a:solidFill>
            <a:srgbClr val="5F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Integration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maps into Dataverse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1847088"/>
            <a:ext cx="685800" cy="0"/>
          </a:xfrm>
          <a:prstGeom prst="line">
            <a:avLst/>
          </a:prstGeom>
          <a:ln w="25400">
            <a:solidFill>
              <a:srgbClr val="0078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995160" y="1371600"/>
            <a:ext cx="2468880" cy="960120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Dynamics 365</a:t>
            </a:r>
          </a:p>
          <a:p>
            <a:pPr algn="ctr">
              <a:spcAft>
                <a:spcPts val="825"/>
              </a:spcAft>
            </a:pPr>
            <a:r>
              <a:rPr sz="1500" b="1">
                <a:solidFill>
                  <a:srgbClr val="FFFFFF"/>
                </a:solidFill>
              </a:rPr>
              <a:t>product catalog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1371600"/>
            <a:ext cx="2103120" cy="10515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Pre-built Catalog+Dynamics is the Customer Engagement Platform. Not a CatalogONE plug-in.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2606040"/>
          <a:ext cx="111556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Catalog / TMF620 item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Dynamics 365 Sales entity [M] — example [E]</a:t>
                      </a:r>
                    </a:p>
                  </a:txBody>
                  <a:tcPr marL="73152" marR="73152">
                    <a:solidFill>
                      <a:srgbClr val="0C294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22E"/>
                          </a:solidFill>
                        </a:rPr>
                        <a:t>Product Offering / Bundle offering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22E"/>
                          </a:solidFill>
                        </a:rPr>
                        <a:t>Product / Product bundle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22E"/>
                          </a:solidFill>
                        </a:rPr>
                        <a:t>Product Catalog / Category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22E"/>
                          </a:solidFill>
                        </a:rPr>
                        <a:t>Product family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22E"/>
                          </a:solidFill>
                        </a:rPr>
                        <a:t>Product Offering Price / Discounts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22E"/>
                          </a:solidFill>
                        </a:rPr>
                        <a:t>Price list item / Discount list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22E"/>
                          </a:solidFill>
                        </a:rPr>
                        <a:t>Related offers, add-ons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22E"/>
                          </a:solidFill>
                        </a:rPr>
                        <a:t>Product relationships (accessory, cross-sell, up-sell)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22E"/>
                          </a:solidFill>
                        </a:rPr>
                        <a:t>Status Active / Launched / Retired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22E"/>
                          </a:solidFill>
                        </a:rPr>
                        <a:t>Product status Active / Retired</a:t>
                      </a:r>
                    </a:p>
                  </a:txBody>
                  <a:tcPr marL="73152" marR="73152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02920" y="5715000"/>
            <a:ext cx="1115568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0C294B"/>
                </a:solidFill>
              </a:rPr>
              <a:t>Two paths: buy the Customer Engagement Platform, or keep Dynamics and integrate CatalogONE via TMF620 / Kafka.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Evidence: results at real 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0">
                <a:solidFill>
                  <a:srgbClr val="5F5A6B"/>
                </a:solidFill>
              </a:rPr>
              <a:t>CatalogONE cases first. PLDT is CEP customer care with Dynamics 365 — not a CatalogONE catalog feed.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16 /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858000" cy="102412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09728" cy="1024128"/>
          </a:xfrm>
          <a:prstGeom prst="rect">
            <a:avLst/>
          </a:prstGeom>
          <a:solidFill>
            <a:srgbClr val="F07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26464"/>
            <a:ext cx="64465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0C294B"/>
                </a:solidFill>
              </a:rPr>
              <a:t>European quad-play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700784"/>
            <a:ext cx="6446520" cy="23774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CatalogONE unifying siloed LoBs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975104"/>
            <a:ext cx="6446520" cy="34747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26222E"/>
                </a:solidFill>
              </a:rPr>
              <a:t>New offers: 9 months → 1–2 weeks. Changes in hours. 80% by configuration.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87168"/>
            <a:ext cx="6858000" cy="102412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487168"/>
            <a:ext cx="109728" cy="10241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542032"/>
            <a:ext cx="64465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0C294B"/>
                </a:solidFill>
              </a:rPr>
              <a:t>Sprint / T-Mobile 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816352"/>
            <a:ext cx="6446520" cy="23774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CatalogONE + DigitalONE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90672"/>
            <a:ext cx="6446520" cy="34747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26222E"/>
                </a:solidFill>
              </a:rPr>
              <a:t>Expected 50% TTM cut. 22 channel catalogs → one. Business users define offers.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602736"/>
            <a:ext cx="6858000" cy="102412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602736"/>
            <a:ext cx="109728" cy="10241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57600"/>
            <a:ext cx="64465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0C294B"/>
                </a:solidFill>
              </a:rPr>
              <a:t>KT Corporation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31920"/>
            <a:ext cx="6446520" cy="23774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CatalogONE on KT private cloud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06240"/>
            <a:ext cx="6446520" cy="34747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26222E"/>
                </a:solidFill>
              </a:rPr>
              <a:t>Business-driven UI; foundation to accelerate 5G consumer and enterprise offers.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18304"/>
            <a:ext cx="6858000" cy="102412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718304"/>
            <a:ext cx="109728" cy="10241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773168"/>
            <a:ext cx="644652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600" b="1">
                <a:solidFill>
                  <a:srgbClr val="0C294B"/>
                </a:solidFill>
              </a:rPr>
              <a:t>PLDT (Philippines)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047488"/>
            <a:ext cx="6446520" cy="23774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5F5A6B"/>
                </a:solidFill>
              </a:rPr>
              <a:t>CEP Unified Case Management — agents use Dynamics 365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321808"/>
            <a:ext cx="6446520" cy="34747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>
                <a:solidFill>
                  <a:srgbClr val="26222E"/>
                </a:solidFill>
              </a:rPr>
              <a:t>IDC: 6 weeks; 48% faster L1; +27 NPS. Care, not catalog publish.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0676" y="1335024"/>
            <a:ext cx="3306767" cy="4645152"/>
          </a:xfrm>
          <a:prstGeom prst="rect">
            <a:avLst/>
          </a:prstGeom>
          <a:noFill/>
          <a:ln w="15875">
            <a:solidFill>
              <a:srgbClr val="C5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10_sprin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7252" y="1371600"/>
            <a:ext cx="3233615" cy="4572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43800" y="5998464"/>
            <a:ext cx="416052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000" b="0">
                <a:solidFill>
                  <a:srgbClr val="5F5A6B"/>
                </a:solidFill>
              </a:rPr>
              <a:t>Source: TM Forum, Sprint case study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0C294B"/>
                </a:solidFill>
              </a:rPr>
              <a:t>Summary and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00" b="0">
                <a:solidFill>
                  <a:srgbClr val="5F5A6B"/>
                </a:solidFill>
              </a:rPr>
              <a:t>PLC study  |  Amdocs CatalogONE: from idea to CRM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00" b="0">
                <a:solidFill>
                  <a:srgbClr val="5F5A6B"/>
                </a:solidFill>
              </a:rPr>
              <a:t>17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6126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28600">
              <a:spcAft>
                <a:spcPts val="900"/>
              </a:spcAft>
              <a:buChar char="•"/>
            </a:pPr>
            <a:r>
              <a:rPr b="1" sz="1400">
                <a:solidFill>
                  <a:srgbClr val="0C294B"/>
                </a:solidFill>
              </a:rPr>
              <a:t>Idea to Active </a:t>
            </a:r>
            <a:r>
              <a:rPr sz="1400">
                <a:solidFill>
                  <a:srgbClr val="26222E"/>
                </a:solidFill>
              </a:rPr>
              <a:t>inside CatalogONE: eight stages, approval gates, versions, testing.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b="1" sz="1400">
                <a:solidFill>
                  <a:srgbClr val="0C294B"/>
                </a:solidFill>
              </a:rPr>
              <a:t>CatalogONE publishes </a:t>
            </a:r>
            <a:r>
              <a:rPr sz="1400">
                <a:solidFill>
                  <a:srgbClr val="26222E"/>
                </a:solidFill>
              </a:rPr>
              <a:t>to consuming applications and "the customer's CRM" via Centralized, Kafka and TMF620.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b="1" sz="1400">
                <a:solidFill>
                  <a:srgbClr val="0C294B"/>
                </a:solidFill>
              </a:rPr>
              <a:t>Dynamics 365 is named on the Customer Engagement Platform, </a:t>
            </a:r>
            <a:r>
              <a:rPr sz="1400">
                <a:solidFill>
                  <a:srgbClr val="26222E"/>
                </a:solidFill>
              </a:rPr>
              <a:t>as Sales and Customer Service next to Catalog — not on the CatalogONE datasheet. PLDT is live on that platform for care.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b="1" sz="1400">
                <a:solidFill>
                  <a:srgbClr val="0C294B"/>
                </a:solidFill>
              </a:rPr>
              <a:t>Two paths: </a:t>
            </a:r>
            <a:r>
              <a:rPr sz="1400">
                <a:solidFill>
                  <a:srgbClr val="26222E"/>
                </a:solidFill>
              </a:rPr>
              <a:t>buy the Customer Engagement Platform, or keep Dynamics and integrate CatalogONE via TMF620. CRM is not replaced.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b="1" sz="1400">
                <a:solidFill>
                  <a:srgbClr val="0C294B"/>
                </a:solidFill>
              </a:rPr>
              <a:t>Changes are versioned, </a:t>
            </a:r>
            <a:r>
              <a:rPr sz="1400">
                <a:solidFill>
                  <a:srgbClr val="26222E"/>
                </a:solidFill>
              </a:rPr>
              <a:t>so existing customers are never affected.</a:t>
            </a:r>
          </a:p>
          <a:p>
            <a:pPr marL="274320" indent="-228600">
              <a:spcAft>
                <a:spcPts val="900"/>
              </a:spcAft>
              <a:buChar char="•"/>
            </a:pPr>
            <a:r>
              <a:rPr b="1" sz="1400">
                <a:solidFill>
                  <a:srgbClr val="0C294B"/>
                </a:solidFill>
              </a:rPr>
              <a:t>Proven CatalogONE </a:t>
            </a:r>
            <a:r>
              <a:rPr sz="1400">
                <a:solidFill>
                  <a:srgbClr val="26222E"/>
                </a:solidFill>
              </a:rPr>
              <a:t>at a European quad-play, Sprint / T-Mobile and KT. Customer Engagement Platform + Dynamics 365 is live at PLDT for case management.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280160"/>
            <a:ext cx="4846320" cy="484632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0" y="1371600"/>
            <a:ext cx="45262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>
                <a:solidFill>
                  <a:srgbClr val="0C294B"/>
                </a:solidFill>
              </a:rPr>
              <a:t>References (full links in the document)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828800"/>
            <a:ext cx="4526280" cy="4114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1. Amdocs CatalogONE datasheets (2025)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2. Amdocs, 6 Steps catalog ebook (2025)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3. Amdocs CatalogONE whitepaper (role-based UI)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4. Appledore Research, CatalogONE profile (2020)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5. Amdocs–Microsoft CEP paper and datasheet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6. Microsoft AppSource: Customer Engagement Platform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7. IDC PLDT case study (CEP Unified Case Management, 2026)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8. TM Forum Sprint / T-Mobile case study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9. Amdocs KT CatalogONE press release (Nov 2020)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10. TM Forum Open API conformance (Amdocs TMF620)</a:t>
            </a:r>
          </a:p>
          <a:p>
            <a:pPr algn="l">
              <a:spcAft>
                <a:spcPts val="660"/>
              </a:spcAft>
            </a:pPr>
            <a:r>
              <a:rPr sz="1200" b="0">
                <a:solidFill>
                  <a:srgbClr val="26222E"/>
                </a:solidFill>
              </a:rPr>
              <a:t>11. Microsoft Learn: Dynamics 365 product catalog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