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CatalogONE is the PLC. Dynamics 365 stays the CRM. Walk the manager through that split, then the eight stages, then the publish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split the manager cares about: we keep Dynamics.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role-based UI; Commerce wizard; iCatalog for ideation.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920240"/>
            <a:ext cx="109728" cy="2377440"/>
          </a:xfrm>
          <a:prstGeom prst="rect">
            <a:avLst/>
          </a:prstGeom>
          <a:solidFill>
            <a:srgbClr val="F07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E8F0F8"/>
                </a:solidFill>
              </a:rPr>
              <a:t>PLC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515600" cy="13716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Product Lifecycle Management in Amdocs CatalogONE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749039"/>
            <a:ext cx="100584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200" b="0">
                <a:solidFill>
                  <a:srgbClr val="E8F0F8"/>
                </a:solidFill>
              </a:rPr>
              <a:t>From idea to Dynamics 365: a catalog-only PLC that publishes into CRM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212080"/>
            <a:ext cx="100584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E8F0F8"/>
                </a:solidFill>
              </a:rPr>
              <a:t>Prepared by: [Your name]   | 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0C294B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Amdocs CatalogONE: from idea to Dynamics 365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2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5212080" cy="128016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0584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3600" b="1">
                <a:solidFill>
                  <a:srgbClr val="0C294B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645920"/>
            <a:ext cx="39319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000" b="1">
                <a:solidFill>
                  <a:srgbClr val="26222E"/>
                </a:solidFill>
              </a:rPr>
              <a:t>Why this PLC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103120"/>
            <a:ext cx="39319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5F5A6B"/>
                </a:solidFill>
              </a:rPr>
              <a:t>Catalog only; CRM stays Dynamics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59" y="1417320"/>
            <a:ext cx="5212080" cy="128016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39" y="1600200"/>
            <a:ext cx="100584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3600" b="1">
                <a:solidFill>
                  <a:srgbClr val="0C294B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645920"/>
            <a:ext cx="39319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000" b="1">
                <a:solidFill>
                  <a:srgbClr val="26222E"/>
                </a:solidFill>
              </a:rPr>
              <a:t>PLC and TM Forum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103120"/>
            <a:ext cx="39319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5F5A6B"/>
                </a:solidFill>
              </a:rPr>
              <a:t>The industry lifecycle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971800"/>
            <a:ext cx="5212080" cy="128016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154680"/>
            <a:ext cx="100584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3600" b="1">
                <a:solidFill>
                  <a:srgbClr val="0C294B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200400"/>
            <a:ext cx="39319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000" b="1">
                <a:solidFill>
                  <a:srgbClr val="26222E"/>
                </a:solidFill>
              </a:rPr>
              <a:t>CatalogONE at a glance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657600"/>
            <a:ext cx="39319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5F5A6B"/>
                </a:solidFill>
              </a:rPr>
              <a:t>Modules and data model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59" y="2971800"/>
            <a:ext cx="5212080" cy="128016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39" y="3154680"/>
            <a:ext cx="100584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3600" b="1">
                <a:solidFill>
                  <a:srgbClr val="0C294B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3200400"/>
            <a:ext cx="39319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000" b="1">
                <a:solidFill>
                  <a:srgbClr val="26222E"/>
                </a:solidFill>
              </a:rPr>
              <a:t>Using the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3657600"/>
            <a:ext cx="39319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5F5A6B"/>
                </a:solidFill>
              </a:rPr>
              <a:t>Eight stages from idea to launch-ready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526280"/>
            <a:ext cx="5212080" cy="128016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709160"/>
            <a:ext cx="100584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3600" b="1">
                <a:solidFill>
                  <a:srgbClr val="0C294B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754880"/>
            <a:ext cx="39319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000" b="1">
                <a:solidFill>
                  <a:srgbClr val="26222E"/>
                </a:solidFill>
              </a:rPr>
              <a:t>Publish to Dynamics 365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212080"/>
            <a:ext cx="39319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5F5A6B"/>
                </a:solidFill>
              </a:rPr>
              <a:t>How the product reaches the salesperson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59" y="4526280"/>
            <a:ext cx="5212080" cy="128016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39" y="4709160"/>
            <a:ext cx="100584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3600" b="1">
                <a:solidFill>
                  <a:srgbClr val="0C294B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4754880"/>
            <a:ext cx="39319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000" b="1">
                <a:solidFill>
                  <a:srgbClr val="26222E"/>
                </a:solidFill>
              </a:rPr>
              <a:t>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5212080"/>
            <a:ext cx="39319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5F5A6B"/>
                </a:solidFill>
              </a:rPr>
              <a:t>Results at real operators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0C294B"/>
                </a:solidFill>
              </a:rPr>
              <a:t>Why this PLC: catalog only, CRM stays 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Amdocs CatalogONE: from idea to Dynamics 365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3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474720" cy="219456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474720" cy="914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3200400" cy="502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0C294B"/>
                </a:solidFill>
              </a:rPr>
              <a:t>Catalog, not CRM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3200400" cy="12344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26222E"/>
                </a:solidFill>
              </a:rPr>
              <a:t>CatalogONE owns products, prices, rules and approvals. Dynamics 365 stays the sales, quote and order front end.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1371600"/>
            <a:ext cx="3474720" cy="219456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79" y="1371600"/>
            <a:ext cx="3474720" cy="91440"/>
          </a:xfrm>
          <a:prstGeom prst="rect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39" y="1645920"/>
            <a:ext cx="3200400" cy="502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0C294B"/>
                </a:solidFill>
              </a:rPr>
              <a:t>One source of truth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39" y="2194560"/>
            <a:ext cx="3200400" cy="12344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26222E"/>
                </a:solidFill>
              </a:rPr>
              <a:t>Commercial and technical definitions live once. Dynamics, ordering and billing consume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1371600"/>
            <a:ext cx="3474720" cy="219456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19" y="1371600"/>
            <a:ext cx="3474720" cy="91440"/>
          </a:xfrm>
          <a:prstGeom prst="rect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1645920"/>
            <a:ext cx="3200400" cy="502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0C294B"/>
                </a:solidFill>
              </a:rPr>
              <a:t>A governed journey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2194560"/>
            <a:ext cx="3200400" cy="12344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26222E"/>
                </a:solidFill>
              </a:rPr>
              <a:t>Ideation to end-of-life, with workflow, approvals, simulations and versioned change.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94760"/>
            <a:ext cx="3474720" cy="219456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94760"/>
            <a:ext cx="3474720" cy="91440"/>
          </a:xfrm>
          <a:prstGeom prst="rect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069080"/>
            <a:ext cx="3200400" cy="502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0C294B"/>
                </a:solidFill>
              </a:rPr>
              <a:t>Business users configure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17720"/>
            <a:ext cx="3200400" cy="12344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26222E"/>
                </a:solidFill>
              </a:rPr>
              <a:t>Role-based UI, templates and building blocks. No code. No deployment overhead.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79" y="3794760"/>
            <a:ext cx="3474720" cy="219456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79" y="3794760"/>
            <a:ext cx="3474720" cy="91440"/>
          </a:xfrm>
          <a:prstGeom prst="rect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39" y="4069080"/>
            <a:ext cx="3200400" cy="502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0C294B"/>
                </a:solidFill>
              </a:rPr>
              <a:t>Publish, do not re-key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39" y="4617720"/>
            <a:ext cx="3200400" cy="12344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26222E"/>
                </a:solidFill>
              </a:rPr>
              <a:t>Master catalog + Kafka + TMF620 events push Active products into Dynamics.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19" y="3794760"/>
            <a:ext cx="3474720" cy="219456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19" y="3794760"/>
            <a:ext cx="3474720" cy="91440"/>
          </a:xfrm>
          <a:prstGeom prst="rect">
            <a:avLst/>
          </a:prstGeom>
          <a:solidFill>
            <a:srgbClr val="F07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79" y="4069080"/>
            <a:ext cx="3200400" cy="502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0C294B"/>
                </a:solidFill>
              </a:rPr>
              <a:t>Proven results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4617720"/>
            <a:ext cx="3200400" cy="12344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26222E"/>
                </a:solidFill>
              </a:rPr>
              <a:t>European operator: 9 months to 1–2 weeks. Sprint / T-Mobile: expected 50% faster TTM.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0C294B"/>
                </a:solidFill>
              </a:rPr>
              <a:t>PLC and the TM Forum standard in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5F5A6B"/>
                </a:solidFill>
              </a:rPr>
              <a:t>TMF620 defines the statuses. CatalogONE PLM runs them. Dynamics only sees Active / Launched.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Amdocs CatalogONE: from idea to Dynamics 365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4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31720"/>
            <a:ext cx="1600200" cy="1005840"/>
          </a:xfrm>
          <a:prstGeom prst="roundRect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</a:rPr>
              <a:t>In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29000"/>
            <a:ext cx="16002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300" b="0">
                <a:solidFill>
                  <a:srgbClr val="5F5A6B"/>
                </a:solidFill>
              </a:rPr>
              <a:t>Idea studied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76272" y="2834640"/>
            <a:ext cx="329184" cy="0"/>
          </a:xfrm>
          <a:prstGeom prst="line">
            <a:avLst/>
          </a:prstGeom>
          <a:ln w="25400">
            <a:solidFill>
              <a:srgbClr val="0C29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737360" y="1554480"/>
            <a:ext cx="1207008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100" b="0">
                <a:solidFill>
                  <a:srgbClr val="0C294B"/>
                </a:solidFill>
              </a:rPr>
              <a:t>Conception
approved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32888" y="2331720"/>
            <a:ext cx="1600200" cy="1005840"/>
          </a:xfrm>
          <a:prstGeom prst="roundRect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</a:rPr>
              <a:t>In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2888" y="3429000"/>
            <a:ext cx="16002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300" b="0">
                <a:solidFill>
                  <a:srgbClr val="5F5A6B"/>
                </a:solidFill>
              </a:rPr>
              <a:t>Being designed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60520" y="2834640"/>
            <a:ext cx="329184" cy="0"/>
          </a:xfrm>
          <a:prstGeom prst="line">
            <a:avLst/>
          </a:prstGeom>
          <a:ln w="25400">
            <a:solidFill>
              <a:srgbClr val="0C29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721608" y="1554480"/>
            <a:ext cx="1207008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100" b="0">
                <a:solidFill>
                  <a:srgbClr val="0C294B"/>
                </a:solidFill>
              </a:rPr>
              <a:t>Design
approved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17136" y="2331720"/>
            <a:ext cx="1600200" cy="1005840"/>
          </a:xfrm>
          <a:prstGeom prst="roundRect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</a:rPr>
              <a:t>In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3429000"/>
            <a:ext cx="16002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300" b="0">
                <a:solidFill>
                  <a:srgbClr val="5F5A6B"/>
                </a:solidFill>
              </a:rPr>
              <a:t>Being tested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44768" y="2834640"/>
            <a:ext cx="329184" cy="0"/>
          </a:xfrm>
          <a:prstGeom prst="line">
            <a:avLst/>
          </a:prstGeom>
          <a:ln w="25400">
            <a:solidFill>
              <a:srgbClr val="0C29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705856" y="1554480"/>
            <a:ext cx="1207008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100" b="0">
                <a:solidFill>
                  <a:srgbClr val="0C294B"/>
                </a:solidFill>
              </a:rPr>
              <a:t>Test
approved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01384" y="2331720"/>
            <a:ext cx="1600200" cy="1005840"/>
          </a:xfrm>
          <a:prstGeom prst="roundRect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</a:rPr>
              <a:t>Active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3429000"/>
            <a:ext cx="16002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300" b="0">
                <a:solidFill>
                  <a:srgbClr val="5F5A6B"/>
                </a:solidFill>
              </a:rPr>
              <a:t>Ready, not yet sold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129016" y="2834640"/>
            <a:ext cx="329184" cy="0"/>
          </a:xfrm>
          <a:prstGeom prst="line">
            <a:avLst/>
          </a:prstGeom>
          <a:ln w="25400">
            <a:solidFill>
              <a:srgbClr val="0C29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690104" y="1554480"/>
            <a:ext cx="1207008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100" b="0">
                <a:solidFill>
                  <a:srgbClr val="0C294B"/>
                </a:solidFill>
              </a:rPr>
              <a:t>Start of
marketing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85632" y="2331720"/>
            <a:ext cx="1600200" cy="10058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</a:rPr>
              <a:t>Launched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5632" y="3429000"/>
            <a:ext cx="16002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300" b="0">
                <a:solidFill>
                  <a:srgbClr val="5F5A6B"/>
                </a:solidFill>
              </a:rPr>
              <a:t>On sale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113264" y="2834640"/>
            <a:ext cx="329184" cy="0"/>
          </a:xfrm>
          <a:prstGeom prst="line">
            <a:avLst/>
          </a:prstGeom>
          <a:ln w="25400">
            <a:solidFill>
              <a:srgbClr val="0C29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674352" y="1554480"/>
            <a:ext cx="1207008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100" b="0">
                <a:solidFill>
                  <a:srgbClr val="0C294B"/>
                </a:solidFill>
              </a:rPr>
              <a:t>End of
marketing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469880" y="2331720"/>
            <a:ext cx="1600200" cy="1005840"/>
          </a:xfrm>
          <a:prstGeom prst="roundRect">
            <a:avLst/>
          </a:prstGeom>
          <a:solidFill>
            <a:srgbClr val="5F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</a:rPr>
              <a:t>Retired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9880" y="3429000"/>
            <a:ext cx="16002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300" b="0">
                <a:solidFill>
                  <a:srgbClr val="5F5A6B"/>
                </a:solidFill>
              </a:rPr>
              <a:t>No new sales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17136" y="4114800"/>
            <a:ext cx="1600200" cy="502920"/>
          </a:xfrm>
          <a:prstGeom prst="round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Rejected (test KO)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983480"/>
            <a:ext cx="7735824" cy="73152"/>
          </a:xfrm>
          <a:prstGeom prst="rect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120640"/>
            <a:ext cx="73152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1">
                <a:solidFill>
                  <a:srgbClr val="0C294B"/>
                </a:solidFill>
              </a:rPr>
              <a:t>Inside CatalogONE: defined, approved and tested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85632" y="5120640"/>
            <a:ext cx="384048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1">
                <a:solidFill>
                  <a:srgbClr val="0078D4"/>
                </a:solidFill>
              </a:rPr>
              <a:t>Dynamics 365: visible to sales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300" b="0">
                <a:solidFill>
                  <a:srgbClr val="5F5A6B"/>
                </a:solidFill>
              </a:rPr>
              <a:t>Amdocs is TM Forum-certified on TMF620. CatalogONE APIs use the TMF data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0C294B"/>
                </a:solidFill>
              </a:rPr>
              <a:t>CatalogONE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5F5A6B"/>
                </a:solidFill>
              </a:rPr>
              <a:t>Standalone telecom catalog + PLM. Modular. Does not replace Dynamics.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Amdocs CatalogONE: from idea to Dynamics 365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5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" y="1380744"/>
            <a:ext cx="5559551" cy="4312642"/>
          </a:xfrm>
          <a:prstGeom prst="rect">
            <a:avLst/>
          </a:prstGeom>
          <a:noFill/>
          <a:ln w="15875">
            <a:solidFill>
              <a:srgbClr val="C5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9_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5486399" cy="42394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711674"/>
            <a:ext cx="54864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000" b="0">
                <a:solidFill>
                  <a:srgbClr val="5F5A6B"/>
                </a:solidFill>
              </a:rPr>
              <a:t>Source: Amdocs, 6 Steps ebook, p.19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126480" y="1417320"/>
          <a:ext cx="557784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383280"/>
              </a:tblGrid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 marL="73152" marR="73152">
                    <a:solidFill>
                      <a:srgbClr val="0C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marL="73152" marR="73152">
                    <a:solidFill>
                      <a:srgbClr val="0C294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22E"/>
                          </a:solidFill>
                        </a:rPr>
                        <a:t>PLM</a:t>
                      </a:r>
                    </a:p>
                  </a:txBody>
                  <a:tcPr marL="73152" marR="73152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22E"/>
                          </a:solidFill>
                        </a:rPr>
                        <a:t>Ideation to end-of-life; approvals</a:t>
                      </a:r>
                    </a:p>
                  </a:txBody>
                  <a:tcPr marL="73152" marR="73152">
                    <a:solidFill>
                      <a:srgbClr val="E8F0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22E"/>
                          </a:solidFill>
                        </a:rPr>
                        <a:t>Commerce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22E"/>
                          </a:solidFill>
                        </a:rPr>
                        <a:t>Offers, bundles, channels, segments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22E"/>
                          </a:solidFill>
                        </a:rPr>
                        <a:t>Centralized</a:t>
                      </a:r>
                    </a:p>
                  </a:txBody>
                  <a:tcPr marL="73152" marR="73152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22E"/>
                          </a:solidFill>
                        </a:rPr>
                        <a:t>Master catalog; publish downstream</a:t>
                      </a:r>
                    </a:p>
                  </a:txBody>
                  <a:tcPr marL="73152" marR="73152">
                    <a:solidFill>
                      <a:srgbClr val="E8F0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22E"/>
                          </a:solidFill>
                        </a:rPr>
                        <a:t>Service / resource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22E"/>
                          </a:solidFill>
                        </a:rPr>
                        <a:t>Technical specs for delivery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22E"/>
                          </a:solidFill>
                        </a:rPr>
                        <a:t>Templates</a:t>
                      </a:r>
                    </a:p>
                  </a:txBody>
                  <a:tcPr marL="73152" marR="73152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22E"/>
                          </a:solidFill>
                        </a:rPr>
                        <a:t>Reusable telco building blocks</a:t>
                      </a:r>
                    </a:p>
                  </a:txBody>
                  <a:tcPr marL="73152" marR="73152">
                    <a:solidFill>
                      <a:srgbClr val="E8F0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22E"/>
                          </a:solidFill>
                        </a:rPr>
                        <a:t>Federation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22E"/>
                          </a:solidFill>
                        </a:rPr>
                        <a:t>Partner catalogs via TMF APIs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22E"/>
                          </a:solidFill>
                        </a:rPr>
                        <a:t>iCatalog</a:t>
                      </a:r>
                    </a:p>
                  </a:txBody>
                  <a:tcPr marL="73152" marR="73152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22E"/>
                          </a:solidFill>
                        </a:rPr>
                        <a:t>KPI dashboards and recommendations</a:t>
                      </a:r>
                    </a:p>
                  </a:txBody>
                  <a:tcPr marL="73152" marR="73152">
                    <a:solidFill>
                      <a:srgbClr val="E8F0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22E"/>
                          </a:solidFill>
                        </a:rPr>
                        <a:t>Charging (optional)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22E"/>
                          </a:solidFill>
                        </a:rPr>
                        <a:t>Rated usage — not required here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0C294B"/>
                </a:solidFill>
              </a:rPr>
              <a:t>Catalog is a module of its own. Sales is Dynamics 365.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5F5A6B"/>
                </a:solidFill>
              </a:rPr>
              <a:t>Amdocs–Microsoft Customer Engagement Platform: unified catalog + Dynamics CRM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Amdocs CatalogONE: from idea to Dynamics 365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6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" y="1335024"/>
            <a:ext cx="7022592" cy="3821164"/>
          </a:xfrm>
          <a:prstGeom prst="rect">
            <a:avLst/>
          </a:prstGeom>
          <a:noFill/>
          <a:ln w="15875">
            <a:solidFill>
              <a:srgbClr val="C5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cep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949440" cy="37480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174476"/>
            <a:ext cx="694944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000" b="0">
                <a:solidFill>
                  <a:srgbClr val="5F5A6B"/>
                </a:solidFill>
              </a:rPr>
              <a:t>Source: Amdocs and Microsoft CEP paper, p.3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35240" y="1417320"/>
            <a:ext cx="4069080" cy="128016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527048"/>
            <a:ext cx="379476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0C294B"/>
                </a:solidFill>
              </a:rPr>
              <a:t>Catalog (Amdocs)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892808"/>
            <a:ext cx="379476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300" b="0">
                <a:solidFill>
                  <a:srgbClr val="26222E"/>
                </a:solidFill>
              </a:rPr>
              <a:t>Product lifecycle, offerings, prices, rules. Source of truth.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834640"/>
            <a:ext cx="4069080" cy="128016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2944368"/>
            <a:ext cx="379476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0C294B"/>
                </a:solidFill>
              </a:rPr>
              <a:t>Sales (Dynamics 365)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310128"/>
            <a:ext cx="379476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300" b="0">
                <a:solidFill>
                  <a:srgbClr val="26222E"/>
                </a:solidFill>
              </a:rPr>
              <a:t>Quotes, orders, account managers. Consumes the catalog.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4251960"/>
            <a:ext cx="4069080" cy="128016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4361688"/>
            <a:ext cx="379476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0C294B"/>
                </a:solidFill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4727448"/>
            <a:ext cx="379476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300" b="0">
                <a:solidFill>
                  <a:srgbClr val="26222E"/>
                </a:solidFill>
              </a:rPr>
              <a:t>CRM is not replaced. Approved products are published into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0C294B"/>
                </a:solidFill>
              </a:rPr>
              <a:t>Core data model, with one running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5F5A6B"/>
                </a:solidFill>
              </a:rPr>
              <a:t>TM Forum entities in CatalogONE, illustrated with "Business Internet 100"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Amdocs CatalogONE: from idea to Dynamics 365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7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291840" cy="685800"/>
          </a:xfrm>
          <a:prstGeom prst="roundRect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Product Specification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600200"/>
            <a:ext cx="36576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26222E"/>
                </a:solidFill>
              </a:rPr>
              <a:t>What it technically 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463040"/>
            <a:ext cx="3749039" cy="685800"/>
          </a:xfrm>
          <a:prstGeom prst="round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0C294B"/>
                </a:solidFill>
              </a:rPr>
              <a:t>Dedicated Internet Access, 100 Mbps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3291840" cy="685800"/>
          </a:xfrm>
          <a:prstGeom prst="roundRect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Product Offering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423160"/>
            <a:ext cx="36576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26222E"/>
                </a:solidFill>
              </a:rPr>
              <a:t>What is sold (single or bundle)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2286000"/>
            <a:ext cx="3749039" cy="685800"/>
          </a:xfrm>
          <a:prstGeom prst="round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0C294B"/>
                </a:solidFill>
              </a:rPr>
              <a:t>"Business Internet 100" bundle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08960"/>
            <a:ext cx="3291840" cy="685800"/>
          </a:xfrm>
          <a:prstGeom prst="roundRect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Product Offering Price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3246120"/>
            <a:ext cx="36576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26222E"/>
                </a:solidFill>
              </a:rPr>
              <a:t>Prices attached to the offer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108960"/>
            <a:ext cx="3749039" cy="685800"/>
          </a:xfrm>
          <a:prstGeom prst="round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0C294B"/>
                </a:solidFill>
              </a:rPr>
              <a:t>Monthly fee + installation per site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3291840" cy="685800"/>
          </a:xfrm>
          <a:prstGeom prst="roundRect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</a:rPr>
              <a:t>Channel / segment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4069080"/>
            <a:ext cx="36576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26222E"/>
                </a:solidFill>
              </a:rPr>
              <a:t>Where and to whom it is sold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3931920"/>
            <a:ext cx="3749039" cy="685800"/>
          </a:xfrm>
          <a:prstGeom prst="round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0C294B"/>
                </a:solidFill>
              </a:rPr>
              <a:t>Enterprise AMs; SME and corporate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754880"/>
            <a:ext cx="3291840" cy="685800"/>
          </a:xfrm>
          <a:prstGeom prst="roundRect">
            <a:avLst/>
          </a:prstGeom>
          <a:solidFill>
            <a:srgbClr val="5F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Product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892040"/>
            <a:ext cx="36576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26222E"/>
                </a:solidFill>
              </a:rPr>
              <a:t>What the customer owns after sale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4754880"/>
            <a:ext cx="3749039" cy="685800"/>
          </a:xfrm>
          <a:prstGeom prst="round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0C294B"/>
                </a:solidFill>
              </a:rPr>
              <a:t>Company X, 3 sites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1143000"/>
            <a:ext cx="3749039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200" b="0">
                <a:solidFill>
                  <a:srgbClr val="5F5A6B"/>
                </a:solidFill>
              </a:rPr>
              <a:t>Example (illustrative)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669280"/>
            <a:ext cx="10972800" cy="502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300" b="0">
                <a:solidFill>
                  <a:srgbClr val="5F5A6B"/>
                </a:solidFill>
              </a:rPr>
              <a:t>"Business Internet 100" = 100 Mbps dedicated internet + static IPs + managed router + SLA, on 12 / 24 / 36-month contracts. Unrated enterprise product — Charging catalog is not required.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0C294B"/>
                </a:solidFill>
              </a:rPr>
              <a:t>Using the system (1/2): define 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5F5A6B"/>
                </a:solidFill>
              </a:rPr>
              <a:t>What the user does, stage by stage (screen names are illustrative)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Amdocs CatalogONE: from idea to Dynamics 365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8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2743200" cy="480060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2743200" cy="914400"/>
          </a:xfrm>
          <a:prstGeom prst="rect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>Stage 1</a:t>
            </a:r>
          </a:p>
          <a:p>
            <a:pPr algn="l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>Ideation &amp; business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04872"/>
            <a:ext cx="256032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1">
                <a:solidFill>
                  <a:srgbClr val="F07300"/>
                </a:solidFill>
              </a:rPr>
              <a:t>In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79192"/>
            <a:ext cx="2560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F5A6B"/>
                </a:solidFill>
              </a:rPr>
              <a:t>Owner: Product 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3108960"/>
            <a:ext cx="2697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28600">
              <a:spcAft>
                <a:spcPts val="900"/>
              </a:spcAft>
              <a:buChar char="•"/>
            </a:pPr>
            <a:r>
              <a:rPr sz="1200">
                <a:solidFill>
                  <a:srgbClr val="26222E"/>
                </a:solidFill>
              </a:rPr>
              <a:t>Register "Business Internet 100 for SMEs"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200">
                <a:solidFill>
                  <a:srgbClr val="26222E"/>
                </a:solidFill>
              </a:rPr>
              <a:t>Attach business case: segment, sites, revenue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200">
                <a:solidFill>
                  <a:srgbClr val="26222E"/>
                </a:solidFill>
              </a:rPr>
              <a:t>Use iCatalog to size demand and cannibalisation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200">
                <a:solidFill>
                  <a:srgbClr val="26222E"/>
                </a:solidFill>
              </a:rPr>
              <a:t>Reuse existing catalog items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200">
                <a:solidFill>
                  <a:srgbClr val="26222E"/>
                </a:solidFill>
              </a:rPr>
              <a:t>Submit for conception approval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417320"/>
            <a:ext cx="2743200" cy="480060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417320"/>
            <a:ext cx="2743200" cy="914400"/>
          </a:xfrm>
          <a:prstGeom prst="rect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>Stage 2</a:t>
            </a:r>
          </a:p>
          <a:p>
            <a:pPr algn="l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>Technical definition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404872"/>
            <a:ext cx="256032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1">
                <a:solidFill>
                  <a:srgbClr val="F07300"/>
                </a:solidFill>
              </a:rPr>
              <a:t>In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679192"/>
            <a:ext cx="2560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F5A6B"/>
                </a:solidFill>
              </a:rPr>
              <a:t>Owner: Product Specialist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3108960"/>
            <a:ext cx="2697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28600">
              <a:spcAft>
                <a:spcPts val="900"/>
              </a:spcAft>
              <a:buChar char="•"/>
            </a:pPr>
            <a:r>
              <a:rPr sz="1200">
                <a:solidFill>
                  <a:srgbClr val="26222E"/>
                </a:solidFill>
              </a:rPr>
              <a:t>Open the service / resource catalog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200">
                <a:solidFill>
                  <a:srgbClr val="26222E"/>
                </a:solidFill>
              </a:rPr>
              <a:t>Set bandwidth, access type, IP block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200">
                <a:solidFill>
                  <a:srgbClr val="26222E"/>
                </a:solidFill>
              </a:rPr>
              <a:t>Add router, IP block, SLA specs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200">
                <a:solidFill>
                  <a:srgbClr val="26222E"/>
                </a:solidFill>
              </a:rPr>
              <a:t>Expose them to the commercial catalog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417320"/>
            <a:ext cx="2743200" cy="480060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417320"/>
            <a:ext cx="2743200" cy="914400"/>
          </a:xfrm>
          <a:prstGeom prst="rect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>Stage 3</a:t>
            </a:r>
          </a:p>
          <a:p>
            <a:pPr algn="l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>Commercial offer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404872"/>
            <a:ext cx="256032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1">
                <a:solidFill>
                  <a:srgbClr val="F07300"/>
                </a:solidFill>
              </a:rPr>
              <a:t>In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679192"/>
            <a:ext cx="2560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F5A6B"/>
                </a:solidFill>
              </a:rPr>
              <a:t>Owner: Product Manager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3108960"/>
            <a:ext cx="2697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28600">
              <a:spcAft>
                <a:spcPts val="900"/>
              </a:spcAft>
              <a:buChar char="•"/>
            </a:pPr>
            <a:r>
              <a:rPr sz="1200">
                <a:solidFill>
                  <a:srgbClr val="26222E"/>
                </a:solidFill>
              </a:rPr>
              <a:t>Start the Commerce offer wizard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200">
                <a:solidFill>
                  <a:srgbClr val="26222E"/>
                </a:solidFill>
              </a:rPr>
              <a:t>Bundle internet + IPs + router + SLA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200">
                <a:solidFill>
                  <a:srgbClr val="26222E"/>
                </a:solidFill>
              </a:rPr>
              <a:t>Add optional add-ons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200">
                <a:solidFill>
                  <a:srgbClr val="26222E"/>
                </a:solidFill>
              </a:rPr>
              <a:t>Place in the Enterprise catalog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1417320"/>
            <a:ext cx="2743200" cy="480060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1417320"/>
            <a:ext cx="2743200" cy="914400"/>
          </a:xfrm>
          <a:prstGeom prst="rect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>Stage 4</a:t>
            </a:r>
          </a:p>
          <a:p>
            <a:pPr algn="l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>Pricing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404872"/>
            <a:ext cx="256032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1">
                <a:solidFill>
                  <a:srgbClr val="F07300"/>
                </a:solidFill>
              </a:rPr>
              <a:t>In 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679192"/>
            <a:ext cx="2560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F5A6B"/>
                </a:solidFill>
              </a:rPr>
              <a:t>Owner: PM + Finance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62288" y="3108960"/>
            <a:ext cx="2697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28600">
              <a:spcAft>
                <a:spcPts val="900"/>
              </a:spcAft>
              <a:buChar char="•"/>
            </a:pPr>
            <a:r>
              <a:rPr sz="1200">
                <a:solidFill>
                  <a:srgbClr val="26222E"/>
                </a:solidFill>
              </a:rPr>
              <a:t>Monthly fee and installation per site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200">
                <a:solidFill>
                  <a:srgbClr val="26222E"/>
                </a:solidFill>
              </a:rPr>
              <a:t>Prices by contract term (12 / 24 / 36)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200">
                <a:solidFill>
                  <a:srgbClr val="26222E"/>
                </a:solidFill>
              </a:rPr>
              <a:t>Multi-site discount, validity dates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200">
                <a:solidFill>
                  <a:srgbClr val="26222E"/>
                </a:solidFill>
              </a:rPr>
              <a:t>Charging catalog is optional here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0C294B"/>
                </a:solidFill>
              </a:rPr>
              <a:t>Using the system (2/2): control and release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5F5A6B"/>
                </a:solidFill>
              </a:rPr>
              <a:t>Rules, approvals, versions and testing decide when a product is 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Amdocs CatalogONE: from idea to Dynamics 365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9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2743200" cy="480060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2743200" cy="914400"/>
          </a:xfrm>
          <a:prstGeom prst="rect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>Stage 5</a:t>
            </a:r>
          </a:p>
          <a:p>
            <a:pPr algn="l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>Rules &amp; eligibility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04872"/>
            <a:ext cx="256032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1">
                <a:solidFill>
                  <a:srgbClr val="F07300"/>
                </a:solidFill>
              </a:rPr>
              <a:t>In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79192"/>
            <a:ext cx="2560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F5A6B"/>
                </a:solidFill>
              </a:rPr>
              <a:t>Owner: Product 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3108960"/>
            <a:ext cx="2697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28600">
              <a:spcAft>
                <a:spcPts val="900"/>
              </a:spcAft>
              <a:buChar char="•"/>
            </a:pPr>
            <a:r>
              <a:rPr sz="1200">
                <a:solidFill>
                  <a:srgbClr val="26222E"/>
                </a:solidFill>
              </a:rPr>
              <a:t>Market: fibre-covered areas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200">
                <a:solidFill>
                  <a:srgbClr val="26222E"/>
                </a:solidFill>
              </a:rPr>
              <a:t>Channel: enterprise account managers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200">
                <a:solidFill>
                  <a:srgbClr val="26222E"/>
                </a:solidFill>
              </a:rPr>
              <a:t>Segment: SME, corporate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200">
                <a:solidFill>
                  <a:srgbClr val="26222E"/>
                </a:solidFill>
              </a:rPr>
              <a:t>Constraints (backup link only on 24/36 months)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417320"/>
            <a:ext cx="2743200" cy="480060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417320"/>
            <a:ext cx="2743200" cy="914400"/>
          </a:xfrm>
          <a:prstGeom prst="rect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>Stage 6</a:t>
            </a:r>
          </a:p>
          <a:p>
            <a:pPr algn="l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>Approval gates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404872"/>
            <a:ext cx="256032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1">
                <a:solidFill>
                  <a:srgbClr val="F07300"/>
                </a:solidFill>
              </a:rPr>
              <a:t>In Design to In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679192"/>
            <a:ext cx="2560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F5A6B"/>
                </a:solidFill>
              </a:rPr>
              <a:t>Owner: Approvers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3108960"/>
            <a:ext cx="2697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28600">
              <a:spcAft>
                <a:spcPts val="900"/>
              </a:spcAft>
              <a:buChar char="•"/>
            </a:pPr>
            <a:r>
              <a:rPr sz="1200">
                <a:solidFill>
                  <a:srgbClr val="26222E"/>
                </a:solidFill>
              </a:rPr>
              <a:t>PM submits in PLM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200">
                <a:solidFill>
                  <a:srgbClr val="26222E"/>
                </a:solidFill>
              </a:rPr>
              <a:t>Marketing, Finance, Legal, IT review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200">
                <a:solidFill>
                  <a:srgbClr val="26222E"/>
                </a:solidFill>
              </a:rPr>
              <a:t>Approve or reject with comments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200">
                <a:solidFill>
                  <a:srgbClr val="26222E"/>
                </a:solidFill>
              </a:rPr>
              <a:t>All approved: status moves to In Test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417320"/>
            <a:ext cx="2743200" cy="480060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417320"/>
            <a:ext cx="2743200" cy="914400"/>
          </a:xfrm>
          <a:prstGeom prst="rect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>Stage 7</a:t>
            </a:r>
          </a:p>
          <a:p>
            <a:pPr algn="l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>Versioning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404872"/>
            <a:ext cx="256032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1">
                <a:solidFill>
                  <a:srgbClr val="F07300"/>
                </a:solidFill>
              </a:rPr>
              <a:t>Any 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679192"/>
            <a:ext cx="2560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F5A6B"/>
                </a:solidFill>
              </a:rPr>
              <a:t>Owner: PM / Catalog 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3108960"/>
            <a:ext cx="2697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28600">
              <a:spcAft>
                <a:spcPts val="900"/>
              </a:spcAft>
              <a:buChar char="•"/>
            </a:pPr>
            <a:r>
              <a:rPr sz="1200">
                <a:solidFill>
                  <a:srgbClr val="26222E"/>
                </a:solidFill>
              </a:rPr>
              <a:t>Never edit a launched product directly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200">
                <a:solidFill>
                  <a:srgbClr val="26222E"/>
                </a:solidFill>
              </a:rPr>
              <a:t>Create a new version instead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200">
                <a:solidFill>
                  <a:srgbClr val="26222E"/>
                </a:solidFill>
              </a:rPr>
              <a:t>New version re-runs approval and test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200">
                <a:solidFill>
                  <a:srgbClr val="26222E"/>
                </a:solidFill>
              </a:rPr>
              <a:t>Auto-release publishes the new version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1417320"/>
            <a:ext cx="2743200" cy="480060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1417320"/>
            <a:ext cx="2743200" cy="914400"/>
          </a:xfrm>
          <a:prstGeom prst="rect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>Stage 8</a:t>
            </a:r>
          </a:p>
          <a:p>
            <a:pPr algn="l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>Testing &amp; readiness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404872"/>
            <a:ext cx="256032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1">
                <a:solidFill>
                  <a:srgbClr val="F07300"/>
                </a:solidFill>
              </a:rPr>
              <a:t>In Test to Active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679192"/>
            <a:ext cx="2560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F5A6B"/>
                </a:solidFill>
              </a:rPr>
              <a:t>Owner: Test team /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62288" y="3108960"/>
            <a:ext cx="2697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28600">
              <a:spcAft>
                <a:spcPts val="900"/>
              </a:spcAft>
              <a:buChar char="•"/>
            </a:pPr>
            <a:r>
              <a:rPr sz="1200">
                <a:solidFill>
                  <a:srgbClr val="26222E"/>
                </a:solidFill>
              </a:rPr>
              <a:t>Release to sandbox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200">
                <a:solidFill>
                  <a:srgbClr val="26222E"/>
                </a:solidFill>
              </a:rPr>
              <a:t>Test quotes and orders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200">
                <a:solidFill>
                  <a:srgbClr val="26222E"/>
                </a:solidFill>
              </a:rPr>
              <a:t>Pass: Active, ready for Dynamics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200">
                <a:solidFill>
                  <a:srgbClr val="26222E"/>
                </a:solidFill>
              </a:rPr>
              <a:t>Fail: Rejected or new version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0C294B"/>
                </a:solidFill>
              </a:rPr>
              <a:t>Approval gates: nothing reaches Dynamics by accident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5F5A6B"/>
                </a:solidFill>
              </a:rPr>
              <a:t>Each status change is a decision, recorded with who approved it and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Amdocs CatalogONE: from idea to Dynamics 365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10 / 17</a:t>
            </a:r>
          </a:p>
        </p:txBody>
      </p:sp>
      <p:sp>
        <p:nvSpPr>
          <p:cNvPr id="7" name="Pentagon 6"/>
          <p:cNvSpPr/>
          <p:nvPr/>
        </p:nvSpPr>
        <p:spPr>
          <a:xfrm>
            <a:off x="548640" y="1554480"/>
            <a:ext cx="2697480" cy="1005840"/>
          </a:xfrm>
          <a:prstGeom prst="homePlate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>Gate 1</a:t>
            </a:r>
          </a:p>
          <a:p>
            <a:pPr algn="ctr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>Conception approved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97480"/>
            <a:ext cx="269748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300" b="1">
                <a:solidFill>
                  <a:srgbClr val="F07300"/>
                </a:solidFill>
              </a:rPr>
              <a:t>In Study to In Design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54680"/>
            <a:ext cx="2697480" cy="219456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246120"/>
            <a:ext cx="2468880" cy="2011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770"/>
              </a:spcAft>
            </a:pPr>
            <a:r>
              <a:rPr b="1" sz="1400">
                <a:solidFill>
                  <a:srgbClr val="0C294B"/>
                </a:solidFill>
              </a:rPr>
              <a:t>Question: </a:t>
            </a:r>
            <a:r>
              <a:rPr sz="1400">
                <a:solidFill>
                  <a:srgbClr val="26222E"/>
                </a:solidFill>
              </a:rPr>
              <a:t>Is the idea worth designing?</a:t>
            </a:r>
          </a:p>
          <a:p>
            <a:pPr algn="l">
              <a:spcAft>
                <a:spcPts val="770"/>
              </a:spcAft>
            </a:pPr>
            <a:r>
              <a:rPr b="1" sz="1400">
                <a:solidFill>
                  <a:srgbClr val="0C294B"/>
                </a:solidFill>
              </a:rPr>
              <a:t>Approvers: </a:t>
            </a:r>
            <a:r>
              <a:rPr sz="1400">
                <a:solidFill>
                  <a:srgbClr val="26222E"/>
                </a:solidFill>
              </a:rPr>
              <a:t>Product Manager, Marketing, Finance</a:t>
            </a:r>
          </a:p>
        </p:txBody>
      </p:sp>
      <p:sp>
        <p:nvSpPr>
          <p:cNvPr id="11" name="Pentagon 10"/>
          <p:cNvSpPr/>
          <p:nvPr/>
        </p:nvSpPr>
        <p:spPr>
          <a:xfrm>
            <a:off x="3429000" y="1554480"/>
            <a:ext cx="2697480" cy="1005840"/>
          </a:xfrm>
          <a:prstGeom prst="homePlate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>Gate 2</a:t>
            </a:r>
          </a:p>
          <a:p>
            <a:pPr algn="ctr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>Design approved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697480"/>
            <a:ext cx="269748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300" b="1">
                <a:solidFill>
                  <a:srgbClr val="F07300"/>
                </a:solidFill>
              </a:rPr>
              <a:t>In Design to In Test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3154680"/>
            <a:ext cx="2697480" cy="219456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8728" y="3246120"/>
            <a:ext cx="2468880" cy="2011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770"/>
              </a:spcAft>
            </a:pPr>
            <a:r>
              <a:rPr b="1" sz="1400">
                <a:solidFill>
                  <a:srgbClr val="0C294B"/>
                </a:solidFill>
              </a:rPr>
              <a:t>Question: </a:t>
            </a:r>
            <a:r>
              <a:rPr sz="1400">
                <a:solidFill>
                  <a:srgbClr val="26222E"/>
                </a:solidFill>
              </a:rPr>
              <a:t>Are offer, price, rules and terms right?</a:t>
            </a:r>
          </a:p>
          <a:p>
            <a:pPr algn="l">
              <a:spcAft>
                <a:spcPts val="770"/>
              </a:spcAft>
            </a:pPr>
            <a:r>
              <a:rPr b="1" sz="1400">
                <a:solidFill>
                  <a:srgbClr val="0C294B"/>
                </a:solidFill>
              </a:rPr>
              <a:t>Approvers: </a:t>
            </a:r>
            <a:r>
              <a:rPr sz="1400">
                <a:solidFill>
                  <a:srgbClr val="26222E"/>
                </a:solidFill>
              </a:rPr>
              <a:t>Marketing, Finance, Legal / Regulatory, IT</a:t>
            </a:r>
          </a:p>
        </p:txBody>
      </p:sp>
      <p:sp>
        <p:nvSpPr>
          <p:cNvPr id="15" name="Pentagon 14"/>
          <p:cNvSpPr/>
          <p:nvPr/>
        </p:nvSpPr>
        <p:spPr>
          <a:xfrm>
            <a:off x="6309359" y="1554480"/>
            <a:ext cx="2697480" cy="1005840"/>
          </a:xfrm>
          <a:prstGeom prst="homePlate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>Gate 3</a:t>
            </a:r>
          </a:p>
          <a:p>
            <a:pPr algn="ctr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>Test approved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2697480"/>
            <a:ext cx="269748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300" b="1">
                <a:solidFill>
                  <a:srgbClr val="F07300"/>
                </a:solidFill>
              </a:rPr>
              <a:t>In Test to Active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59" y="3154680"/>
            <a:ext cx="2697480" cy="219456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7" y="3246120"/>
            <a:ext cx="2468880" cy="2011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770"/>
              </a:spcAft>
            </a:pPr>
            <a:r>
              <a:rPr b="1" sz="1400">
                <a:solidFill>
                  <a:srgbClr val="0C294B"/>
                </a:solidFill>
              </a:rPr>
              <a:t>Question: </a:t>
            </a:r>
            <a:r>
              <a:rPr sz="1400">
                <a:solidFill>
                  <a:srgbClr val="26222E"/>
                </a:solidFill>
              </a:rPr>
              <a:t>Does it work end to end?</a:t>
            </a:r>
          </a:p>
          <a:p>
            <a:pPr algn="l">
              <a:spcAft>
                <a:spcPts val="770"/>
              </a:spcAft>
            </a:pPr>
            <a:r>
              <a:rPr b="1" sz="1400">
                <a:solidFill>
                  <a:srgbClr val="0C294B"/>
                </a:solidFill>
              </a:rPr>
              <a:t>Approvers: </a:t>
            </a:r>
            <a:r>
              <a:rPr sz="1400">
                <a:solidFill>
                  <a:srgbClr val="26222E"/>
                </a:solidFill>
              </a:rPr>
              <a:t>Test team, IT</a:t>
            </a:r>
          </a:p>
        </p:txBody>
      </p:sp>
      <p:sp>
        <p:nvSpPr>
          <p:cNvPr id="19" name="Pentagon 18"/>
          <p:cNvSpPr/>
          <p:nvPr/>
        </p:nvSpPr>
        <p:spPr>
          <a:xfrm>
            <a:off x="9189719" y="1554480"/>
            <a:ext cx="2697480" cy="1005840"/>
          </a:xfrm>
          <a:prstGeom prst="homePlat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>Gate 4</a:t>
            </a:r>
          </a:p>
          <a:p>
            <a:pPr algn="ctr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>Start of marketing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19" y="2697480"/>
            <a:ext cx="269748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300" b="1">
                <a:solidFill>
                  <a:srgbClr val="F07300"/>
                </a:solidFill>
              </a:rPr>
              <a:t>Active to Launched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19" y="3154680"/>
            <a:ext cx="2697480" cy="219456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9447" y="3246120"/>
            <a:ext cx="2468880" cy="2011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770"/>
              </a:spcAft>
            </a:pPr>
            <a:r>
              <a:rPr b="1" sz="1400">
                <a:solidFill>
                  <a:srgbClr val="0C294B"/>
                </a:solidFill>
              </a:rPr>
              <a:t>Question: </a:t>
            </a:r>
            <a:r>
              <a:rPr sz="1400">
                <a:solidFill>
                  <a:srgbClr val="26222E"/>
                </a:solidFill>
              </a:rPr>
              <a:t>Go on sale on the planned date</a:t>
            </a:r>
          </a:p>
          <a:p>
            <a:pPr algn="l">
              <a:spcAft>
                <a:spcPts val="770"/>
              </a:spcAft>
            </a:pPr>
            <a:r>
              <a:rPr b="1" sz="1400">
                <a:solidFill>
                  <a:srgbClr val="0C294B"/>
                </a:solidFill>
              </a:rPr>
              <a:t>Approvers: </a:t>
            </a:r>
            <a:r>
              <a:rPr sz="1400">
                <a:solidFill>
                  <a:srgbClr val="26222E"/>
                </a:solidFill>
              </a:rPr>
              <a:t>Product Manager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577840"/>
            <a:ext cx="109728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F5A6B"/>
                </a:solidFill>
              </a:rPr>
              <a:t>Gates and statuses: TMF620. CatalogONE PLM supplies workflow, approvals and notifications (KT: business users manage the offering lifecycle).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0C294B"/>
                </a:solidFill>
              </a:rPr>
              <a:t>Dynamics consumes the approved product. It never re-creates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5F5A6B"/>
                </a:solidFill>
              </a:rPr>
              <a:t>CatalogONE is the source of truth. Dynamics 365 is the sales channel.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Amdocs CatalogONE: from idea to Dynamics 365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11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3200400" cy="3383280"/>
          </a:xfrm>
          <a:prstGeom prst="roundRect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880"/>
              </a:spcAft>
            </a:pPr>
            <a:r>
              <a:rPr sz="1600" b="1">
                <a:solidFill>
                  <a:srgbClr val="FFFFFF"/>
                </a:solidFill>
              </a:rPr>
              <a:t>CatalogONE</a:t>
            </a:r>
          </a:p>
          <a:p>
            <a:pPr algn="ctr">
              <a:spcAft>
                <a:spcPts val="880"/>
              </a:spcAft>
            </a:pPr>
            <a:r>
              <a:rPr sz="1600" b="1">
                <a:solidFill>
                  <a:srgbClr val="FFFFFF"/>
                </a:solidFill>
              </a:rPr>
              <a:t>Commerce + PLM</a:t>
            </a:r>
          </a:p>
          <a:p>
            <a:pPr algn="ctr">
              <a:spcAft>
                <a:spcPts val="880"/>
              </a:spcAft>
            </a:pPr>
            <a:r>
              <a:rPr sz="1600" b="1">
                <a:solidFill>
                  <a:srgbClr val="FFFFFF"/>
                </a:solidFill>
              </a:rPr>
              <a:t/>
            </a:r>
          </a:p>
          <a:p>
            <a:pPr algn="ctr">
              <a:spcAft>
                <a:spcPts val="880"/>
              </a:spcAft>
            </a:pPr>
            <a:r>
              <a:rPr sz="1600" b="1">
                <a:solidFill>
                  <a:srgbClr val="FFFFFF"/>
                </a:solidFill>
              </a:rPr>
              <a:t>Only Active products are published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49039" y="3383280"/>
            <a:ext cx="868681" cy="0"/>
          </a:xfrm>
          <a:prstGeom prst="line">
            <a:avLst/>
          </a:prstGeom>
          <a:ln w="25400">
            <a:solidFill>
              <a:srgbClr val="0C29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09160" y="1371600"/>
            <a:ext cx="356616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1">
                <a:solidFill>
                  <a:srgbClr val="0C294B"/>
                </a:solidFill>
              </a:rPr>
              <a:t>What gets published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783080"/>
            <a:ext cx="3566160" cy="457200"/>
          </a:xfrm>
          <a:prstGeom prst="round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0">
                <a:solidFill>
                  <a:srgbClr val="26222E"/>
                </a:solidFill>
              </a:rPr>
              <a:t>Offering and bundle structure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2313432"/>
            <a:ext cx="3566160" cy="457200"/>
          </a:xfrm>
          <a:prstGeom prst="round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0">
                <a:solidFill>
                  <a:srgbClr val="26222E"/>
                </a:solidFill>
              </a:rPr>
              <a:t>Prices, discounts, contract terms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2843784"/>
            <a:ext cx="3566160" cy="457200"/>
          </a:xfrm>
          <a:prstGeom prst="round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0">
                <a:solidFill>
                  <a:srgbClr val="26222E"/>
                </a:solidFill>
              </a:rPr>
              <a:t>Eligibility: channel, segment, market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3374135"/>
            <a:ext cx="3566160" cy="457200"/>
          </a:xfrm>
          <a:prstGeom prst="round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0">
                <a:solidFill>
                  <a:srgbClr val="26222E"/>
                </a:solidFill>
              </a:rPr>
              <a:t>Dependencies and constraints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3904487"/>
            <a:ext cx="3566160" cy="457200"/>
          </a:xfrm>
          <a:prstGeom prst="round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0">
                <a:solidFill>
                  <a:srgbClr val="26222E"/>
                </a:solidFill>
              </a:rPr>
              <a:t>Validity dates (start / end of sale)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4434840"/>
            <a:ext cx="3566160" cy="457200"/>
          </a:xfrm>
          <a:prstGeom prst="round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0">
                <a:solidFill>
                  <a:srgbClr val="26222E"/>
                </a:solidFill>
              </a:rPr>
              <a:t>Status and version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321040" y="3383280"/>
            <a:ext cx="868680" cy="0"/>
          </a:xfrm>
          <a:prstGeom prst="line">
            <a:avLst/>
          </a:prstGeom>
          <a:ln w="25400">
            <a:solidFill>
              <a:srgbClr val="0078D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281160" y="1691640"/>
            <a:ext cx="2468880" cy="33832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>Dynamics 365</a:t>
            </a:r>
          </a:p>
          <a:p>
            <a:pPr algn="ctr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>Sales</a:t>
            </a:r>
          </a:p>
          <a:p>
            <a:pPr algn="ctr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/>
            </a:r>
          </a:p>
          <a:p>
            <a:pPr algn="ctr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>Quote, order and contract use the catalog definition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303520"/>
            <a:ext cx="1115568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300" b="0">
                <a:solidFill>
                  <a:srgbClr val="5F5A6B"/>
                </a:solidFill>
              </a:rPr>
              <a:t>Amdocs–Microsoft CEP: "unified Catalog, CPQ, Commerce and Order Management" plus "Dynamics 365 modules focused on sales, marketing, and customer service". CatalogONE Centralized publishes to consuming applications.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0C294B"/>
                </a:solidFill>
              </a:rPr>
              <a:t>How the hand-over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5F5A6B"/>
                </a:solidFill>
              </a:rPr>
              <a:t>Master-catalog publish + Kafka events + TM Forum Open APIs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Amdocs CatalogONE: from idea to Dynamics 365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12 /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1556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377440"/>
                <a:gridCol w="576072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Mechanism</a:t>
                      </a:r>
                    </a:p>
                  </a:txBody>
                  <a:tcPr marL="73152" marR="73152">
                    <a:solidFill>
                      <a:srgbClr val="0C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Direction</a:t>
                      </a:r>
                    </a:p>
                  </a:txBody>
                  <a:tcPr marL="73152" marR="73152">
                    <a:solidFill>
                      <a:srgbClr val="0C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What it does</a:t>
                      </a:r>
                    </a:p>
                  </a:txBody>
                  <a:tcPr marL="73152" marR="73152">
                    <a:solidFill>
                      <a:srgbClr val="0C29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22E"/>
                          </a:solidFill>
                        </a:rPr>
                        <a:t>CatalogONE Centralized</a:t>
                      </a:r>
                    </a:p>
                  </a:txBody>
                  <a:tcPr marL="73152" marR="73152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22E"/>
                          </a:solidFill>
                        </a:rPr>
                        <a:t>Catalog to Dynamics</a:t>
                      </a:r>
                    </a:p>
                  </a:txBody>
                  <a:tcPr marL="73152" marR="73152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22E"/>
                          </a:solidFill>
                        </a:rPr>
                        <a:t>Author once; publish offerings, prices, rules</a:t>
                      </a:r>
                    </a:p>
                  </a:txBody>
                  <a:tcPr marL="73152" marR="73152">
                    <a:solidFill>
                      <a:srgbClr val="E8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22E"/>
                          </a:solidFill>
                        </a:rPr>
                        <a:t>Kafka distribution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22E"/>
                          </a:solidFill>
                        </a:rPr>
                        <a:t>Catalog to Dynamics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22E"/>
                          </a:solidFill>
                        </a:rPr>
                        <a:t>Sync approved versions in minutes, not weeks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22E"/>
                          </a:solidFill>
                        </a:rPr>
                        <a:t>TMF620 Product Catalog</a:t>
                      </a:r>
                    </a:p>
                  </a:txBody>
                  <a:tcPr marL="73152" marR="73152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22E"/>
                          </a:solidFill>
                        </a:rPr>
                        <a:t>Catalog to Dynamics</a:t>
                      </a:r>
                    </a:p>
                  </a:txBody>
                  <a:tcPr marL="73152" marR="73152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22E"/>
                          </a:solidFill>
                        </a:rPr>
                        <a:t>Read catalogs, offerings, prices, specifications</a:t>
                      </a:r>
                    </a:p>
                  </a:txBody>
                  <a:tcPr marL="73152" marR="73152">
                    <a:solidFill>
                      <a:srgbClr val="E8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22E"/>
                          </a:solidFill>
                        </a:rPr>
                        <a:t>TMF620 events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22E"/>
                          </a:solidFill>
                        </a:rPr>
                        <a:t>Catalog to Dynamics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22E"/>
                          </a:solidFill>
                        </a:rPr>
                        <a:t>Notify on create / change / status change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22E"/>
                          </a:solidFill>
                        </a:rPr>
                        <a:t>TMF679 Qualification</a:t>
                      </a:r>
                    </a:p>
                  </a:txBody>
                  <a:tcPr marL="73152" marR="73152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22E"/>
                          </a:solidFill>
                        </a:rPr>
                        <a:t>Dynamics to catalog</a:t>
                      </a:r>
                    </a:p>
                  </a:txBody>
                  <a:tcPr marL="73152" marR="73152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22E"/>
                          </a:solidFill>
                        </a:rPr>
                        <a:t>"Can this customer get this offer here?"</a:t>
                      </a:r>
                    </a:p>
                  </a:txBody>
                  <a:tcPr marL="73152" marR="73152">
                    <a:solidFill>
                      <a:srgbClr val="E8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22E"/>
                          </a:solidFill>
                        </a:rPr>
                        <a:t>TMF622 Product Ordering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22E"/>
                          </a:solidFill>
                        </a:rPr>
                        <a:t>Dynamics to order mgmt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22E"/>
                          </a:solidFill>
                        </a:rPr>
                        <a:t>Order carries offering ID and version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5074920"/>
            <a:ext cx="2057400" cy="868680"/>
          </a:xfrm>
          <a:prstGeom prst="roundRect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Product becomes Active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87751" y="5504688"/>
            <a:ext cx="182881" cy="0"/>
          </a:xfrm>
          <a:prstGeom prst="line">
            <a:avLst/>
          </a:prstGeom>
          <a:ln w="25400">
            <a:solidFill>
              <a:srgbClr val="0C29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88920" y="5074920"/>
            <a:ext cx="2057400" cy="868680"/>
          </a:xfrm>
          <a:prstGeom prst="roundRect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</a:rPr>
              <a:t>Kafka / TMF event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73751" y="5504688"/>
            <a:ext cx="182881" cy="0"/>
          </a:xfrm>
          <a:prstGeom prst="line">
            <a:avLst/>
          </a:prstGeom>
          <a:ln w="25400">
            <a:solidFill>
              <a:srgbClr val="0C29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74920" y="5074920"/>
            <a:ext cx="2057400" cy="868680"/>
          </a:xfrm>
          <a:prstGeom prst="roundRect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Dynamics reads TMF620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59751" y="5504688"/>
            <a:ext cx="182881" cy="0"/>
          </a:xfrm>
          <a:prstGeom prst="line">
            <a:avLst/>
          </a:prstGeom>
          <a:ln w="25400">
            <a:solidFill>
              <a:srgbClr val="0C29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60920" y="5074920"/>
            <a:ext cx="2057400" cy="868680"/>
          </a:xfrm>
          <a:prstGeom prst="roundRect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AM quotes in Sales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445751" y="5504688"/>
            <a:ext cx="182881" cy="0"/>
          </a:xfrm>
          <a:prstGeom prst="line">
            <a:avLst/>
          </a:prstGeom>
          <a:ln w="25400">
            <a:solidFill>
              <a:srgbClr val="0078D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46920" y="5074920"/>
            <a:ext cx="2057400" cy="8686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</a:rPr>
              <a:t>Order stores offer version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0C294B"/>
                </a:solidFill>
              </a:rPr>
              <a:t>What sits around the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5F5A6B"/>
                </a:solidFill>
              </a:rPr>
              <a:t>Digital Enterprise Catalog (Amdocs) and Sales management (Dynamics) on one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Amdocs CatalogONE: from idea to Dynamics 365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13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986187" y="1335024"/>
            <a:ext cx="10189145" cy="4553712"/>
          </a:xfrm>
          <a:prstGeom prst="rect">
            <a:avLst/>
          </a:prstGeom>
          <a:noFill/>
          <a:ln w="15875">
            <a:solidFill>
              <a:srgbClr val="C5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_cep_catalog_and_c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763" y="1371600"/>
            <a:ext cx="10115993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907024"/>
            <a:ext cx="1124712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000" b="0">
                <a:solidFill>
                  <a:srgbClr val="5F5A6B"/>
                </a:solidFill>
              </a:rPr>
              <a:t>Source: Amdocs and Microsoft Customer Engagement Platform paper, p.4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0C294B"/>
                </a:solidFill>
              </a:rPr>
              <a:t>When a product changes after launch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5F5A6B"/>
                </a:solidFill>
              </a:rPr>
              <a:t>Versioning keeps sales and existing customers consistent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Amdocs CatalogONE: from idea to Dynamics 365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14 / 17</a:t>
            </a:r>
          </a:p>
        </p:txBody>
      </p:sp>
      <p:sp>
        <p:nvSpPr>
          <p:cNvPr id="7" name="Oval 6"/>
          <p:cNvSpPr/>
          <p:nvPr/>
        </p:nvSpPr>
        <p:spPr>
          <a:xfrm>
            <a:off x="1188720" y="1691640"/>
            <a:ext cx="731520" cy="731520"/>
          </a:xfrm>
          <a:prstGeom prst="ellipse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65960" y="2057400"/>
            <a:ext cx="1463040" cy="0"/>
          </a:xfrm>
          <a:prstGeom prst="line">
            <a:avLst/>
          </a:prstGeom>
          <a:ln w="25400">
            <a:solidFill>
              <a:srgbClr val="0C29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2606040"/>
            <a:ext cx="20116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600" b="1">
                <a:solidFill>
                  <a:srgbClr val="0C294B"/>
                </a:solidFill>
              </a:rPr>
              <a:t>New version created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63240"/>
            <a:ext cx="201168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300" b="0">
                <a:solidFill>
                  <a:srgbClr val="5F5A6B"/>
                </a:solidFill>
              </a:rPr>
              <a:t>In CatalogONE, not in Dynamics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0" y="1691640"/>
            <a:ext cx="731520" cy="731520"/>
          </a:xfrm>
          <a:prstGeom prst="ellipse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51960" y="2057400"/>
            <a:ext cx="1463040" cy="0"/>
          </a:xfrm>
          <a:prstGeom prst="line">
            <a:avLst/>
          </a:prstGeom>
          <a:ln w="25400">
            <a:solidFill>
              <a:srgbClr val="0C29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834640" y="2606040"/>
            <a:ext cx="20116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600" b="1">
                <a:solidFill>
                  <a:srgbClr val="0C294B"/>
                </a:solidFill>
              </a:rPr>
              <a:t>Approval and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063240"/>
            <a:ext cx="201168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300" b="0">
                <a:solidFill>
                  <a:srgbClr val="5F5A6B"/>
                </a:solidFill>
              </a:rPr>
              <a:t>Same gates as a new product</a:t>
            </a:r>
          </a:p>
        </p:txBody>
      </p:sp>
      <p:sp>
        <p:nvSpPr>
          <p:cNvPr id="15" name="Oval 14"/>
          <p:cNvSpPr/>
          <p:nvPr/>
        </p:nvSpPr>
        <p:spPr>
          <a:xfrm>
            <a:off x="5760720" y="1691640"/>
            <a:ext cx="731520" cy="731520"/>
          </a:xfrm>
          <a:prstGeom prst="ellipse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37960" y="2057400"/>
            <a:ext cx="1463040" cy="0"/>
          </a:xfrm>
          <a:prstGeom prst="line">
            <a:avLst/>
          </a:prstGeom>
          <a:ln w="25400">
            <a:solidFill>
              <a:srgbClr val="0C29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120640" y="2606040"/>
            <a:ext cx="20116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600" b="1">
                <a:solidFill>
                  <a:srgbClr val="0C294B"/>
                </a:solidFill>
              </a:rPr>
              <a:t>Event to Dynamics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063240"/>
            <a:ext cx="201168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300" b="0">
                <a:solidFill>
                  <a:srgbClr val="5F5A6B"/>
                </a:solidFill>
              </a:rPr>
              <a:t>New version becomes sellable</a:t>
            </a:r>
          </a:p>
        </p:txBody>
      </p:sp>
      <p:sp>
        <p:nvSpPr>
          <p:cNvPr id="19" name="Oval 18"/>
          <p:cNvSpPr/>
          <p:nvPr/>
        </p:nvSpPr>
        <p:spPr>
          <a:xfrm>
            <a:off x="8046720" y="1691640"/>
            <a:ext cx="731520" cy="731520"/>
          </a:xfrm>
          <a:prstGeom prst="ellipse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23960" y="2057400"/>
            <a:ext cx="1463040" cy="0"/>
          </a:xfrm>
          <a:prstGeom prst="line">
            <a:avLst/>
          </a:prstGeom>
          <a:ln w="25400">
            <a:solidFill>
              <a:srgbClr val="0C29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406640" y="2606040"/>
            <a:ext cx="20116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600" b="1">
                <a:solidFill>
                  <a:srgbClr val="0C294B"/>
                </a:solidFill>
              </a:rPr>
              <a:t>New sales use v2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063240"/>
            <a:ext cx="201168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300" b="0">
                <a:solidFill>
                  <a:srgbClr val="5F5A6B"/>
                </a:solidFill>
              </a:rPr>
              <a:t>Existing customers keep v1</a:t>
            </a:r>
          </a:p>
        </p:txBody>
      </p:sp>
      <p:sp>
        <p:nvSpPr>
          <p:cNvPr id="23" name="Oval 22"/>
          <p:cNvSpPr/>
          <p:nvPr/>
        </p:nvSpPr>
        <p:spPr>
          <a:xfrm>
            <a:off x="10332720" y="1691640"/>
            <a:ext cx="731520" cy="731520"/>
          </a:xfrm>
          <a:prstGeom prst="ellipse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606040"/>
            <a:ext cx="20116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600" b="1">
                <a:solidFill>
                  <a:srgbClr val="0C294B"/>
                </a:solidFill>
              </a:rPr>
              <a:t>Old version retired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3063240"/>
            <a:ext cx="201168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300" b="0">
                <a:solidFill>
                  <a:srgbClr val="5F5A6B"/>
                </a:solidFill>
              </a:rPr>
              <a:t>Disappears from sales screens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069080"/>
            <a:ext cx="11064240" cy="196596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206240"/>
            <a:ext cx="10698480" cy="1737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825"/>
              </a:spcAft>
            </a:pPr>
            <a:r>
              <a:rPr b="1" sz="1500">
                <a:solidFill>
                  <a:srgbClr val="0C294B"/>
                </a:solidFill>
              </a:rPr>
              <a:t>Why it works: </a:t>
            </a:r>
            <a:r>
              <a:rPr sz="1500">
                <a:solidFill>
                  <a:srgbClr val="26222E"/>
                </a:solidFill>
              </a:rPr>
              <a:t>every order records the offering ID and version, so delivery and billing always match what the customer bought.</a:t>
            </a:r>
          </a:p>
          <a:p>
            <a:pPr algn="l">
              <a:spcAft>
                <a:spcPts val="825"/>
              </a:spcAft>
            </a:pPr>
            <a:r>
              <a:rPr b="1" sz="1500">
                <a:solidFill>
                  <a:srgbClr val="0C294B"/>
                </a:solidFill>
              </a:rPr>
              <a:t>Dynamics side: </a:t>
            </a:r>
            <a:r>
              <a:rPr sz="1500">
                <a:solidFill>
                  <a:srgbClr val="26222E"/>
                </a:solidFill>
              </a:rPr>
              <a:t>new version maps to Under Revision, then Active. Retired catalog versions are Retired in Dynamics and drop off the quote screen.</a:t>
            </a:r>
          </a:p>
          <a:p>
            <a:pPr algn="l">
              <a:spcAft>
                <a:spcPts val="825"/>
              </a:spcAft>
            </a:pPr>
            <a:r>
              <a:rPr b="1" sz="1500">
                <a:solidFill>
                  <a:srgbClr val="0C294B"/>
                </a:solidFill>
              </a:rPr>
              <a:t>Result: </a:t>
            </a:r>
            <a:r>
              <a:rPr sz="1500">
                <a:solidFill>
                  <a:srgbClr val="26222E"/>
                </a:solidFill>
              </a:rPr>
              <a:t>a price or bundle change never breaks existing contracts.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0C294B"/>
                </a:solidFill>
              </a:rPr>
              <a:t>Mapping CatalogONE onto Dynamics 365 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5F5A6B"/>
                </a:solidFill>
              </a:rPr>
              <a:t>Study, design, test and approval stay in the catalog. Dynamics receives sellable products.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Amdocs CatalogONE: from idea to Dynamics 365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15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2468880" cy="960120"/>
          </a:xfrm>
          <a:prstGeom prst="roundRect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>CatalogONE</a:t>
            </a:r>
          </a:p>
          <a:p>
            <a:pPr algn="ctr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>TMF620 + Kafka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17520" y="1847088"/>
            <a:ext cx="685800" cy="0"/>
          </a:xfrm>
          <a:prstGeom prst="line">
            <a:avLst/>
          </a:prstGeom>
          <a:ln w="25400">
            <a:solidFill>
              <a:srgbClr val="0C29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749039" y="1371600"/>
            <a:ext cx="2468880" cy="960120"/>
          </a:xfrm>
          <a:prstGeom prst="roundRect">
            <a:avLst/>
          </a:prstGeom>
          <a:solidFill>
            <a:srgbClr val="5F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>CEP / Dataverse</a:t>
            </a:r>
          </a:p>
          <a:p>
            <a:pPr algn="ctr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>maps and syncs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263640" y="1847088"/>
            <a:ext cx="685800" cy="0"/>
          </a:xfrm>
          <a:prstGeom prst="line">
            <a:avLst/>
          </a:prstGeom>
          <a:ln w="25400">
            <a:solidFill>
              <a:srgbClr val="0078D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95160" y="1371600"/>
            <a:ext cx="2468880" cy="96012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>Dynamics 365</a:t>
            </a:r>
          </a:p>
          <a:p>
            <a:pPr algn="ctr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>product catalog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1371600"/>
            <a:ext cx="2103120" cy="1051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F5A6B"/>
                </a:solidFill>
              </a:rPr>
              <a:t>Pre-built in the Amdocs–Microsoft platform; not a custom CRM replacement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2606040"/>
          <a:ext cx="1115568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43891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CatalogONE / TMF620</a:t>
                      </a:r>
                    </a:p>
                  </a:txBody>
                  <a:tcPr marL="73152" marR="73152">
                    <a:solidFill>
                      <a:srgbClr val="0C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Dynamics 365 Sales entity</a:t>
                      </a:r>
                    </a:p>
                  </a:txBody>
                  <a:tcPr marL="73152" marR="73152">
                    <a:solidFill>
                      <a:srgbClr val="0C294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22E"/>
                          </a:solidFill>
                        </a:rPr>
                        <a:t>Product Offering / Bundle offering</a:t>
                      </a:r>
                    </a:p>
                  </a:txBody>
                  <a:tcPr marL="73152" marR="73152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22E"/>
                          </a:solidFill>
                        </a:rPr>
                        <a:t>Product / Product bundle</a:t>
                      </a:r>
                    </a:p>
                  </a:txBody>
                  <a:tcPr marL="73152" marR="73152">
                    <a:solidFill>
                      <a:srgbClr val="E8F0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22E"/>
                          </a:solidFill>
                        </a:rPr>
                        <a:t>Product Catalog / Category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22E"/>
                          </a:solidFill>
                        </a:rPr>
                        <a:t>Product family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22E"/>
                          </a:solidFill>
                        </a:rPr>
                        <a:t>Product Offering Price / Discounts</a:t>
                      </a:r>
                    </a:p>
                  </a:txBody>
                  <a:tcPr marL="73152" marR="73152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22E"/>
                          </a:solidFill>
                        </a:rPr>
                        <a:t>Price list item / Discount list</a:t>
                      </a:r>
                    </a:p>
                  </a:txBody>
                  <a:tcPr marL="73152" marR="73152">
                    <a:solidFill>
                      <a:srgbClr val="E8F0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22E"/>
                          </a:solidFill>
                        </a:rPr>
                        <a:t>Related offers, add-ons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22E"/>
                          </a:solidFill>
                        </a:rPr>
                        <a:t>Product relationships (accessory, cross-sell, up-sell)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22E"/>
                          </a:solidFill>
                        </a:rPr>
                        <a:t>Status Active / Launched / Retired</a:t>
                      </a:r>
                    </a:p>
                  </a:txBody>
                  <a:tcPr marL="73152" marR="73152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22E"/>
                          </a:solidFill>
                        </a:rPr>
                        <a:t>Product status Active / Retired</a:t>
                      </a:r>
                    </a:p>
                  </a:txBody>
                  <a:tcPr marL="73152" marR="73152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02920" y="5715000"/>
            <a:ext cx="111556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300" b="1">
                <a:solidFill>
                  <a:srgbClr val="0C294B"/>
                </a:solidFill>
              </a:rPr>
              <a:t>Dynamics statuses are Draft, Active, Under Revision, Retired. Everything before Active stays in CatalogONE.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0C294B"/>
                </a:solidFill>
              </a:rPr>
              <a:t>Evidence: results at real 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Amdocs CatalogONE: from idea to Dynamics 365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16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6858000" cy="1115568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109728" cy="1115568"/>
          </a:xfrm>
          <a:prstGeom prst="rect">
            <a:avLst/>
          </a:prstGeom>
          <a:solidFill>
            <a:srgbClr val="F07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99032"/>
            <a:ext cx="64465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0C294B"/>
                </a:solidFill>
              </a:rPr>
              <a:t>European quad-play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09928"/>
            <a:ext cx="6446520" cy="25603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F5A6B"/>
                </a:solidFill>
              </a:rPr>
              <a:t>CatalogONE unifying siloed LoBs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84248"/>
            <a:ext cx="644652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1">
                <a:solidFill>
                  <a:srgbClr val="26222E"/>
                </a:solidFill>
              </a:rPr>
              <a:t>New offers: 9 months → 1–2 weeks. Changes in hours. 80% by configuration.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60320"/>
            <a:ext cx="6858000" cy="1115568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560320"/>
            <a:ext cx="109728" cy="1115568"/>
          </a:xfrm>
          <a:prstGeom prst="rect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33472"/>
            <a:ext cx="64465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0C294B"/>
                </a:solidFill>
              </a:rPr>
              <a:t>Sprint / T-Mobile 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44368"/>
            <a:ext cx="6446520" cy="25603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F5A6B"/>
                </a:solidFill>
              </a:rPr>
              <a:t>CatalogONE + DigitalONE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218688"/>
            <a:ext cx="644652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1">
                <a:solidFill>
                  <a:srgbClr val="26222E"/>
                </a:solidFill>
              </a:rPr>
              <a:t>Expected 50% TTM cut. 22 channel catalogs → one. Business users define offers.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794760"/>
            <a:ext cx="6858000" cy="1115568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794760"/>
            <a:ext cx="109728" cy="1115568"/>
          </a:xfrm>
          <a:prstGeom prst="rect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867912"/>
            <a:ext cx="64465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0C294B"/>
                </a:solidFill>
              </a:rPr>
              <a:t>KT Corporation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178808"/>
            <a:ext cx="6446520" cy="25603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F5A6B"/>
                </a:solidFill>
              </a:rPr>
              <a:t>CatalogONE on KT private cloud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453128"/>
            <a:ext cx="644652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1">
                <a:solidFill>
                  <a:srgbClr val="26222E"/>
                </a:solidFill>
              </a:rPr>
              <a:t>Business-driven UI; foundation to accelerate 5G consumer and enterprise offers.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2172" y="1243584"/>
            <a:ext cx="3403775" cy="4782312"/>
          </a:xfrm>
          <a:prstGeom prst="rect">
            <a:avLst/>
          </a:prstGeom>
          <a:noFill/>
          <a:ln w="15875">
            <a:solidFill>
              <a:srgbClr val="C5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10_sprin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8748" y="1280160"/>
            <a:ext cx="3330623" cy="47091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543800" y="6044184"/>
            <a:ext cx="416052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000" b="0">
                <a:solidFill>
                  <a:srgbClr val="5F5A6B"/>
                </a:solidFill>
              </a:rPr>
              <a:t>Source: TM Forum, Sprint case study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120640"/>
            <a:ext cx="685800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300" b="0">
                <a:solidFill>
                  <a:srgbClr val="5F5A6B"/>
                </a:solidFill>
              </a:rPr>
              <a:t>Mtel (A1 Bulgaria), earlier Amdocs Master Enterprise Catalog: &gt;80% faster TTM; complex offers idea-to-production in under three days (CTO quote).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0C294B"/>
                </a:solidFill>
              </a:rPr>
              <a:t>Summary and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Amdocs CatalogONE: from idea to Dynamics 365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17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6126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28600">
              <a:spcAft>
                <a:spcPts val="900"/>
              </a:spcAft>
              <a:buChar char="•"/>
            </a:pPr>
            <a:r>
              <a:rPr b="1" sz="1600">
                <a:solidFill>
                  <a:srgbClr val="0C294B"/>
                </a:solidFill>
              </a:rPr>
              <a:t>Idea to Active </a:t>
            </a:r>
            <a:r>
              <a:rPr sz="1600">
                <a:solidFill>
                  <a:srgbClr val="26222E"/>
                </a:solidFill>
              </a:rPr>
              <a:t>inside CatalogONE: eight stages, approval gates, versions, testing.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b="1" sz="1600">
                <a:solidFill>
                  <a:srgbClr val="0C294B"/>
                </a:solidFill>
              </a:rPr>
              <a:t>Active to Dynamics 365 </a:t>
            </a:r>
            <a:r>
              <a:rPr sz="1600">
                <a:solidFill>
                  <a:srgbClr val="26222E"/>
                </a:solidFill>
              </a:rPr>
              <a:t>through Centralized publish, Kafka and TMF620. The catalog stays the single source of truth.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b="1" sz="1600">
                <a:solidFill>
                  <a:srgbClr val="0C294B"/>
                </a:solidFill>
              </a:rPr>
              <a:t>CRM is not replaced. </a:t>
            </a:r>
            <a:r>
              <a:rPr sz="1600">
                <a:solidFill>
                  <a:srgbClr val="26222E"/>
                </a:solidFill>
              </a:rPr>
              <a:t>Sales, quotes and orders stay in Dynamics.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b="1" sz="1600">
                <a:solidFill>
                  <a:srgbClr val="0C294B"/>
                </a:solidFill>
              </a:rPr>
              <a:t>Rules and prices </a:t>
            </a:r>
            <a:r>
              <a:rPr sz="1600">
                <a:solidFill>
                  <a:srgbClr val="26222E"/>
                </a:solidFill>
              </a:rPr>
              <a:t>are enforced from the catalog, not re-typed.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b="1" sz="1600">
                <a:solidFill>
                  <a:srgbClr val="0C294B"/>
                </a:solidFill>
              </a:rPr>
              <a:t>Changes are versioned, </a:t>
            </a:r>
            <a:r>
              <a:rPr sz="1600">
                <a:solidFill>
                  <a:srgbClr val="26222E"/>
                </a:solidFill>
              </a:rPr>
              <a:t>so existing customers are never affected.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b="1" sz="1600">
                <a:solidFill>
                  <a:srgbClr val="0C294B"/>
                </a:solidFill>
              </a:rPr>
              <a:t>Proven </a:t>
            </a:r>
            <a:r>
              <a:rPr sz="1600">
                <a:solidFill>
                  <a:srgbClr val="26222E"/>
                </a:solidFill>
              </a:rPr>
              <a:t>at a European quad-play, Sprint / T-Mobile and KT.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280160"/>
            <a:ext cx="4846320" cy="484632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371600"/>
            <a:ext cx="452628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1">
                <a:solidFill>
                  <a:srgbClr val="0C294B"/>
                </a:solidFill>
              </a:rPr>
              <a:t>References (full links in the document)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828800"/>
            <a:ext cx="4526280" cy="4114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60"/>
              </a:spcAft>
            </a:pPr>
            <a:r>
              <a:rPr sz="1200" b="0">
                <a:solidFill>
                  <a:srgbClr val="26222E"/>
                </a:solidFill>
              </a:rPr>
              <a:t>1. Amdocs CatalogONE datasheets (2025)</a:t>
            </a:r>
          </a:p>
          <a:p>
            <a:pPr algn="l">
              <a:spcAft>
                <a:spcPts val="660"/>
              </a:spcAft>
            </a:pPr>
            <a:r>
              <a:rPr sz="1200" b="0">
                <a:solidFill>
                  <a:srgbClr val="26222E"/>
                </a:solidFill>
              </a:rPr>
              <a:t>2. Amdocs, 6 Steps catalog ebook (2025)</a:t>
            </a:r>
          </a:p>
          <a:p>
            <a:pPr algn="l">
              <a:spcAft>
                <a:spcPts val="660"/>
              </a:spcAft>
            </a:pPr>
            <a:r>
              <a:rPr sz="1200" b="0">
                <a:solidFill>
                  <a:srgbClr val="26222E"/>
                </a:solidFill>
              </a:rPr>
              <a:t>3. Amdocs CatalogONE whitepaper (role-based UI)</a:t>
            </a:r>
          </a:p>
          <a:p>
            <a:pPr algn="l">
              <a:spcAft>
                <a:spcPts val="660"/>
              </a:spcAft>
            </a:pPr>
            <a:r>
              <a:rPr sz="1200" b="0">
                <a:solidFill>
                  <a:srgbClr val="26222E"/>
                </a:solidFill>
              </a:rPr>
              <a:t>4. Appledore Research, CatalogONE profile (2020)</a:t>
            </a:r>
          </a:p>
          <a:p>
            <a:pPr algn="l">
              <a:spcAft>
                <a:spcPts val="660"/>
              </a:spcAft>
            </a:pPr>
            <a:r>
              <a:rPr sz="1200" b="0">
                <a:solidFill>
                  <a:srgbClr val="26222E"/>
                </a:solidFill>
              </a:rPr>
              <a:t>5. Amdocs–Microsoft CEP paper and datasheet</a:t>
            </a:r>
          </a:p>
          <a:p>
            <a:pPr algn="l">
              <a:spcAft>
                <a:spcPts val="660"/>
              </a:spcAft>
            </a:pPr>
            <a:r>
              <a:rPr sz="1200" b="0">
                <a:solidFill>
                  <a:srgbClr val="26222E"/>
                </a:solidFill>
              </a:rPr>
              <a:t>6. Microsoft AppSource: Customer Engagement Platform</a:t>
            </a:r>
          </a:p>
          <a:p>
            <a:pPr algn="l">
              <a:spcAft>
                <a:spcPts val="660"/>
              </a:spcAft>
            </a:pPr>
            <a:r>
              <a:rPr sz="1200" b="0">
                <a:solidFill>
                  <a:srgbClr val="26222E"/>
                </a:solidFill>
              </a:rPr>
              <a:t>7. TM Forum Sprint / T-Mobile case study</a:t>
            </a:r>
          </a:p>
          <a:p>
            <a:pPr algn="l">
              <a:spcAft>
                <a:spcPts val="660"/>
              </a:spcAft>
            </a:pPr>
            <a:r>
              <a:rPr sz="1200" b="0">
                <a:solidFill>
                  <a:srgbClr val="26222E"/>
                </a:solidFill>
              </a:rPr>
              <a:t>8. Amdocs KT CatalogONE press release (Nov 2020)</a:t>
            </a:r>
          </a:p>
          <a:p>
            <a:pPr algn="l">
              <a:spcAft>
                <a:spcPts val="660"/>
              </a:spcAft>
            </a:pPr>
            <a:r>
              <a:rPr sz="1200" b="0">
                <a:solidFill>
                  <a:srgbClr val="26222E"/>
                </a:solidFill>
              </a:rPr>
              <a:t>9. TM Forum Open API conformance (Amdocs TMF620)</a:t>
            </a:r>
          </a:p>
          <a:p>
            <a:pPr algn="l">
              <a:spcAft>
                <a:spcPts val="660"/>
              </a:spcAft>
            </a:pPr>
            <a:r>
              <a:rPr sz="1200" b="0">
                <a:solidFill>
                  <a:srgbClr val="26222E"/>
                </a:solidFill>
              </a:rPr>
              <a:t>10. Microsoft Learn: Dynamics 365 product catalog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