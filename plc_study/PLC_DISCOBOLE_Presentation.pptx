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Open-source reference system. Every screenshot in this deck is from the official ODACAT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965960"/>
            <a:ext cx="109728" cy="22860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E87722"/>
                </a:solidFill>
              </a:rPr>
              <a:t>PLC STUDY  · 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5156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Product Lifecycle Management in DISCOBOLE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200" b="0">
                <a:solidFill>
                  <a:srgbClr val="FDEBD8"/>
                </a:solidFill>
              </a:rPr>
              <a:t>From idea to CRM — real screens, architecture and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29200"/>
            <a:ext cx="100584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ODACAT Product Catalog  ·  TM Forum ODA  ·  OW2 GitLab    |    Prepared by: [Your name]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212080" cy="132588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E87722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9164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Why a PLC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148840"/>
            <a:ext cx="3749039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What it gives an operator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17320"/>
            <a:ext cx="5212080" cy="132588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64592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E87722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799" y="169164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PLC and TM Forum in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799" y="2148840"/>
            <a:ext cx="3749039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The DISCOBOLE lifecycle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5212080" cy="132588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E87722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24612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ODACAT at a glance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703320"/>
            <a:ext cx="3749039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Architecture, modules, data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971800"/>
            <a:ext cx="5212080" cy="132588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320040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E87722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324612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Using the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799" y="3703320"/>
            <a:ext cx="3749039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Eight stages, with the real 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26280"/>
            <a:ext cx="5212080" cy="132588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E87722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80060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Integration with CRM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257800"/>
            <a:ext cx="3749039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How the product reaches the salesperson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526280"/>
            <a:ext cx="5212080" cy="132588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39" y="4754880"/>
            <a:ext cx="10058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200" b="1">
                <a:solidFill>
                  <a:srgbClr val="E87722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799" y="480060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1">
                <a:solidFill>
                  <a:srgbClr val="26222E"/>
                </a:solidFill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799" y="5257800"/>
            <a:ext cx="3749039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Public code, docs and screens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Why a PLC system: what it gives an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20440" cy="214884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20440" cy="9144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4612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</a:rPr>
              <a:t>One 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4612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Specifications, offerings, prices and policy rules are defined once. CRM and ordering read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371600"/>
            <a:ext cx="3520440" cy="214884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520440" cy="9144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600200"/>
            <a:ext cx="324612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</a:rPr>
              <a:t>A governed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2148840"/>
            <a:ext cx="324612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inStudy → inDesign → inTest → active → launched. From active, a new version is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371600"/>
            <a:ext cx="3520440" cy="214884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371600"/>
            <a:ext cx="3520440" cy="9144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600200"/>
            <a:ext cx="324612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</a:rPr>
              <a:t>Business users 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48840"/>
            <a:ext cx="324612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Guided cards in the Catalog Admin Portal. No development step to add an offer.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3520440" cy="214884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3520440" cy="9144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77639"/>
            <a:ext cx="324612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</a:rPr>
              <a:t>Rules travel with the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26279"/>
            <a:ext cx="324612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Channel, market segment and ECA policy rules are evaluated at quote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749039"/>
            <a:ext cx="3520440" cy="214884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749039"/>
            <a:ext cx="3520440" cy="9144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39" y="3977639"/>
            <a:ext cx="324612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</a:rPr>
              <a:t>Standard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4526279"/>
            <a:ext cx="324612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TMF620, TMF701, TMF723, TMF679, TMF760, TMF622 — any CRM can consume the catalog.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3749039"/>
            <a:ext cx="3520440" cy="214884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3749039"/>
            <a:ext cx="3520440" cy="9144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3977639"/>
            <a:ext cx="324612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</a:rPr>
              <a:t>Inspectable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526279"/>
            <a:ext cx="324612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Every screen, process-flow diagram and the Java source are public on OW2 GitLab.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PLC and the TM Forum standard in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DISCOBOLE implements the TMF620 statuses with a dedicated Lifecycle Management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4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024" y="1335024"/>
            <a:ext cx="6072912" cy="4828032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fecycle-product-specification-product-off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00" y="1371600"/>
            <a:ext cx="599976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63056"/>
            <a:ext cx="6766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Official DISCOBOLE Product Offering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55448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inStudy / inDesign: </a:t>
            </a:r>
            <a:r>
              <a:rPr sz="1600">
                <a:solidFill>
                  <a:srgbClr val="26222E"/>
                </a:solidFill>
              </a:rPr>
              <a:t>the idea is being designed.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inTest: </a:t>
            </a:r>
            <a:r>
              <a:rPr sz="1600">
                <a:solidFill>
                  <a:srgbClr val="26222E"/>
                </a:solidFill>
              </a:rPr>
              <a:t>created in the UI; not yet sellable.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active: </a:t>
            </a:r>
            <a:r>
              <a:rPr sz="1600">
                <a:solidFill>
                  <a:srgbClr val="26222E"/>
                </a:solidFill>
              </a:rPr>
              <a:t>tested, ready to be used.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launched: </a:t>
            </a:r>
            <a:r>
              <a:rPr sz="1600">
                <a:solidFill>
                  <a:srgbClr val="26222E"/>
                </a:solidFill>
              </a:rPr>
              <a:t>start of marketing; CRM can sell it.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retired / obsolete: </a:t>
            </a:r>
            <a:r>
              <a:rPr sz="1600">
                <a:solidFill>
                  <a:srgbClr val="26222E"/>
                </a:solidFill>
              </a:rPr>
              <a:t>no new sales / no customers left.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Gate in the UI: </a:t>
            </a:r>
            <a:r>
              <a:rPr sz="1600">
                <a:solidFill>
                  <a:srgbClr val="26222E"/>
                </a:solidFill>
              </a:rPr>
              <a:t>lifecycle icon → system returns only the allowed next statuses.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DISCOBOLE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Open-source ODA Core Commerce suite. Product Catalog (ODACAT) is the PLC.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5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289304"/>
            <a:ext cx="7662672" cy="4377573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it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7589520" cy="43044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666877"/>
            <a:ext cx="7589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Source: DISCOBOLE overall architecture. Bold API numbers are exposed by the suite.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092440" y="1371600"/>
          <a:ext cx="365760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>
                    <a:solidFill>
                      <a:srgbClr val="E877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22E"/>
                          </a:solidFill>
                        </a:rPr>
                        <a:t>ODACAT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2E"/>
                          </a:solidFill>
                        </a:rPr>
                        <a:t>Catalog + lifecycle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22E"/>
                          </a:solidFill>
                        </a:rPr>
                        <a:t>Configurator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2E"/>
                          </a:solidFill>
                        </a:rPr>
                        <a:t>Eligibility, discounts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22E"/>
                          </a:solidFill>
                        </a:rPr>
                        <a:t>Order Management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2E"/>
                          </a:solidFill>
                        </a:rPr>
                        <a:t>Capture &amp; follow-up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22E"/>
                          </a:solidFill>
                        </a:rPr>
                        <a:t>COOD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2E"/>
                          </a:solidFill>
                        </a:rPr>
                        <a:t>Delivery orchestration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22E"/>
                          </a:solidFill>
                        </a:rPr>
                        <a:t>Product Inventory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2E"/>
                          </a:solidFill>
                        </a:rPr>
                        <a:t>What customers own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22E"/>
                          </a:solidFill>
                        </a:rPr>
                        <a:t>Roles (TMF672)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2E"/>
                          </a:solidFill>
                        </a:rPr>
                        <a:t>Who may approve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22E"/>
                          </a:solidFill>
                        </a:rPr>
                        <a:t>Admin Portal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22E"/>
                          </a:solidFill>
                        </a:rPr>
                        <a:t>The UI in this deck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Bottom-up catalog: what the administrator builds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CFS and stock items are imported. Everything above them is mastered in ODACAT.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35024"/>
            <a:ext cx="5742432" cy="3731285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rontend-product-catalog-ui-bottom-up-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669280" cy="36581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066309"/>
            <a:ext cx="56692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Official bottom-up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1335024"/>
            <a:ext cx="5468112" cy="4616998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ta-model-tmf6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394960" cy="454384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952022"/>
            <a:ext cx="53949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TMF620 data model: commercial / functional / technical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The Catalog Admin Portal — the real home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After login, the administrator works from one dashboard per 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7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942" y="1289304"/>
            <a:ext cx="10313636" cy="4919472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-odacat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18" y="1325880"/>
            <a:ext cx="10240484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208776"/>
            <a:ext cx="11338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Left: Offering, Price, Policy Rule, Category, Product Specification, CFS, Stock, Lifecycle. Main: type, status, version, and actions (JSON, hierarchy, lifecycle, edit).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Using the system (1/2): define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Running example: Business Internet 100 — dedicated 100 Mbps + static IP + router +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8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243584"/>
            <a:ext cx="6016752" cy="3016285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-product-specificatio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943600" cy="294313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9944" y="1243584"/>
            <a:ext cx="5376672" cy="4570223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-ho-po1-creat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5303520" cy="44970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5813807"/>
            <a:ext cx="5303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Create Product Offering: Atomic / Bundle / Contract, Visible, Sellable, Channel, Market Segment,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17720"/>
            <a:ext cx="594360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70"/>
              </a:spcAft>
            </a:pPr>
            <a:r>
              <a:rPr b="1" sz="1400">
                <a:solidFill>
                  <a:srgbClr val="E87722"/>
                </a:solidFill>
              </a:rPr>
              <a:t>1. Product Specification. </a:t>
            </a:r>
            <a:r>
              <a:rPr sz="1400">
                <a:solidFill>
                  <a:srgbClr val="26222E"/>
                </a:solidFill>
              </a:rPr>
              <a:t>Restrict a CFS (internet) or Stock Item (router). Set characteristics (100 Mbps).</a:t>
            </a:r>
          </a:p>
          <a:p>
            <a:pPr algn="l">
              <a:spcAft>
                <a:spcPts val="770"/>
              </a:spcAft>
            </a:pPr>
            <a:r>
              <a:rPr b="1" sz="1400">
                <a:solidFill>
                  <a:srgbClr val="E87722"/>
                </a:solidFill>
              </a:rPr>
              <a:t>2. Product Offering. </a:t>
            </a:r>
            <a:r>
              <a:rPr sz="1400">
                <a:solidFill>
                  <a:srgbClr val="26222E"/>
                </a:solidFill>
              </a:rPr>
              <a:t>Atomic items, then a bundle, then the contract the customer signs.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Using the system (2/2): price, rules,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Prices and policy rules stay in the catalog; sales never re-types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9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243584"/>
            <a:ext cx="5925312" cy="2894561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-product-offering-pric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852160" cy="282140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18504" y="1243584"/>
            <a:ext cx="5468112" cy="2772079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-policy-rule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80160"/>
            <a:ext cx="5394960" cy="26989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25"/>
              </a:spcAft>
            </a:pPr>
            <a:r>
              <a:rPr b="1" sz="1500">
                <a:solidFill>
                  <a:srgbClr val="E87722"/>
                </a:solidFill>
              </a:rPr>
              <a:t>3. Product Offering Price. </a:t>
            </a:r>
            <a:r>
              <a:rPr sz="1500">
                <a:solidFill>
                  <a:srgbClr val="26222E"/>
                </a:solidFill>
              </a:rPr>
              <a:t>Charge, Alteration (discount), Tax, Installment. Recurring monthly fee + one-time installation.</a:t>
            </a:r>
          </a:p>
          <a:p>
            <a:pPr algn="l">
              <a:spcAft>
                <a:spcPts val="825"/>
              </a:spcAft>
            </a:pPr>
            <a:r>
              <a:rPr b="1" sz="1500">
                <a:solidFill>
                  <a:srgbClr val="E87722"/>
                </a:solidFill>
              </a:rPr>
              <a:t>4. Policy Rule. </a:t>
            </a:r>
            <a:r>
              <a:rPr sz="1500">
                <a:solidFill>
                  <a:srgbClr val="26222E"/>
                </a:solidFill>
              </a:rPr>
              <a:t>Event–Condition–Action (TMF723). Example: 24-month term unlocks the backup-link add-on.</a:t>
            </a:r>
          </a:p>
          <a:p>
            <a:pPr algn="l">
              <a:spcAft>
                <a:spcPts val="825"/>
              </a:spcAft>
            </a:pPr>
            <a:r>
              <a:rPr b="1" sz="1500">
                <a:solidFill>
                  <a:srgbClr val="E87722"/>
                </a:solidFill>
              </a:rPr>
              <a:t>5. Lifecycle. </a:t>
            </a:r>
            <a:r>
              <a:rPr sz="1500">
                <a:solidFill>
                  <a:srgbClr val="26222E"/>
                </a:solidFill>
              </a:rPr>
              <a:t>inTest → active → launched. Sellable flag on. Only then does CRM see the offer.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What a finished product looks like — and how its status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10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243584"/>
            <a:ext cx="6839712" cy="3790825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-offering-hierarchy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766560" cy="3717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034409"/>
            <a:ext cx="6766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Official example: contract hierarchy with lifecycle status on every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8624" y="1335024"/>
            <a:ext cx="4553712" cy="2070341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0"/>
            <a:ext cx="4480560" cy="19971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3405365"/>
            <a:ext cx="4480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Lifecycle process: system returns allowed next statuses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470916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sz="1400">
                <a:solidFill>
                  <a:srgbClr val="26222E"/>
                </a:solidFill>
              </a:rPr>
              <a:t>Click the lifecycle icon on the dashboard.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400">
                <a:solidFill>
                  <a:srgbClr val="26222E"/>
                </a:solidFill>
              </a:rPr>
              <a:t>Modal: current status + allowed targets.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sz="1400">
                <a:solidFill>
                  <a:srgbClr val="26222E"/>
                </a:solidFill>
              </a:rPr>
              <a:t>Docs example: inTest → active.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Integration with CRM: the catalog is the single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Order capture consumes the approved product; it never re-creates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11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200400" cy="3474720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ODACAT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Product Catalog</a:t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/>
            </a:r>
          </a:p>
          <a:p>
            <a:pPr algn="ctr">
              <a:spcAft>
                <a:spcPts val="880"/>
              </a:spcAft>
            </a:pPr>
            <a:r>
              <a:rPr sz="1600" b="1">
                <a:solidFill>
                  <a:srgbClr val="FFFFFF"/>
                </a:solidFill>
              </a:rPr>
              <a:t>Only launched + sellable offerings are published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3291840"/>
            <a:ext cx="868681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09160" y="1371600"/>
            <a:ext cx="3657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E87722"/>
                </a:solidFill>
              </a:rPr>
              <a:t>What gets published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783080"/>
            <a:ext cx="3657600" cy="438912"/>
          </a:xfrm>
          <a:prstGeom prst="round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6222E"/>
                </a:solidFill>
              </a:rPr>
              <a:t>Offering hierarchy (atomic / bundle / contract)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286000"/>
            <a:ext cx="3657600" cy="438912"/>
          </a:xfrm>
          <a:prstGeom prst="round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6222E"/>
                </a:solidFill>
              </a:rPr>
              <a:t>Prices, discounts, commitment terms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788920"/>
            <a:ext cx="3657600" cy="438912"/>
          </a:xfrm>
          <a:prstGeom prst="round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6222E"/>
                </a:solidFill>
              </a:rPr>
              <a:t>Channel, market segment, Sellable flag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291840"/>
            <a:ext cx="3657600" cy="438912"/>
          </a:xfrm>
          <a:prstGeom prst="round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6222E"/>
                </a:solidFill>
              </a:rPr>
              <a:t>Policy rules (ECA)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3794760"/>
            <a:ext cx="3657600" cy="438912"/>
          </a:xfrm>
          <a:prstGeom prst="round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6222E"/>
                </a:solidFill>
              </a:rPr>
              <a:t>validFor 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297680"/>
            <a:ext cx="3657600" cy="438912"/>
          </a:xfrm>
          <a:prstGeom prst="round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26222E"/>
                </a:solidFill>
              </a:rPr>
              <a:t>Status and version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3291840"/>
            <a:ext cx="82296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1554480"/>
            <a:ext cx="2468880" cy="34747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CRM / Order Capture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/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Quote, order and contract use the catalog definition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5F5A6B"/>
                </a:solidFill>
              </a:rPr>
              <a:t>TMF701 is how any front end — the admin portal or a CRM — is guided through create, modify and lifecycle. Kafka events keep Order Management, Inventory and the Configurator in sync.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How the hand-over works: TM Forum Open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These are the APIs DISCOBOLE actually exposes (see architecture diagram)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12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91840"/>
                <a:gridCol w="493776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API</a:t>
                      </a:r>
                    </a:p>
                  </a:txBody>
                  <a:tcPr marL="73152" marR="73152"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 marL="73152" marR="73152"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73152" marR="73152">
                    <a:solidFill>
                      <a:srgbClr val="E877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TMF620 Product Catalog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Catalog → CRM / OM / Configurator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Read offerings, prices, specifications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TMF701 Process Flow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Any front end → catalog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Create, modify, clone, change lifecycle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TMF723 Policy Management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Catalog → Configurator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ECA rules at configuration time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TMF679 Offering Qualification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CRM → Configurator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Can this customer get this offer here?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TMF760 Product Configuration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CRM → Configurator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Allowed combinations and discounts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TMF622 Product Ordering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CRM / Order Management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Order carries offering id and version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Kafka events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Catalog → the suite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Create / change / status without polling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349240"/>
            <a:ext cx="2103120" cy="731520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Offering launched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5715000"/>
            <a:ext cx="18288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5349240"/>
            <a:ext cx="2103120" cy="731520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Event on Kafka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10328" y="5715000"/>
            <a:ext cx="18288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0640" y="5349240"/>
            <a:ext cx="2103120" cy="731520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CRM reads TMF620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42048" y="5715000"/>
            <a:ext cx="18288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52359" y="5349240"/>
            <a:ext cx="2103120" cy="731520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Configurator checks rules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73767" y="5715000"/>
            <a:ext cx="18288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84080" y="5349240"/>
            <a:ext cx="2103120" cy="731520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Order refs version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What the salesperson inherits from the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Channel, market segment and Sellable are defined on the offering, not in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13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005" y="1243584"/>
            <a:ext cx="5788550" cy="4919472"/>
          </a:xfrm>
          <a:prstGeom prst="rect">
            <a:avLst/>
          </a:prstGeom>
          <a:noFill/>
          <a:ln w="15875">
            <a:solidFill>
              <a:srgbClr val="E0C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-ho-po1-creat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81" y="1280160"/>
            <a:ext cx="5715398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163056"/>
            <a:ext cx="60350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000" b="0">
                <a:solidFill>
                  <a:srgbClr val="5F5A6B"/>
                </a:solidFill>
              </a:rPr>
              <a:t>Create Offering: Channel and Market Segment stay disabled until Sellable is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Sellable + Visible </a:t>
            </a:r>
            <a:r>
              <a:rPr sz="1600">
                <a:solidFill>
                  <a:srgbClr val="26222E"/>
                </a:solidFill>
              </a:rPr>
              <a:t>decide whether the offer appears in sales.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Channel / Market Segment </a:t>
            </a:r>
            <a:r>
              <a:rPr sz="1600">
                <a:solidFill>
                  <a:srgbClr val="26222E"/>
                </a:solidFill>
              </a:rPr>
              <a:t>are the same eligibility dimensions CRM will filter on.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Commitment Term </a:t>
            </a:r>
            <a:r>
              <a:rPr sz="1600">
                <a:solidFill>
                  <a:srgbClr val="26222E"/>
                </a:solidFill>
              </a:rPr>
              <a:t>12 / 24 / 36 months — prices and policy can differ by term.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Policy rules </a:t>
            </a:r>
            <a:r>
              <a:rPr sz="1600">
                <a:solidFill>
                  <a:srgbClr val="26222E"/>
                </a:solidFill>
              </a:rPr>
              <a:t>are evaluated by the Configurator before a quote is submitted.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Hierarchy </a:t>
            </a:r>
            <a:r>
              <a:rPr sz="1600">
                <a:solidFill>
                  <a:srgbClr val="26222E"/>
                </a:solidFill>
              </a:rPr>
              <a:t>is what the salesperson sees as the contract plus add-ons.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When a product changes after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Live offerings are not edited in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14 / 17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554480"/>
            <a:ext cx="685800" cy="68580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1892807"/>
            <a:ext cx="155448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377440"/>
            <a:ext cx="21488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E87722"/>
                </a:solidFill>
              </a:rPr>
              <a:t>Clone or new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14884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From launched: clone, or minor / major version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1554480"/>
            <a:ext cx="685800" cy="68580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60520" y="1892807"/>
            <a:ext cx="155448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88920" y="2377440"/>
            <a:ext cx="21488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E87722"/>
                </a:solidFill>
              </a:rPr>
              <a:t>inTest again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880360"/>
            <a:ext cx="214884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Version 0.1, name suffixed _CLONE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1554480"/>
            <a:ext cx="685800" cy="68580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92240" y="1892807"/>
            <a:ext cx="155448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0640" y="2377440"/>
            <a:ext cx="21488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E87722"/>
                </a:solidFill>
              </a:rPr>
              <a:t>Re-approve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80360"/>
            <a:ext cx="214884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Prices, policy, lifecycle inTest → launched</a:t>
            </a:r>
          </a:p>
        </p:txBody>
      </p:sp>
      <p:sp>
        <p:nvSpPr>
          <p:cNvPr id="19" name="Oval 18"/>
          <p:cNvSpPr/>
          <p:nvPr/>
        </p:nvSpPr>
        <p:spPr>
          <a:xfrm>
            <a:off x="8092439" y="1554480"/>
            <a:ext cx="685800" cy="68580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3959" y="1892807"/>
            <a:ext cx="155448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52359" y="2377440"/>
            <a:ext cx="21488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E87722"/>
                </a:solidFill>
              </a:rPr>
              <a:t>Event to 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2880360"/>
            <a:ext cx="214884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New quotes use v2; existing orders keep v1</a:t>
            </a:r>
          </a:p>
        </p:txBody>
      </p:sp>
      <p:sp>
        <p:nvSpPr>
          <p:cNvPr id="23" name="Oval 22"/>
          <p:cNvSpPr/>
          <p:nvPr/>
        </p:nvSpPr>
        <p:spPr>
          <a:xfrm>
            <a:off x="10424160" y="1554480"/>
            <a:ext cx="685800" cy="68580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77440"/>
            <a:ext cx="21488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E87722"/>
                </a:solidFill>
              </a:rPr>
              <a:t>Retire 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880360"/>
            <a:ext cx="214884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5F5A6B"/>
                </a:solidFill>
              </a:rPr>
              <a:t>validFor end, or status retired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11247120" cy="201168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10972800" cy="1783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25"/>
              </a:spcAft>
            </a:pPr>
            <a:r>
              <a:rPr b="1" sz="1500">
                <a:solidFill>
                  <a:srgbClr val="E87722"/>
                </a:solidFill>
              </a:rPr>
              <a:t>Version rules in the Lifecycle Management service: </a:t>
            </a:r>
            <a:r>
              <a:rPr sz="1500">
                <a:solidFill>
                  <a:srgbClr val="26222E"/>
                </a:solidFill>
              </a:rPr>
              <a:t>before active, edit in place; from active, a new version is required; rejected and obsolete are locked.</a:t>
            </a:r>
          </a:p>
          <a:p>
            <a:pPr algn="l">
              <a:spcAft>
                <a:spcPts val="825"/>
              </a:spcAft>
            </a:pPr>
            <a:r>
              <a:rPr b="1" sz="1500">
                <a:solidFill>
                  <a:srgbClr val="E87722"/>
                </a:solidFill>
              </a:rPr>
              <a:t>Minor (1.0 → 1.1): </a:t>
            </a:r>
            <a:r>
              <a:rPr sz="1500">
                <a:solidFill>
                  <a:srgbClr val="26222E"/>
                </a:solidFill>
              </a:rPr>
              <a:t>only the latest stays launched; the previous is retired via validFor.</a:t>
            </a:r>
          </a:p>
          <a:p>
            <a:pPr algn="l">
              <a:spcAft>
                <a:spcPts val="825"/>
              </a:spcAft>
            </a:pPr>
            <a:r>
              <a:rPr b="1" sz="1500">
                <a:solidFill>
                  <a:srgbClr val="E87722"/>
                </a:solidFill>
              </a:rPr>
              <a:t>Major (2.1 → 3.0): </a:t>
            </a:r>
            <a:r>
              <a:rPr sz="1500">
                <a:solidFill>
                  <a:srgbClr val="26222E"/>
                </a:solidFill>
              </a:rPr>
              <a:t>starts again in inStudy. Installed-base migration is a separate concern.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Example: connecting the catalog to Microsoft Dynamics 365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5F5A6B"/>
                </a:solidFill>
              </a:rPr>
              <a:t>The same pattern applies to a CRM from another vendor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468880" cy="1051560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ODACAT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TMF620 + events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938528"/>
            <a:ext cx="68580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1417320"/>
            <a:ext cx="2468880" cy="1051560"/>
          </a:xfrm>
          <a:prstGeom prst="roundRect">
            <a:avLst/>
          </a:prstGeom>
          <a:solidFill>
            <a:srgbClr val="5F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Integration layer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maps and syncs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63640" y="1938528"/>
            <a:ext cx="685800" cy="0"/>
          </a:xfrm>
          <a:prstGeom prst="line">
            <a:avLst/>
          </a:prstGeom>
          <a:ln w="25400">
            <a:solidFill>
              <a:srgbClr val="E877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95160" y="1417320"/>
            <a:ext cx="2468880" cy="105156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Dynamics 365</a:t>
            </a:r>
          </a:p>
          <a:p>
            <a:pPr algn="ctr">
              <a:spcAft>
                <a:spcPts val="825"/>
              </a:spcAft>
            </a:pPr>
            <a:r>
              <a:rPr sz="1500" b="1">
                <a:solidFill>
                  <a:srgbClr val="FFFFFF"/>
                </a:solidFill>
              </a:rPr>
              <a:t>Dataverse Web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417320"/>
            <a:ext cx="219456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F5A6B"/>
                </a:solidFill>
              </a:rPr>
              <a:t>No ready-made connector; built on the published APIs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2743200"/>
          <a:ext cx="11155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Catalog item (ODACAT / TMF620)</a:t>
                      </a:r>
                    </a:p>
                  </a:txBody>
                  <a:tcPr marL="73152" marR="73152"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Dynamics 365 Sales entity</a:t>
                      </a:r>
                    </a:p>
                  </a:txBody>
                  <a:tcPr marL="73152" marR="73152">
                    <a:solidFill>
                      <a:srgbClr val="E877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Atomic Product Offering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Bundle / Contract Product Offering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bundle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family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Product Offering Price / Alteration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Price list item / Discount list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reliesOn, add-ons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Product relationships</a:t>
                      </a:r>
                    </a:p>
                  </a:txBody>
                  <a:tcPr marL="73152" marR="73152">
                    <a:solidFill>
                      <a:srgbClr val="FDEB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22E"/>
                          </a:solidFill>
                        </a:rPr>
                        <a:t>launched / retired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22E"/>
                          </a:solidFill>
                        </a:rPr>
                        <a:t>Active / Retired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E87722"/>
                </a:solidFill>
              </a:rPr>
              <a:t>inStudy, inDesign, inTest stay in ODACAT. Dynamics receives only launched, sellable offerings.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Evidence: why this system can be studied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64240" cy="105156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09728" cy="105156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</a:rPr>
              <a:t>Real UI, documented click by 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01368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Login, dashboards, create wizards, hierarchy graph, lifecycle modal — all in the public Catalog UI guide.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11064240" cy="105156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09728" cy="105156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24328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</a:rPr>
              <a:t>Process flows, not inferred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90088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Create specification, create offering, create price, lifecycle: official BPMN-style diagrams.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11064240" cy="105156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09728" cy="105156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13048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</a:rPr>
              <a:t>Industry APIs, implemented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TMF620, TMF701, TMF723 in the catalog; TMF679, TMF760, TMF622 in the suite. Architecture diagram labels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92040"/>
            <a:ext cx="11064240" cy="105156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892040"/>
            <a:ext cx="109728" cy="105156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01768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E87722"/>
                </a:solidFill>
              </a:rPr>
              <a:t>Source you can clone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67528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26222E"/>
                </a:solidFill>
              </a:rPr>
              <a:t>OW2 GitLab: Java 17, Spring Boot, Axon CQRS, Kafka, MongoDB, Keycloak. Designed as Orange's ODA catalog.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E87722"/>
                </a:solidFill>
              </a:rPr>
              <a:t>Summary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F5A6B"/>
                </a:solidFill>
              </a:rPr>
              <a:t>PLC study  |  DISCOBOLE ODACAT (open source): from idea to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F5A6B"/>
                </a:solidFill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Idea to launched </a:t>
            </a:r>
            <a:r>
              <a:rPr sz="1600">
                <a:solidFill>
                  <a:srgbClr val="26222E"/>
                </a:solidFill>
              </a:rPr>
              <a:t>inside ODACAT: specification, offering, price, policy, lifecycle, version.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Launched to CRM </a:t>
            </a:r>
            <a:r>
              <a:rPr sz="1600">
                <a:solidFill>
                  <a:srgbClr val="26222E"/>
                </a:solidFill>
              </a:rPr>
              <a:t>through TMF620 + events. Configurator enforces the rules.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Prices and rules </a:t>
            </a:r>
            <a:r>
              <a:rPr sz="1600">
                <a:solidFill>
                  <a:srgbClr val="26222E"/>
                </a:solidFill>
              </a:rPr>
              <a:t>are not re-typed in the sales screen.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Changes are versioned, </a:t>
            </a:r>
            <a:r>
              <a:rPr sz="1600">
                <a:solidFill>
                  <a:srgbClr val="26222E"/>
                </a:solidFill>
              </a:rPr>
              <a:t>so existing customers keep what they bought.</a:t>
            </a:r>
          </a:p>
          <a:p>
            <a:pPr marL="27432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E87722"/>
                </a:solidFill>
              </a:rPr>
              <a:t>The difference vs a closed vendor: </a:t>
            </a:r>
            <a:r>
              <a:rPr sz="1600">
                <a:solidFill>
                  <a:srgbClr val="26222E"/>
                </a:solidFill>
              </a:rPr>
              <a:t>every screen and the source are public.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280160"/>
            <a:ext cx="4846320" cy="484632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371600"/>
            <a:ext cx="45262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E87722"/>
                </a:solidFill>
              </a:rPr>
              <a:t>References (full URLs in the document)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74519"/>
            <a:ext cx="4526280" cy="4023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15"/>
              </a:spcAft>
            </a:pPr>
            <a:r>
              <a:rPr sz="1300" b="0">
                <a:solidFill>
                  <a:srgbClr val="26222E"/>
                </a:solidFill>
              </a:rPr>
              <a:t>1. DISCOBOLE Product Catalog introduction</a:t>
            </a:r>
          </a:p>
          <a:p>
            <a:pPr algn="l">
              <a:spcAft>
                <a:spcPts val="715"/>
              </a:spcAft>
            </a:pPr>
            <a:r>
              <a:rPr sz="1300" b="0">
                <a:solidFill>
                  <a:srgbClr val="26222E"/>
                </a:solidFill>
              </a:rPr>
              <a:t>2. Catalog UI (login, dashboards, wizards)</a:t>
            </a:r>
          </a:p>
          <a:p>
            <a:pPr algn="l">
              <a:spcAft>
                <a:spcPts val="715"/>
              </a:spcAft>
            </a:pPr>
            <a:r>
              <a:rPr sz="1300" b="0">
                <a:solidFill>
                  <a:srgbClr val="26222E"/>
                </a:solidFill>
              </a:rPr>
              <a:t>3. Product Offering / Specification / Price / Policy UI</a:t>
            </a:r>
          </a:p>
          <a:p>
            <a:pPr algn="l">
              <a:spcAft>
                <a:spcPts val="715"/>
              </a:spcAft>
            </a:pPr>
            <a:r>
              <a:rPr sz="1300" b="0">
                <a:solidFill>
                  <a:srgbClr val="26222E"/>
                </a:solidFill>
              </a:rPr>
              <a:t>4. Overall architecture (lifecycle, processes, model)</a:t>
            </a:r>
          </a:p>
          <a:p>
            <a:pPr algn="l">
              <a:spcAft>
                <a:spcPts val="715"/>
              </a:spcAft>
            </a:pPr>
            <a:r>
              <a:rPr sz="1300" b="0">
                <a:solidFill>
                  <a:srgbClr val="26222E"/>
                </a:solidFill>
              </a:rPr>
              <a:t>5. Lifecycle Management service</a:t>
            </a:r>
          </a:p>
          <a:p>
            <a:pPr algn="l">
              <a:spcAft>
                <a:spcPts val="715"/>
              </a:spcAft>
            </a:pPr>
            <a:r>
              <a:rPr sz="1300" b="0">
                <a:solidFill>
                  <a:srgbClr val="26222E"/>
                </a:solidFill>
              </a:rPr>
              <a:t>6. DISCOBOLE suite architecture</a:t>
            </a:r>
          </a:p>
          <a:p>
            <a:pPr algn="l">
              <a:spcAft>
                <a:spcPts val="715"/>
              </a:spcAft>
            </a:pPr>
            <a:r>
              <a:rPr sz="1300" b="0">
                <a:solidFill>
                  <a:srgbClr val="26222E"/>
                </a:solidFill>
              </a:rPr>
              <a:t>7. OW2 GitLab: gitlab.ow2.org/discobole</a:t>
            </a:r>
          </a:p>
          <a:p>
            <a:pPr algn="l">
              <a:spcAft>
                <a:spcPts val="715"/>
              </a:spcAft>
            </a:pPr>
            <a:r>
              <a:rPr sz="1300" b="0">
                <a:solidFill>
                  <a:srgbClr val="26222E"/>
                </a:solidFill>
              </a:rPr>
              <a:t>8. TM Forum TMF620</a:t>
            </a:r>
          </a:p>
          <a:p>
            <a:pPr algn="l">
              <a:spcAft>
                <a:spcPts val="715"/>
              </a:spcAft>
            </a:pPr>
            <a:r>
              <a:rPr sz="1300" b="0">
                <a:solidFill>
                  <a:srgbClr val="26222E"/>
                </a:solidFill>
              </a:rPr>
              <a:t>9. Microsoft Learn: Dynamics 365 product catalog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