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walk through how a proven telecom PLC system takes a product from idea to the CRM, using Netcracker as the reference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six points are what the rest of the presentation shows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Netcracker PLM covers marketing concept, configuration, testing and launch; catalog covers specifications, offerings, bundles and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194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EEE7F5"/>
                </a:solidFill>
              </a:rPr>
              <a:t>PLC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Product Lifecycle Management in Netcracker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0">
                <a:solidFill>
                  <a:srgbClr val="EEE7F5"/>
                </a:solidFill>
              </a:rPr>
              <a:t>From idea to CRM: how a telecom-grade PLC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EEE7F5"/>
                </a:solidFill>
              </a:rPr>
              <a:t>Prepared by: [Your name]   |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5B2C83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Why a PLC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What it gives an operator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21208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64592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5B2C83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9164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PLC and TM Forum in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4884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The industry lifecycle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521208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5B2C83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461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Netcracker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033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Modules and data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017520"/>
            <a:ext cx="521208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320040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5B2C83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461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Using 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70332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Eight stages from idea to launch-ready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521208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5B2C83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006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Integration with CRM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578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How the product reaches the salesperson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572000"/>
            <a:ext cx="521208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75488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5B2C83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006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257800"/>
            <a:ext cx="3931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Results at real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Why a PLC system: what it gives an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9144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One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004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Every product, price and rule is defined once. CRM, ordering and billing read it instead of keeping their own copies.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47472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474720" cy="9144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645920"/>
            <a:ext cx="3200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A governed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194560"/>
            <a:ext cx="32004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Fixed statuses and approval gates. Nothing reaches sales until it is approved and tested.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47472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3474720" cy="9144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45920"/>
            <a:ext cx="3200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Business users 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94560"/>
            <a:ext cx="32004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New offers are built from reusable templates and components, without development.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347472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474720" cy="9144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3200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Rules travel with the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32004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Eligibility by market, channel and customer category is enforced automatically when sales quotes.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794760"/>
            <a:ext cx="347472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794760"/>
            <a:ext cx="3474720" cy="9144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4069080"/>
            <a:ext cx="3200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Standard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4617720"/>
            <a:ext cx="32004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The catalog is exposed through TM Forum Open APIs, so any CRM can consume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3794760"/>
            <a:ext cx="347472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94760"/>
            <a:ext cx="3474720" cy="9144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4069080"/>
            <a:ext cx="3200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Proven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17720"/>
            <a:ext cx="32004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Zain KSA: 50% decrease in product development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PLC and the TM Forum standard in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TMF620 (Product Catalog Management) defines the statuses every catalog item goes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600200" cy="100584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Idea studied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880360"/>
            <a:ext cx="32918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37360" y="160020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5B2C83"/>
                </a:solidFill>
              </a:rPr>
              <a:t>Conception
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2377440"/>
            <a:ext cx="1600200" cy="100584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347472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Being designed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880360"/>
            <a:ext cx="32918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1608" y="160020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5B2C83"/>
                </a:solidFill>
              </a:rPr>
              <a:t>Design
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2377440"/>
            <a:ext cx="1600200" cy="100584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47472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Being tested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2880360"/>
            <a:ext cx="32918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05856" y="160020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5B2C83"/>
                </a:solidFill>
              </a:rPr>
              <a:t>Test
approved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1384" y="2377440"/>
            <a:ext cx="1600200" cy="100584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47472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Ready, not yet sold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29016" y="2880360"/>
            <a:ext cx="32918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90104" y="160020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5B2C83"/>
                </a:solidFill>
              </a:rPr>
              <a:t>Start of
marketing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2377440"/>
            <a:ext cx="1600200" cy="100584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Launched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47472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On sale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13264" y="2880360"/>
            <a:ext cx="32918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74352" y="1600200"/>
            <a:ext cx="1207008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5B2C83"/>
                </a:solidFill>
              </a:rPr>
              <a:t>End of
marketing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2377440"/>
            <a:ext cx="1600200" cy="100584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Retired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474720"/>
            <a:ext cx="1600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No new sales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4160520"/>
            <a:ext cx="1600200" cy="54864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Rejected (test KO)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7735824" cy="73152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5B2C83"/>
                </a:solidFill>
              </a:rPr>
              <a:t>Before CRM: defined, approved and tested inside the catalog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521208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E07A1F"/>
                </a:solidFill>
              </a:rPr>
              <a:t>CRM: product is visible to 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Netcracker is TM Forum-certified on TMF620 (June 2024), so its lifecycle follows this industry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Netcracker Product Management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Two core components: Product Catalog + Product Lifecycle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517904"/>
            <a:ext cx="5193792" cy="3944257"/>
          </a:xfrm>
          <a:prstGeom prst="rect">
            <a:avLst/>
          </a:prstGeom>
          <a:noFill/>
          <a:ln w="15875">
            <a:solidFill>
              <a:srgbClr val="D0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tmforum_netcracker_modu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3871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498737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TM Forum SID certification report, Netcracker module map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554480"/>
          <a:ext cx="56692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Product Lifecycle Mgmt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Concept to launch; versions; approvals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Product Offering Catalog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Offers, bundles, rules, prices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Technical Product Catalog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Specifications, delivery templates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Templates &amp; components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Fast, reusable configuration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Pricing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Recurring, one-time, discounts, taxes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Business rules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Eligibility, dependencies, constraints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Catalog federation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Partner catalogs in one place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22E"/>
                          </a:solidFill>
                        </a:rPr>
                        <a:t>Open API layer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22E"/>
                          </a:solidFill>
                        </a:rPr>
                        <a:t>Exposes the catalog to CRM and others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Commercial and technical catalogs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What is sold is kept separate from how it is delivered, and both feed sales and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517904"/>
            <a:ext cx="6839712" cy="4447493"/>
          </a:xfrm>
          <a:prstGeom prst="rect">
            <a:avLst/>
          </a:prstGeom>
          <a:noFill/>
          <a:ln w="15875">
            <a:solidFill>
              <a:srgbClr val="D0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netcracker_catalog_feeds_sales_and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43743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01973"/>
            <a:ext cx="6766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Netcracker CPQ whitepaper (2021), Figure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645920"/>
            <a:ext cx="402336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73736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B2C83"/>
                </a:solidFill>
              </a:rPr>
              <a:t>Product Offering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103120"/>
            <a:ext cx="374903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6222E"/>
                </a:solidFill>
              </a:rPr>
              <a:t>The commercial view: offering details, business rules, prices and discounts.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108960"/>
            <a:ext cx="402336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0040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B2C83"/>
                </a:solidFill>
              </a:rPr>
              <a:t>Technical Product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566160"/>
            <a:ext cx="374903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6222E"/>
                </a:solidFill>
              </a:rPr>
              <a:t>The technical view: product and service specifications, provisioning templates and decomposition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4572000"/>
            <a:ext cx="4023360" cy="1280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66344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5B2C83"/>
                </a:solidFill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029200"/>
            <a:ext cx="374903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26222E"/>
                </a:solidFill>
              </a:rPr>
              <a:t>Marketing can create many offers on the same technical product without changing the network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Core data model, with one running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TM Forum-certified entities in Netcracker, illustrated with "Business Internet 100"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7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73152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719072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What it technically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749039" cy="73152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B2C83"/>
                </a:solidFill>
              </a:rPr>
              <a:t>Dedicated Internet Access, 100 Mbps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3291840" cy="73152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87752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What is sold (single or bundle)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423160"/>
            <a:ext cx="3749039" cy="73152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B2C83"/>
                </a:solidFill>
              </a:rPr>
              <a:t>"Business Internet 100" bundle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39"/>
            <a:ext cx="3291840" cy="73152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 Offering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456431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Prices attached to the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291839"/>
            <a:ext cx="3749039" cy="73152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B2C83"/>
                </a:solidFill>
              </a:rPr>
              <a:t>Monthly fee + installation per 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3291840" cy="73152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325112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Grouping of offerings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60520"/>
            <a:ext cx="3749039" cy="73152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B2C83"/>
                </a:solidFill>
              </a:rPr>
              <a:t>Enterprise connectivity catalog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3291840" cy="73152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193792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6222E"/>
                </a:solidFill>
              </a:rPr>
              <a:t>What the customer owns after sale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5029200"/>
            <a:ext cx="3749039" cy="73152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5B2C83"/>
                </a:solidFill>
              </a:rPr>
              <a:t>Company X, 3 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23444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5F5A6B"/>
                </a:solidFill>
              </a:rPr>
              <a:t>Example (illustrative)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"Business Internet 100" = 100 Mbps dedicated internet + static IPs + managed router + SLA, on 12 / 24 / 36-month contracts.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Using the system (1/2): define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What the user does in the system, stage by stage (screen names are illustrative)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1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Ideation &amp; 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Register the concept "Business Internet 100 for SMEs"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Attach business case: segment, sites, revenue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Use consumption analytics to size demand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Reuse existing catalog items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Submit for conception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2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Technical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Pick the "Dedicated Internet Access" spec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Set bandwidth, access type, IP block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Add router, IP block, SLA monitoring specs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Define decomposition: survey, install, configure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3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Commercial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Create the offering from a template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Bundle internet + IPs + router + SLA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Add optional add-ons (extra IPs, backup link)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Place it in the Enterprise catalog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4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PM +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Monthly fee and installation per site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Prices by contract term (12 / 24 / 36)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Multi-site discount, taxes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Price validity period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Using the system (2/2): control and release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Rules, approvals, versions and testing decide when a product is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9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5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Rules &amp; 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Product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Market: fiber-covered areas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Channel: enterprise account managers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Customer category: SME, corporate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Dependencies and constraints (backup link only on 24/36 months)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6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Approval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Design to In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Approvers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PM submits for design approval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Marketing, Finance, Legal / Regulatory, IT review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Approve or reject with comments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All approved: status moves to In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7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Versioning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Any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PM / Catalog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Never edit an approved product directly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Create a new version instead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New version re-runs approval and test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Old versions kept for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508760"/>
            <a:ext cx="2651760" cy="47091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508760"/>
            <a:ext cx="2651760" cy="91440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Stage 8</a:t>
            </a:r>
          </a:p>
          <a:p>
            <a:pPr algn="l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Testing &amp;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14600"/>
            <a:ext cx="24688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E07A1F"/>
                </a:solidFill>
              </a:rPr>
              <a:t>In Test to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07208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Owner: Test team /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33756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Deploy to test environment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Run test quotes and orders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Pass: Active, ready for CRM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300">
                <a:solidFill>
                  <a:srgbClr val="26222E"/>
                </a:solidFill>
              </a:rPr>
              <a:t>Fail: Rejected or new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Approval gates: nothing reaches sales by accident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Each status change is a decision, recorded with who approved it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10 / 17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645920"/>
            <a:ext cx="2651760" cy="1005840"/>
          </a:xfrm>
          <a:prstGeom prst="homePlat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Gate 1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Conception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E07A1F"/>
                </a:solidFill>
              </a:rPr>
              <a:t>In Study to In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265176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37560"/>
            <a:ext cx="2432304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Is the idea worth designing?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Product Manager, Marketing, Finance</a:t>
            </a:r>
          </a:p>
        </p:txBody>
      </p:sp>
      <p:sp>
        <p:nvSpPr>
          <p:cNvPr id="11" name="Pentagon 10"/>
          <p:cNvSpPr/>
          <p:nvPr/>
        </p:nvSpPr>
        <p:spPr>
          <a:xfrm>
            <a:off x="3429000" y="1645920"/>
            <a:ext cx="2651760" cy="1005840"/>
          </a:xfrm>
          <a:prstGeom prst="homePlat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Gate 2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Design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E07A1F"/>
                </a:solidFill>
              </a:rPr>
              <a:t>In Design to In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246120"/>
            <a:ext cx="265176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3337560"/>
            <a:ext cx="2432304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Are offer, price, rules and terms right?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Marketing, Finance, Legal / Regulatory, IT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09359" y="1645920"/>
            <a:ext cx="2651760" cy="1005840"/>
          </a:xfrm>
          <a:prstGeom prst="homePlat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Gate 3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Test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788920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E07A1F"/>
                </a:solidFill>
              </a:rPr>
              <a:t>In Test to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246120"/>
            <a:ext cx="265176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7" y="3337560"/>
            <a:ext cx="2432304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Does it work end to end?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Test team, IT</a:t>
            </a:r>
          </a:p>
        </p:txBody>
      </p:sp>
      <p:sp>
        <p:nvSpPr>
          <p:cNvPr id="19" name="Pentagon 18"/>
          <p:cNvSpPr/>
          <p:nvPr/>
        </p:nvSpPr>
        <p:spPr>
          <a:xfrm>
            <a:off x="9189719" y="1645920"/>
            <a:ext cx="2651760" cy="1005840"/>
          </a:xfrm>
          <a:prstGeom prst="homePlat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Gate 4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Start of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788920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E07A1F"/>
                </a:solidFill>
              </a:rPr>
              <a:t>Active to Launched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3246120"/>
            <a:ext cx="2651760" cy="219456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7" y="3337560"/>
            <a:ext cx="2432304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Question: </a:t>
            </a:r>
            <a:r>
              <a:rPr sz="1400">
                <a:solidFill>
                  <a:srgbClr val="26222E"/>
                </a:solidFill>
              </a:rPr>
              <a:t>Go on sale on the planned date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5B2C83"/>
                </a:solidFill>
              </a:rPr>
              <a:t>Approvers: </a:t>
            </a:r>
            <a:r>
              <a:rPr sz="1400">
                <a:solidFill>
                  <a:srgbClr val="26222E"/>
                </a:solidFill>
              </a:rPr>
              <a:t>Product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Gates and statuses: TMF620 standard. Approver roles shown are an example set; they are configured per operator.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Integration with CRM: the catalog is the 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CRM consumes the approved product; it never re-creates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11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108960" cy="329184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Netcracker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Product Catalog + PLM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Only Active products are published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3474720"/>
            <a:ext cx="86868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63440" y="1508760"/>
            <a:ext cx="3474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5B2C83"/>
                </a:solidFill>
              </a:rPr>
              <a:t>What gets published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920240"/>
            <a:ext cx="3474720" cy="45720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Offering and bundle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68880"/>
            <a:ext cx="3474720" cy="45720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Prices, discounts, contract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17520"/>
            <a:ext cx="3474720" cy="45720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Eligibility: market, channel, customer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566160"/>
            <a:ext cx="3474720" cy="45720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Dependencies and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114800"/>
            <a:ext cx="3474720" cy="45720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Validity dates (start / end of sale)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663440"/>
            <a:ext cx="3474720" cy="457200"/>
          </a:xfrm>
          <a:prstGeom prst="round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26222E"/>
                </a:solidFill>
              </a:rPr>
              <a:t>Status and version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3879" y="3474720"/>
            <a:ext cx="868681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1828800"/>
            <a:ext cx="2560320" cy="329184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CRM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Sales quote, order and contract use the catalog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11155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Netcracker: the Product Catalog supports "sales, ordering and billing processes via industry-standard integration"; the lead-to-order process is "automated with a catalog-driven approach".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How the hand-over works: TM Forum Open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Standard interfaces between the catalog and the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12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448056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API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Netcracker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TMF620 Product Catalog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Catalog to CRM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reads catalogs, offerings, prices, specifications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Certified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TMF620 events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Catalog to CRM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is notified on create / change / status change; stays in sync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Part of TMF620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TMF679 Offering Qualification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to catalog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"Can this customer get this offer here?"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TM Forum standard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TMF648 Quote Management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Within sales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Quotes built on catalog offerings and prices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Certified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TMF622 Product Ordering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to order mgmt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Order carries offering ID and version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Certified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2011680" cy="82296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Product becomes Active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5577840"/>
            <a:ext cx="23774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5166360"/>
            <a:ext cx="2011680" cy="82296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Event sent to CRM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64608" y="5577840"/>
            <a:ext cx="23774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5166360"/>
            <a:ext cx="2011680" cy="82296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CRM reads offer via TMF620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50608" y="5577840"/>
            <a:ext cx="23774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06640" y="5166360"/>
            <a:ext cx="2011680" cy="82296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Salesperson quotes; rules checked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36608" y="5577840"/>
            <a:ext cx="237744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5166360"/>
            <a:ext cx="2011680" cy="82296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Order references offer 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What the salesperson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A real Netcracker screen: the catalog drives the quote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885139" y="1517904"/>
            <a:ext cx="5910681" cy="4462272"/>
          </a:xfrm>
          <a:prstGeom prst="rect">
            <a:avLst/>
          </a:prstGeom>
          <a:noFill/>
          <a:ln w="15875">
            <a:solidFill>
              <a:srgbClr val="D0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netcracker_real_screen_create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" y="1554480"/>
            <a:ext cx="5837529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16752"/>
            <a:ext cx="6583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Netcracker CPQ whitepaper (2021), Figure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5B2C83"/>
                </a:solidFill>
              </a:rPr>
              <a:t>Customer Category, Channel, Market: </a:t>
            </a:r>
            <a:r>
              <a:rPr sz="1600">
                <a:solidFill>
                  <a:srgbClr val="26222E"/>
                </a:solidFill>
              </a:rPr>
              <a:t>the same eligibility rules defined in Stage 5.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5B2C83"/>
                </a:solidFill>
              </a:rPr>
              <a:t>Only eligible offers </a:t>
            </a:r>
            <a:r>
              <a:rPr sz="1600">
                <a:solidFill>
                  <a:srgbClr val="26222E"/>
                </a:solidFill>
              </a:rPr>
              <a:t>appear for this customer.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5B2C83"/>
                </a:solidFill>
              </a:rPr>
              <a:t>Prices come from the catalog, </a:t>
            </a:r>
            <a:r>
              <a:rPr sz="1600">
                <a:solidFill>
                  <a:srgbClr val="26222E"/>
                </a:solidFill>
              </a:rPr>
              <a:t>so the quote always uses the approved price.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5B2C83"/>
                </a:solidFill>
              </a:rPr>
              <a:t>The offer is validated </a:t>
            </a:r>
            <a:r>
              <a:rPr sz="1600">
                <a:solidFill>
                  <a:srgbClr val="26222E"/>
                </a:solidFill>
              </a:rPr>
              <a:t>against catalog rules before the quote is submitted.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When a product changes after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Versioning keeps sales and existing customers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14 / 17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828800"/>
            <a:ext cx="731520" cy="73152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194560"/>
            <a:ext cx="146304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74320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5B2C83"/>
                </a:solidFill>
              </a:rPr>
              <a:t>New version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In the catalog, not in CRM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1828800"/>
            <a:ext cx="731520" cy="73152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2194560"/>
            <a:ext cx="146304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0" y="274320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5B2C83"/>
                </a:solidFill>
              </a:rPr>
              <a:t>Approval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0040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Same gates as a new product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1828800"/>
            <a:ext cx="731520" cy="73152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2194560"/>
            <a:ext cx="146304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274320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5B2C83"/>
                </a:solidFill>
              </a:rPr>
              <a:t>Change event to 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0040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New version becomes sellable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1828800"/>
            <a:ext cx="731520" cy="73152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60" y="2194560"/>
            <a:ext cx="146304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06640" y="274320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5B2C83"/>
                </a:solidFill>
              </a:rPr>
              <a:t>New sales use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0040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Existing customers keep v1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20" y="1828800"/>
            <a:ext cx="731520" cy="731520"/>
          </a:xfrm>
          <a:prstGeom prst="ellipse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743200"/>
            <a:ext cx="2011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5B2C83"/>
                </a:solidFill>
              </a:rPr>
              <a:t>Old version retired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20040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Disappears from sales screens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34840"/>
            <a:ext cx="106984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80"/>
              </a:spcAft>
            </a:pPr>
            <a:r>
              <a:rPr b="1" sz="1600">
                <a:solidFill>
                  <a:srgbClr val="5B2C83"/>
                </a:solidFill>
              </a:rPr>
              <a:t>Why it works: </a:t>
            </a:r>
            <a:r>
              <a:rPr sz="1600">
                <a:solidFill>
                  <a:srgbClr val="26222E"/>
                </a:solidFill>
              </a:rPr>
              <a:t>every order records the offering ID and version, so delivery and billing always match what the customer bought.</a:t>
            </a:r>
          </a:p>
          <a:p>
            <a:pPr algn="l">
              <a:spcAft>
                <a:spcPts val="880"/>
              </a:spcAft>
            </a:pPr>
            <a:r>
              <a:rPr b="1" sz="1600">
                <a:solidFill>
                  <a:srgbClr val="5B2C83"/>
                </a:solidFill>
              </a:rPr>
              <a:t>Result: </a:t>
            </a:r>
            <a:r>
              <a:rPr sz="1600">
                <a:solidFill>
                  <a:srgbClr val="26222E"/>
                </a:solidFill>
              </a:rPr>
              <a:t>a price or bundle change never breaks existing contracts.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Example: connecting the catalog to Microsoft Dynamics 365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5F5A6B"/>
                </a:solidFill>
              </a:rPr>
              <a:t>The same pattern applies to a CRM from another vendor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377440" cy="1097280"/>
          </a:xfrm>
          <a:prstGeom prst="round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Product catalog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TMF620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286000"/>
            <a:ext cx="68580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1737360"/>
            <a:ext cx="2377440" cy="109728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Integration layer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maps and syncs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2286000"/>
            <a:ext cx="685800" cy="0"/>
          </a:xfrm>
          <a:prstGeom prst="line">
            <a:avLst/>
          </a:prstGeom>
          <a:ln w="25400">
            <a:solidFill>
              <a:srgbClr val="5B2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0" y="1737360"/>
            <a:ext cx="2377440" cy="109728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Dynamics 365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Dataverse Web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737360"/>
            <a:ext cx="228600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No ready-made Netcracker connector; built on standard APIs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15468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57784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Catalog item (TMF620)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Dynamics 365 Sales entity</a:t>
                      </a:r>
                    </a:p>
                  </a:txBody>
                  <a:tcPr marL="73152" marR="73152">
                    <a:solidFill>
                      <a:srgbClr val="5B2C8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Offering / Bundle offering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/ Product bundle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Catalog / Category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family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Offering Price / Discounts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Price list item / Discount list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Related offers, add-ons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relationships (accessory, cross-sell, up-sell)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Status Active / Launched / Retired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status Active / Retired</a:t>
                      </a:r>
                    </a:p>
                  </a:txBody>
                  <a:tcPr marL="73152" marR="73152">
                    <a:solidFill>
                      <a:srgbClr val="EEE7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>
                <a:solidFill>
                  <a:srgbClr val="5B2C83"/>
                </a:solidFill>
              </a:rPr>
              <a:t>Study, design, test and approval stay in the catalog; Dynamics receives only products ready to sell.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Evidence: results at real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141732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" cy="141732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583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Zain KSA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6583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Full BSS/OSS including Product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6583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6222E"/>
                </a:solidFill>
              </a:rPr>
              <a:t>50% decrease in product development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6949440" cy="141732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109728" cy="141732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6583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T-Mobile Netherlands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6583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Product Catalog + Product Lifecycle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13048"/>
            <a:ext cx="6583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6222E"/>
                </a:solidFill>
              </a:rPr>
              <a:t>Products managed "from development to production to retirement"; fewer incorrect offers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6949440" cy="141732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09728" cy="141732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6583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900" b="1">
                <a:solidFill>
                  <a:srgbClr val="5B2C83"/>
                </a:solidFill>
              </a:rPr>
              <a:t>e&amp; UAE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6583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5F5A6B"/>
                </a:solidFill>
              </a:rPr>
              <a:t>Full BSS including product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13248"/>
            <a:ext cx="6583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6222E"/>
                </a:solidFill>
              </a:rPr>
              <a:t>"Groundwork for catalog-driven offers"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6120" y="1335024"/>
            <a:ext cx="3615920" cy="4553712"/>
          </a:xfrm>
          <a:prstGeom prst="rect">
            <a:avLst/>
          </a:prstGeom>
          <a:noFill/>
          <a:ln w="15875">
            <a:solidFill>
              <a:srgbClr val="D0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4_zain_ksa_case_study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696" y="1371600"/>
            <a:ext cx="3542768" cy="4480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5925312"/>
            <a:ext cx="38404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Netcracker, Zain KSA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0">
                <a:solidFill>
                  <a:srgbClr val="5F5A6B"/>
                </a:solidFill>
              </a:rPr>
              <a:t>Sources: Netcracker case study and press releases with operator quotes.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5B2C83"/>
                </a:solidFill>
              </a:rPr>
              <a:t>Summary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Netcracker Product Management: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5B2C83"/>
                </a:solidFill>
              </a:rPr>
              <a:t>Idea to Active </a:t>
            </a:r>
            <a:r>
              <a:rPr sz="1700">
                <a:solidFill>
                  <a:srgbClr val="26222E"/>
                </a:solidFill>
              </a:rPr>
              <a:t>inside the catalog: eight stages, approval gates, versions, testing.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5B2C83"/>
                </a:solidFill>
              </a:rPr>
              <a:t>Active to CRM </a:t>
            </a:r>
            <a:r>
              <a:rPr sz="1700">
                <a:solidFill>
                  <a:srgbClr val="26222E"/>
                </a:solidFill>
              </a:rPr>
              <a:t>through standard APIs: the catalog stays the single source of truth.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5B2C83"/>
                </a:solidFill>
              </a:rPr>
              <a:t>Rules and prices </a:t>
            </a:r>
            <a:r>
              <a:rPr sz="1700">
                <a:solidFill>
                  <a:srgbClr val="26222E"/>
                </a:solidFill>
              </a:rPr>
              <a:t>are enforced in the sales screen, not re-typed.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5B2C83"/>
                </a:solidFill>
              </a:rPr>
              <a:t>Changes are versioned, </a:t>
            </a:r>
            <a:r>
              <a:rPr sz="1700">
                <a:solidFill>
                  <a:srgbClr val="26222E"/>
                </a:solidFill>
              </a:rPr>
              <a:t>so existing customers are never affected.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5B2C83"/>
                </a:solidFill>
              </a:rPr>
              <a:t>Proven </a:t>
            </a:r>
            <a:r>
              <a:rPr sz="1700">
                <a:solidFill>
                  <a:srgbClr val="26222E"/>
                </a:solidFill>
              </a:rPr>
              <a:t>at Zain KSA, T-Mobile Netherlands and e&amp;.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4754880" cy="4754880"/>
          </a:xfrm>
          <a:prstGeom prst="rect">
            <a:avLst/>
          </a:prstGeom>
          <a:solidFill>
            <a:srgbClr val="EE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463040"/>
            <a:ext cx="4389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5B2C83"/>
                </a:solidFill>
              </a:rPr>
              <a:t>References (full links in the document)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3891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1. Netcracker Product Management (Product Catalog + PLM)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2. Netcracker Commerce Management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3. Netcracker CPQ whitepaper (2021), Figures 2 and 3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4. Netcracker Zain KSA case study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5. Netcracker T-Mobile Netherlands press release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6. Netcracker e&amp; UAE press release (Oct 2023)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7. TM Forum SID certification report, Netcracker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8. TM Forum Open API conformance list (June 2024)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9. TM Forum TMF620 and TMF679 API specifications</a:t>
            </a:r>
          </a:p>
          <a:p>
            <a:pPr algn="l">
              <a:spcAft>
                <a:spcPts val="660"/>
              </a:spcAft>
            </a:pPr>
            <a:r>
              <a:rPr sz="1200" b="0">
                <a:solidFill>
                  <a:srgbClr val="26222E"/>
                </a:solidFill>
              </a:rPr>
              <a:t>10. Microsoft Learn: Dynamics 365 Sales product catalog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