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0:30)</a:t>
            </a:r>
          </a:p>
          <a:p>
            <a:r>
              <a:t>السلام عليكم. النهارده هعرض عليكم نظام PLC حقيقي موجود في السوق ومعمول مخصوص لشركات الاتصالات، وهو Oracle Communications Launch Cloud Service.</a:t>
            </a:r>
          </a:p>
          <a:p>
            <a:r>
              <a:t>الهدف مش إني أشرح يعني إيه PLC نظريًا، الهدف إننا نشوف نظام حقيقي بيدير رحلة المنتج إزاي، ونطلع في الآخر بإجابة على سؤال: لو هنبني PLC عندنا في المصرية للاتصالات، إيه الـ Modules والـ Features اللي لازم تكون فيه.</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1:00)</a:t>
            </a:r>
          </a:p>
          <a:p>
            <a:r>
              <a:t>العرض متقسم على السبع نقط اللي اتفقنا عليهم في الاجتماع: نظرة عامة، الـ Architecture والـ Modules، رحلة المنتج، الـ Features الأساسية، الربط مع الـ CRM، مثال عملي من شغل الاتصالات، وفي الآخر الخلاصة: نبني إيه عندنا.</a:t>
            </a:r>
          </a:p>
          <a:p>
            <a:r>
              <a:t>اخترت Oracle Launch لتلات أسباب: معمول مخصوص لشركات الاتصالات، ماشي على معايير TM Forum اللي هي لغة الصناعة، والـ Documentation بتاعته منشورة بالكامل، فكل معلومة في العرض ده ليها مصدر نقدر نرجعله.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2:30)</a:t>
            </a:r>
          </a:p>
          <a:p>
            <a:r>
              <a:t>Oracle Launch هو نظام SaaS على Oracle Fusion Cloud، وظيفته الأساسية إنه يبقى "المكان الوحيد" اللي بيتصمم فيه المنتج أو العرض (Offer).</a:t>
            </a:r>
          </a:p>
          <a:p>
            <a:r>
              <a:t>الفكرة إن المنتج بيتعرف مرة واحدة بس هنا، بيعدي على دورة حياة فيها موافقات واختبار، وبعدين النظام نفسه بيبعته للأنظمة التانية: الـ CRM علشان البيع، والـ Billing علشان التسعير والتحصيل، والـ Provisioning علشان التفعيل على الشبكة.</a:t>
            </a:r>
          </a:p>
          <a:p>
            <a:r>
              <a:t>المستخدمين الأساسيين هم الماركتنج والـ Product Managers.</a:t>
            </a:r>
          </a:p>
          <a:p>
            <a:r>
              <a:t>الـ APIs بتاعته مبنية على معيار TMF620 من TM Forum، وده معيار كتالوج المنتجات في صناعة الاتصالات كلها.</a:t>
            </a:r>
          </a:p>
          <a:p>
            <a:r>
              <a:t>المشاكل اللي بيحلها هي غالبًا نفس المشاكل اللي بنقابلها: المنتج متعرف بشكل مختلف في كل نظام، الموافقات بالإيميل، والعروض القديمة مش بتتقفل.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 3:30)</a:t>
            </a:r>
          </a:p>
          <a:p>
            <a:r>
              <a:t>ده أهم شكل في العرض. الـ Architecture اسمها Hub-and-Spoke.</a:t>
            </a:r>
          </a:p>
          <a:p>
            <a:r>
              <a:t>في النص عندنا Launch، وده الـ Master: أي منتج بيتصمم هنا بس.</a:t>
            </a:r>
          </a:p>
          <a:p>
            <a:r>
              <a:t>على الشمال: مين بيدخّل البيانات؟ فرق الماركتنج والمنتجات من خلال الواجهة، أو أنظمة تانية من خلال الـ APIs، وفي البداية بنعمل Import مرة واحدة للكتالوج الحالي من الـ CRM.</a:t>
            </a:r>
          </a:p>
          <a:p>
            <a:r>
              <a:t>على اليمين: الأنظمة اللي بتستقبل (Spokes): الـ CRM، قنوات البيع الديجيتال، الـ Billing، والـ Provisioning. النشر بيعدي على طبقة Integration، وليه ترتيب بنحدده: مثلًا CRM الأول، بعدين Commerce، بعدين Billing، بعدين Provisioning.</a:t>
            </a:r>
          </a:p>
          <a:p>
            <a:r>
              <a:t>النقطة المهمة: الأنظمة دي بتستهلك المنتج بس، مش بتعدّل فيه.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 – 4:30)</a:t>
            </a:r>
          </a:p>
          <a:p>
            <a:r>
              <a:t>دي الـ Modules الأساسية في النظام:</a:t>
            </a:r>
          </a:p>
          <a:p>
            <a:r>
              <a:t>- الـ Initiative: ده أهم مفهوم، وهو زي "المشروع" أو "الإطلاق". أي منتج لازم يكون جوه Initiative، وهي اللي بتشيل الفريق والمرفقات والموافقات والحالة.</a:t>
            </a:r>
          </a:p>
          <a:p>
            <a:r>
              <a:t>- الـ Offer Management: بنعمل فيه العروض بخطوات مرتبة (Guided Flow).</a:t>
            </a:r>
          </a:p>
          <a:p>
            <a:r>
              <a:t>- الـ Promotion Management: للعروض الترويجية.</a:t>
            </a:r>
          </a:p>
          <a:p>
            <a:r>
              <a:t>- الـ Workbench: الجانب الفني، يعني مواصفات المنتج والخدمة.</a:t>
            </a:r>
          </a:p>
          <a:p>
            <a:r>
              <a:t>- الـ Pricing والـ Rules: التسعير وقواعد مين يشتري إيه وإيه ينفع مع إيه.</a:t>
            </a:r>
          </a:p>
          <a:p>
            <a:r>
              <a:t>- الـ Administration: الإعدادات، والحالات، والأنظمة اللي هننشر عليها.</a:t>
            </a:r>
          </a:p>
          <a:p>
            <a:r>
              <a:t>- وفي الإصدارات الأخيرة ضافوا AI Agent بيراجع العرض قبل النشر ويطلع الأخطاء.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 – 5:15)</a:t>
            </a:r>
          </a:p>
          <a:p>
            <a:r>
              <a:t>النقطة دي مهمة جدًا لو هنبني نظام: Oracle بيفصل بين حاجتين.</a:t>
            </a:r>
          </a:p>
          <a:p>
            <a:r>
              <a:t>الجانب التجاري (الشمال): ده اللي بنبيعه. عندنا Simple Offer زي باقة إنترنت أو راوتر، وBundle بيجمع كذا Offer، وPackage فيها التزام زي 12 شهر.</a:t>
            </a:r>
          </a:p>
          <a:p>
            <a:r>
              <a:t>الجانب الفني (النص): Product Specification، وتحتها Service Specification، وده اللي الشبكة محتاجة تفعّله.</a:t>
            </a:r>
          </a:p>
          <a:p>
            <a:r>
              <a:t>ليه الفصل ده مهم؟ لأن الماركتنج يقدر يعمل 10 عروض مختلفة على نفس الخدمة الفنية من غير ما يلمس الشبكة.</a:t>
            </a:r>
          </a:p>
          <a:p>
            <a:r>
              <a:t>وعلى اليمين، كل عرض بيتربط بيه: السعر، والالتزام، والقواعد، وكمان القناة والمكان والشريحة. يعني مثلًا عرض متاح أونلاين بس، أو في محافظات معينة بس.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 – 6:45)</a:t>
            </a:r>
          </a:p>
          <a:p>
            <a:r>
              <a:t>دي رحلة المنتج كاملة، وهي قلب الـ PLC.</a:t>
            </a:r>
          </a:p>
          <a:p>
            <a:r>
              <a:t>1. الفكرة بتبدأ من الماركتنج، وبتتسجل كـ Initiative.</a:t>
            </a:r>
          </a:p>
          <a:p>
            <a:r>
              <a:t>2. In Design: هنا بنعرّف المنتج والسعر والقواعد، وده الوقت الوحيد اللي ينفع نعدّل فيه.</a:t>
            </a:r>
          </a:p>
          <a:p>
            <a:r>
              <a:t>3. Approvals Pending: لو الموافقات مفعّلة، المنتج بيتقفل لحد ما المعتمدين يوافقوا.</a:t>
            </a:r>
          </a:p>
          <a:p>
            <a:r>
              <a:t>4. Ready to Publish: المنتج اتقفل وبيتبعت لأنظمة الاختبار.</a:t>
            </a:r>
          </a:p>
          <a:p>
            <a:r>
              <a:t>5. In Test: بنختبره في بيئة SIT أو UAT. لو فيه مشكلة يرجع In Design.</a:t>
            </a:r>
          </a:p>
          <a:p>
            <a:r>
              <a:t>6. Active: بيتنقل للـ Production.</a:t>
            </a:r>
          </a:p>
          <a:p>
            <a:r>
              <a:t>7. Launched: متاح للبيع في القنوات.</a:t>
            </a:r>
          </a:p>
          <a:p>
            <a:r>
              <a:t>بعد الإطلاق: لو عايزين نعدّل بنعمل Revise وبيطلع Version جديد. ولو عايزين نوقف المنتج: Awaiting Retirement، بعدين Retired يعني مفيش بيع جديد، وفي الآخر Obsolete.</a:t>
            </a:r>
          </a:p>
          <a:p>
            <a:r>
              <a:t>والحالات دي مش ثابتة، الأدمن يقدر يضيف حالة جديدة، زي مرحلة UAT إضافية.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 – 7:45)</a:t>
            </a:r>
          </a:p>
          <a:p>
            <a:r>
              <a:t>Product Ideation: في Oracle، الفكرة بتتحول لـ Initiative. الماركتنج بيفتح Initiative، يرفق فيها الـ Business Case والمتطلبات، ويحدد الفريق والمعتمدين، والنظام بيبعت إشعارات لكل واحد.</a:t>
            </a:r>
          </a:p>
          <a:p>
            <a:r>
              <a:t>Product Definition: تعريف المنتج بيتم من خلال Guided Flow، يعني شاشات بالترتيب: البيانات العامة، الخصائص، المكونات لو Bundle، السعر، القواعد، القنوات والأماكن، وفي الآخر الموافقات.</a:t>
            </a:r>
          </a:p>
          <a:p>
            <a:r>
              <a:t>ملاحظة مهمة لينا: Oracle بيبدأ من لحظة ما الفكرة اتحولت لمشروع فعلًا. مفيش عنده مكان نجمع فيه الأفكار ونقيّمها ونوافق على الـ Business Case قبل التصميم. فلو هنبني نظام، الـ Module ده ممكن يكون إضافة حقيقية عندنا.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 – 8:45)</a:t>
            </a:r>
          </a:p>
          <a:p>
            <a:r>
              <a:t>الـ Approval Workflow في Oracle ماشي كده: اللي بيصمم بيعمل Confirm، المنتج بيبقى Design Complete، بعدين نبدأ الموافقات، المعتمدين بيوصلهم إيميل، ويوافقوا أو يرفضوا من جوه النظام مع تعليق، ولو كله وافق يبقى Ready to Publish.</a:t>
            </a:r>
          </a:p>
          <a:p>
            <a:r>
              <a:t>فيه نوعين: Sequential، يعني واحد ورا التاني، أو Parallel، يعني كلهم مع بعض، ونقدر نحدد نسبة، مثلًا 50% بس محتاجين يوافقوا.</a:t>
            </a:r>
          </a:p>
          <a:p>
            <a:r>
              <a:t>والمنتج بيتقفل وهو مستني الموافقة، فمحدش يقدر يعدّل فيه، وكل الموافقات بتتسجل في History.</a:t>
            </a:r>
          </a:p>
          <a:p>
            <a:r>
              <a:t>على اليمين اقتراح لمصفوفة الموافقات عندنا. ده مثال مني للنقاش، مش من Oracle. Oracle بيدينا المرونة، وإحنا نحدد مين يوافق على إيه.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(8:45 – 9:45)</a:t>
            </a:r>
          </a:p>
          <a:p>
            <a:r>
              <a:t>التسعير في Oracle مرن جدًا:</a:t>
            </a:r>
          </a:p>
          <a:p>
            <a:r>
              <a:t>- أنواع الأسعار: رسوم مرة واحدة زي التركيب، ورسوم شهرية، ورسوم استخدام لكل جيجا أو دقيقة.</a:t>
            </a:r>
          </a:p>
          <a:p>
            <a:r>
              <a:t>- الـ Price Lists: قائمة أسعار لكل شريحة، يعني منزلي غير شركات، أو حسب المكان. وكل سعر ليه كود محاسبي وكود ضريبة.</a:t>
            </a:r>
          </a:p>
          <a:p>
            <a:r>
              <a:t>- الخصومات: خصم لفترة محدودة، أو خصم على عدد الخطوط، أو التزام بمدة وغرامة لو العميل لغى بدري.</a:t>
            </a:r>
          </a:p>
          <a:p>
            <a:r>
              <a:t>- تغيير السعر: مينفعش نغيّر سعر منتج شغال كده على طول. لازم نعمل Revise، وده بيطلع Version جديد، والـ Version ده لازم يعدّي على الموافقات تاني. ولو عايزين نزوّد أسعار كذا باقة مرة واحدة، فيه Bulk Update بمبلغ أو نسبة.</a:t>
            </a:r>
          </a:p>
          <a:p>
            <a:r>
              <a:t>ده بيدّي الإدارة تحكم كامل في أي تعديل سعر.</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 – 10:45)</a:t>
            </a:r>
          </a:p>
          <a:p>
            <a:r>
              <a:t>الـ Versioning: أي منتج متطلق لو عايزين نعدّله بنعمل Revise، فبيطلع Version جديد. ونقدر نقارن بين أي Versionين جنب بعض ونشوف الفرق. وفيه Clone لو عايزين منتج جديد شبه منتج قديم، وBulk Revise لكذا منتج مرة واحدة.</a:t>
            </a:r>
          </a:p>
          <a:p>
            <a:r>
              <a:t>الـ Role-Based Access: Oracle جاي فيه خمس أدوار جاهزة:</a:t>
            </a:r>
          </a:p>
          <a:p>
            <a:r>
              <a:t>- الـ Admin: يعمل كل حاجة، حتى إنه يغيّر حالة المنتج يدويًا.</a:t>
            </a:r>
          </a:p>
          <a:p>
            <a:r>
              <a:t>- الـ Product Manager: يعمل ويعدّل بس ميمسحش، ويدير الـ Initiatives.</a:t>
            </a:r>
          </a:p>
          <a:p>
            <a:r>
              <a:t>- الـ Marketing Manager: يعمل عروض بس ميقدرش يدير الـ Initiatives أو ينشر.</a:t>
            </a:r>
          </a:p>
          <a:p>
            <a:r>
              <a:t>- الـ Product Specialist: الجانب الفني بس.</a:t>
            </a:r>
          </a:p>
          <a:p>
            <a:r>
              <a:t>- الـ Viewer: قراءة بس، ودي للإدارة العليا مثلًا.</a:t>
            </a:r>
          </a:p>
          <a:p>
            <a:r>
              <a:t>وفيه حماية إضافية: بيئة الـ Production ممكن نعلّمها Sensitive، فمحدش ينشر عليها غير المسموح لهم.</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 – 11:45)</a:t>
            </a:r>
          </a:p>
          <a:p>
            <a:r>
              <a:t>الإطلاق: لما الـ Initiative تبقى Active في الـ Production، بننشر على الـ CRM والـ Billing والـ Provisioning، والمنتج بيبقى Launched. ونقدر نحدد يتباع فين: أونلاين بس، أو في فروع معينة، أو لشريحة معينة.</a:t>
            </a:r>
          </a:p>
          <a:p>
            <a:r>
              <a:t>الإيقاف (Retirement): مينفعش نوقف منتج لو فيه Version منه لسه في التصميم أو الاختبار. بنربطه بـ Initiative، ولما ننشر بيبقى Retired، يعني مفيش بيع جديد من أي قناة. بس العملاء الحاليين مش بيتشالوا لوحدهم.</a:t>
            </a:r>
          </a:p>
          <a:p>
            <a:r>
              <a:t>التحويل (Migration): هنا بنعرّف قواعد Upgrade وDowngrade: من الباقة القديمة للجديدة، ومعاها مدة الالتزام والغرامة. الـ CRM بيستخدم القواعد دي علشان يعرض على العميل التحويلات المسموحة بس.</a:t>
            </a:r>
          </a:p>
          <a:p>
            <a:r>
              <a:t>الخلاصة: الـ PLC بيحدد المسموح، والـ CRM ونظام الطلبات هما اللي بينفذوا على العميل.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 – 12:45)</a:t>
            </a:r>
          </a:p>
          <a:p>
            <a:r>
              <a:t>إزاي المنتج بيوصل للـ CRM؟ في 5 خطوات:</a:t>
            </a:r>
          </a:p>
          <a:p>
            <a:r>
              <a:t>1. نسجّل الأنظمة اللي هننشر عليها، ولكل بيئة: اختبار، وUAT، وProduction.</a:t>
            </a:r>
          </a:p>
          <a:p>
            <a:r>
              <a:t>2. نجمّع العروض والأسعار والقواعد جوه Initiative.</a:t>
            </a:r>
          </a:p>
          <a:p>
            <a:r>
              <a:t>3. ننشر: النظام بيبعت Event لكل نظام على API معين.</a:t>
            </a:r>
          </a:p>
          <a:p>
            <a:r>
              <a:t>4. الحالة مش بتتحرك غير لما كل الأنظمة ترد إنها استلمت.</a:t>
            </a:r>
          </a:p>
          <a:p>
            <a:r>
              <a:t>5. لو نظام فشل، نعيد النشر عليه هو بس.</a:t>
            </a:r>
          </a:p>
          <a:p>
            <a:r>
              <a:t>Oracle عنده ربط جاهز مع Siebel CRM، وأي CRM تاني ممكن يتربط لو عمل API واحد بيستقبل الـ Event.</a:t>
            </a:r>
          </a:p>
          <a:p>
            <a:r>
              <a:t>أهم قاعدة: أي حاجة جاية من الـ PLC ممنوع تتعدّل في الـ CRM. ده اللي بيضمن إن المنتج نفسه في كل الأنظمة، وده غالبًا من أكبر المشاكل اللي بتقابل أي شركة اتصالات.</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(12:45 – 14:00)</a:t>
            </a:r>
          </a:p>
          <a:p>
            <a:r>
              <a:t>خلّوني أوضح الكلام ده بمثال من شغلنا. السيناريو ده مثال للتوضيح، والأسماء والأرقام مش أسعار حقيقية.</a:t>
            </a:r>
          </a:p>
          <a:p>
            <a:r>
              <a:t>الفكرة: الماركتنج عايز يحوّل عملاء الـ ADSL للفايبر.</a:t>
            </a:r>
          </a:p>
          <a:p>
            <a:r>
              <a:t>1. الماركتنج بيفتح Initiative ويرفق الـ Business Case.</a:t>
            </a:r>
          </a:p>
          <a:p>
            <a:r>
              <a:t>2. الـ Product Specialist بيعرّف المواصفات الفنية: خدمة FTTH بسرعة 200.</a:t>
            </a:r>
          </a:p>
          <a:p>
            <a:r>
              <a:t>3. الـ Product Manager بيعمل العرض: إنترنت وأرضي وراوتر في Package واحدة بالتزام سنة، متاحة في الفروع وخدمة العملاء والأبلكيشن، وفي المناطق اللي فيها فايبر بس.</a:t>
            </a:r>
          </a:p>
          <a:p>
            <a:r>
              <a:t>4. التسعير: شهري، وتركيب، وخصم أول 3 شهور، ومعاه موافقة المالية.</a:t>
            </a:r>
          </a:p>
          <a:p>
            <a:r>
              <a:t>5. القواعد: لازم راوتر، ومينفعش مع ADSL على نفس الخط، وقاعدة تحويل من ADSL 30.</a:t>
            </a:r>
          </a:p>
          <a:p>
            <a:r>
              <a:t>6. الموافقات: ماركتنج ومالية وقانوني مع بعض.</a:t>
            </a:r>
          </a:p>
          <a:p>
            <a:r>
              <a:t>7. الاختبار على بيئة الاختبار.</a:t>
            </a:r>
          </a:p>
          <a:p>
            <a:r>
              <a:t>8. الإطلاق على الـ Production.</a:t>
            </a:r>
          </a:p>
          <a:p>
            <a:r>
              <a:t>9. ولما الباقة القديمة تخلص، بنعملها Retire، والـ CRM يعرض على عملائها التحويل للفايبر.</a:t>
            </a:r>
          </a:p>
          <a:p>
            <a:r>
              <a:t>كده غطّينا Ideation وDefinition وApproval وPricing وLaunch وRetirement وMigration في سيناريو واحد.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(14:00 – 15:00)</a:t>
            </a:r>
          </a:p>
          <a:p>
            <a:r>
              <a:t>ودي إجابة السؤال الأساسي: لو هنبني PLC عندنا، نحط فيه إيه؟</a:t>
            </a:r>
          </a:p>
          <a:p>
            <a:r>
              <a:t>المرحلة الأولى، الأساسيات:</a:t>
            </a:r>
          </a:p>
          <a:p>
            <a:r>
              <a:t>1. Module للأفكار والـ Business Case، وده اللي ناقص في Oracle، فممكن يبقى ميزة عندنا.</a:t>
            </a:r>
          </a:p>
          <a:p>
            <a:r>
              <a:t>2. كتالوج المنتجات مع فصل الجانب التجاري عن الفني.</a:t>
            </a:r>
          </a:p>
          <a:p>
            <a:r>
              <a:t>3. التسعير وقوائم الأسعار.</a:t>
            </a:r>
          </a:p>
          <a:p>
            <a:r>
              <a:t>4. Lifecycle Engine بحالات نقدر نغيّرها.</a:t>
            </a:r>
          </a:p>
          <a:p>
            <a:r>
              <a:t>5. Approval Workflow مع Audit كامل.</a:t>
            </a:r>
          </a:p>
          <a:p>
            <a:r>
              <a:t>6. الصلاحيات حسب الدور.</a:t>
            </a:r>
          </a:p>
          <a:p>
            <a:r>
              <a:t>7. الـ Versioning.</a:t>
            </a:r>
          </a:p>
          <a:p>
            <a:r>
              <a:t>8. النشر على الـ CRM والـ Billing بمعيار TMF620.</a:t>
            </a:r>
          </a:p>
          <a:p>
            <a:r>
              <a:t>المرحلة التانية: محرك القواعد، والإيقاف والتحويل، والعروض الترويجية، والتقارير، والـ AI.</a:t>
            </a:r>
          </a:p>
          <a:p>
            <a:r>
              <a:t>والمبادئ: مصدر واحد للحقيقة، واختبار قبل الـ Production، ونمشي على معايير TM Forum، وكل حاجة متسجلة.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(اختياري – للنقاش بعد العرض)</a:t>
            </a:r>
          </a:p>
          <a:p>
            <a:r>
              <a:t>ده جدول المقارنة اللي هنستخدمه إحنا التلاتة. أنا ملّيت عمود Oracle، ومصطفى وحمدي يملوا عمود النظام بتاعهم بنفس الـ Features اللي في التكليف، علشان المقارنة تبقى على نفس المقاييس.</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شكرًا. كل المعلومات اللي عن Oracle مصدرها الـ Documentation الرسمية بتاعتهم، والروابط موجودة هنا لو حد عايز يتأكد أو يتعمق.</a:t>
            </a:r>
          </a:p>
          <a:p>
            <a:r>
              <a:t>المثال العملي ومصفوفة الموافقات وخطة البناء دي اقتراحات مني للنقاش، مش من Oracle.</a:t>
            </a:r>
          </a:p>
          <a:p>
            <a:r>
              <a:t>أي أسئلة؟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10058400" cy="457200"/>
          </a:xfrm>
          <a:prstGeom prst="rect">
            <a:avLst/>
          </a:prstGeom>
          <a:noFill/>
        </p:spPr>
        <p:txBody>
          <a:bodyPr wrap="square" anchor="t" lIns="45720" rIns="45720">
            <a:spAutoFit/>
          </a:bodyPr>
          <a:lstStyle/>
          <a:p>
            <a:pPr algn="l"/>
            <a:r>
              <a:rPr sz="1600" b="1" i="0">
                <a:solidFill>
                  <a:srgbClr val="EEE7F5"/>
                </a:solidFill>
                <a:latin typeface="Calibri"/>
              </a:rPr>
              <a:t>PRODUCT LIFECYCLE (PLC) SYSTEMS STUDY</a:t>
            </a:r>
          </a:p>
        </p:txBody>
      </p:sp>
      <p:sp>
        <p:nvSpPr>
          <p:cNvPr id="4" name="TextBox 3"/>
          <p:cNvSpPr txBox="1"/>
          <p:nvPr/>
        </p:nvSpPr>
        <p:spPr>
          <a:xfrm>
            <a:off x="822960" y="1554480"/>
            <a:ext cx="10515600" cy="1463040"/>
          </a:xfrm>
          <a:prstGeom prst="rect">
            <a:avLst/>
          </a:prstGeom>
          <a:noFill/>
        </p:spPr>
        <p:txBody>
          <a:bodyPr wrap="square" anchor="t" lIns="45720" rIns="45720">
            <a:spAutoFit/>
          </a:bodyPr>
          <a:lstStyle/>
          <a:p>
            <a:pPr algn="l"/>
            <a:r>
              <a:rPr sz="4800" b="1" i="0">
                <a:solidFill>
                  <a:srgbClr val="FFFFFF"/>
                </a:solidFill>
                <a:latin typeface="Calibri"/>
              </a:rPr>
              <a:t>Oracle Communications</a:t>
            </a:r>
          </a:p>
          <a:p>
            <a:pPr algn="l"/>
            <a:r>
              <a:rPr sz="4800" b="1" i="0">
                <a:solidFill>
                  <a:srgbClr val="FFFFFF"/>
                </a:solidFill>
                <a:latin typeface="Calibri"/>
              </a:rPr>
              <a:t>Launch Cloud Service</a:t>
            </a:r>
          </a:p>
        </p:txBody>
      </p:sp>
      <p:sp>
        <p:nvSpPr>
          <p:cNvPr id="5" name="TextBox 4"/>
          <p:cNvSpPr txBox="1"/>
          <p:nvPr/>
        </p:nvSpPr>
        <p:spPr>
          <a:xfrm>
            <a:off x="822960" y="3429000"/>
            <a:ext cx="10515600" cy="822960"/>
          </a:xfrm>
          <a:prstGeom prst="rect">
            <a:avLst/>
          </a:prstGeom>
          <a:noFill/>
        </p:spPr>
        <p:txBody>
          <a:bodyPr wrap="square" anchor="t" lIns="45720" rIns="45720">
            <a:spAutoFit/>
          </a:bodyPr>
          <a:lstStyle/>
          <a:p>
            <a:pPr algn="l"/>
            <a:r>
              <a:rPr sz="2000" b="0" i="0">
                <a:solidFill>
                  <a:srgbClr val="EEE7F5"/>
                </a:solidFill>
                <a:latin typeface="Calibri"/>
              </a:rPr>
              <a:t>How a telecom-grade system takes a product from idea to launch, change, retirement and customer migration, and what we should build in-house</a:t>
            </a:r>
          </a:p>
        </p:txBody>
      </p:sp>
      <p:sp>
        <p:nvSpPr>
          <p:cNvPr id="6" name="Rectangle 5"/>
          <p:cNvSpPr/>
          <p:nvPr/>
        </p:nvSpPr>
        <p:spPr>
          <a:xfrm>
            <a:off x="822960" y="4572000"/>
            <a:ext cx="146304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800600"/>
            <a:ext cx="10058400" cy="822960"/>
          </a:xfrm>
          <a:prstGeom prst="rect">
            <a:avLst/>
          </a:prstGeom>
          <a:noFill/>
        </p:spPr>
        <p:txBody>
          <a:bodyPr wrap="square" anchor="t" lIns="45720" rIns="45720">
            <a:spAutoFit/>
          </a:bodyPr>
          <a:lstStyle/>
          <a:p>
            <a:pPr algn="l"/>
            <a:r>
              <a:rPr sz="1600" b="0" i="0">
                <a:solidFill>
                  <a:srgbClr val="FFFFFF"/>
                </a:solidFill>
                <a:latin typeface="Calibri"/>
              </a:rPr>
              <a:t>Telecom Egypt  |  PLC Study Team</a:t>
            </a:r>
          </a:p>
          <a:p>
            <a:pPr algn="l"/>
            <a:r>
              <a:rPr sz="1600" b="0" i="0">
                <a:solidFill>
                  <a:srgbClr val="FFFFFF"/>
                </a:solidFill>
                <a:latin typeface="Calibri"/>
              </a:rPr>
              <a:t>Presenter: [Your name]   |   ~15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AGENDA</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What we will cover in 15 minutes</a:t>
            </a:r>
          </a:p>
        </p:txBody>
      </p:sp>
      <p:sp>
        <p:nvSpPr>
          <p:cNvPr id="5" name="TextBox 4"/>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6" name="TextBox 5"/>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2</a:t>
            </a:r>
          </a:p>
        </p:txBody>
      </p:sp>
      <p:sp>
        <p:nvSpPr>
          <p:cNvPr id="7" name="Rounded Rectangle 6"/>
          <p:cNvSpPr/>
          <p:nvPr/>
        </p:nvSpPr>
        <p:spPr>
          <a:xfrm>
            <a:off x="548640" y="1508760"/>
            <a:ext cx="86868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Calibri"/>
              </a:rPr>
              <a:t>01</a:t>
            </a:r>
          </a:p>
        </p:txBody>
      </p:sp>
      <p:sp>
        <p:nvSpPr>
          <p:cNvPr id="8" name="TextBox 7"/>
          <p:cNvSpPr txBox="1"/>
          <p:nvPr/>
        </p:nvSpPr>
        <p:spPr>
          <a:xfrm>
            <a:off x="1554480" y="1581912"/>
            <a:ext cx="4480560" cy="411480"/>
          </a:xfrm>
          <a:prstGeom prst="rect">
            <a:avLst/>
          </a:prstGeom>
          <a:noFill/>
        </p:spPr>
        <p:txBody>
          <a:bodyPr wrap="square" anchor="t" lIns="45720" rIns="45720">
            <a:spAutoFit/>
          </a:bodyPr>
          <a:lstStyle/>
          <a:p>
            <a:pPr algn="l"/>
            <a:r>
              <a:rPr sz="2000" b="1" i="0">
                <a:solidFill>
                  <a:srgbClr val="1F1B2E"/>
                </a:solidFill>
                <a:latin typeface="Calibri"/>
              </a:rPr>
              <a:t>System Overview</a:t>
            </a:r>
          </a:p>
        </p:txBody>
      </p:sp>
      <p:sp>
        <p:nvSpPr>
          <p:cNvPr id="9" name="TextBox 8"/>
          <p:cNvSpPr txBox="1"/>
          <p:nvPr/>
        </p:nvSpPr>
        <p:spPr>
          <a:xfrm>
            <a:off x="1554480" y="1984248"/>
            <a:ext cx="4480560" cy="411480"/>
          </a:xfrm>
          <a:prstGeom prst="rect">
            <a:avLst/>
          </a:prstGeom>
          <a:noFill/>
        </p:spPr>
        <p:txBody>
          <a:bodyPr wrap="square" anchor="t" lIns="45720" rIns="45720">
            <a:spAutoFit/>
          </a:bodyPr>
          <a:lstStyle/>
          <a:p>
            <a:pPr algn="l"/>
            <a:r>
              <a:rPr sz="1400" b="0" i="0">
                <a:solidFill>
                  <a:srgbClr val="5F5A6B"/>
                </a:solidFill>
                <a:latin typeface="Calibri"/>
              </a:rPr>
              <a:t>Vendor, positioning, why this system</a:t>
            </a:r>
          </a:p>
        </p:txBody>
      </p:sp>
      <p:sp>
        <p:nvSpPr>
          <p:cNvPr id="10" name="Rounded Rectangle 9"/>
          <p:cNvSpPr/>
          <p:nvPr/>
        </p:nvSpPr>
        <p:spPr>
          <a:xfrm>
            <a:off x="548640" y="2697480"/>
            <a:ext cx="86868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Calibri"/>
              </a:rPr>
              <a:t>02</a:t>
            </a:r>
          </a:p>
        </p:txBody>
      </p:sp>
      <p:sp>
        <p:nvSpPr>
          <p:cNvPr id="11" name="TextBox 10"/>
          <p:cNvSpPr txBox="1"/>
          <p:nvPr/>
        </p:nvSpPr>
        <p:spPr>
          <a:xfrm>
            <a:off x="1554480" y="2770632"/>
            <a:ext cx="4480560" cy="411480"/>
          </a:xfrm>
          <a:prstGeom prst="rect">
            <a:avLst/>
          </a:prstGeom>
          <a:noFill/>
        </p:spPr>
        <p:txBody>
          <a:bodyPr wrap="square" anchor="t" lIns="45720" rIns="45720">
            <a:spAutoFit/>
          </a:bodyPr>
          <a:lstStyle/>
          <a:p>
            <a:pPr algn="l"/>
            <a:r>
              <a:rPr sz="2000" b="1" i="0">
                <a:solidFill>
                  <a:srgbClr val="1F1B2E"/>
                </a:solidFill>
                <a:latin typeface="Calibri"/>
              </a:rPr>
              <a:t>Architecture &amp; Modules</a:t>
            </a:r>
          </a:p>
        </p:txBody>
      </p:sp>
      <p:sp>
        <p:nvSpPr>
          <p:cNvPr id="12" name="TextBox 11"/>
          <p:cNvSpPr txBox="1"/>
          <p:nvPr/>
        </p:nvSpPr>
        <p:spPr>
          <a:xfrm>
            <a:off x="1554480" y="3172968"/>
            <a:ext cx="4480560" cy="411480"/>
          </a:xfrm>
          <a:prstGeom prst="rect">
            <a:avLst/>
          </a:prstGeom>
          <a:noFill/>
        </p:spPr>
        <p:txBody>
          <a:bodyPr wrap="square" anchor="t" lIns="45720" rIns="45720">
            <a:spAutoFit/>
          </a:bodyPr>
          <a:lstStyle/>
          <a:p>
            <a:pPr algn="l"/>
            <a:r>
              <a:rPr sz="1400" b="0" i="0">
                <a:solidFill>
                  <a:srgbClr val="5F5A6B"/>
                </a:solidFill>
                <a:latin typeface="Calibri"/>
              </a:rPr>
              <a:t>Hub-and-spoke design, work areas, data model</a:t>
            </a:r>
          </a:p>
        </p:txBody>
      </p:sp>
      <p:sp>
        <p:nvSpPr>
          <p:cNvPr id="13" name="Rounded Rectangle 12"/>
          <p:cNvSpPr/>
          <p:nvPr/>
        </p:nvSpPr>
        <p:spPr>
          <a:xfrm>
            <a:off x="548640" y="3886200"/>
            <a:ext cx="86868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Calibri"/>
              </a:rPr>
              <a:t>03</a:t>
            </a:r>
          </a:p>
        </p:txBody>
      </p:sp>
      <p:sp>
        <p:nvSpPr>
          <p:cNvPr id="14" name="TextBox 13"/>
          <p:cNvSpPr txBox="1"/>
          <p:nvPr/>
        </p:nvSpPr>
        <p:spPr>
          <a:xfrm>
            <a:off x="1554480" y="3959352"/>
            <a:ext cx="4480560" cy="411480"/>
          </a:xfrm>
          <a:prstGeom prst="rect">
            <a:avLst/>
          </a:prstGeom>
          <a:noFill/>
        </p:spPr>
        <p:txBody>
          <a:bodyPr wrap="square" anchor="t" lIns="45720" rIns="45720">
            <a:spAutoFit/>
          </a:bodyPr>
          <a:lstStyle/>
          <a:p>
            <a:pPr algn="l"/>
            <a:r>
              <a:rPr sz="2000" b="1" i="0">
                <a:solidFill>
                  <a:srgbClr val="1F1B2E"/>
                </a:solidFill>
                <a:latin typeface="Calibri"/>
              </a:rPr>
              <a:t>Product Lifecycle</a:t>
            </a:r>
          </a:p>
        </p:txBody>
      </p:sp>
      <p:sp>
        <p:nvSpPr>
          <p:cNvPr id="15" name="TextBox 14"/>
          <p:cNvSpPr txBox="1"/>
          <p:nvPr/>
        </p:nvSpPr>
        <p:spPr>
          <a:xfrm>
            <a:off x="1554480" y="4361688"/>
            <a:ext cx="4480560" cy="411480"/>
          </a:xfrm>
          <a:prstGeom prst="rect">
            <a:avLst/>
          </a:prstGeom>
          <a:noFill/>
        </p:spPr>
        <p:txBody>
          <a:bodyPr wrap="square" anchor="t" lIns="45720" rIns="45720">
            <a:spAutoFit/>
          </a:bodyPr>
          <a:lstStyle/>
          <a:p>
            <a:pPr algn="l"/>
            <a:r>
              <a:rPr sz="1400" b="0" i="0">
                <a:solidFill>
                  <a:srgbClr val="5F5A6B"/>
                </a:solidFill>
                <a:latin typeface="Calibri"/>
              </a:rPr>
              <a:t>Idea  →  Launch  →  Revise  →  Retire</a:t>
            </a:r>
          </a:p>
        </p:txBody>
      </p:sp>
      <p:sp>
        <p:nvSpPr>
          <p:cNvPr id="16" name="Rounded Rectangle 15"/>
          <p:cNvSpPr/>
          <p:nvPr/>
        </p:nvSpPr>
        <p:spPr>
          <a:xfrm>
            <a:off x="548640" y="5074920"/>
            <a:ext cx="86868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Calibri"/>
              </a:rPr>
              <a:t>04</a:t>
            </a:r>
          </a:p>
        </p:txBody>
      </p:sp>
      <p:sp>
        <p:nvSpPr>
          <p:cNvPr id="17" name="TextBox 16"/>
          <p:cNvSpPr txBox="1"/>
          <p:nvPr/>
        </p:nvSpPr>
        <p:spPr>
          <a:xfrm>
            <a:off x="1554480" y="5148072"/>
            <a:ext cx="4480560" cy="411480"/>
          </a:xfrm>
          <a:prstGeom prst="rect">
            <a:avLst/>
          </a:prstGeom>
          <a:noFill/>
        </p:spPr>
        <p:txBody>
          <a:bodyPr wrap="square" anchor="t" lIns="45720" rIns="45720">
            <a:spAutoFit/>
          </a:bodyPr>
          <a:lstStyle/>
          <a:p>
            <a:pPr algn="l"/>
            <a:r>
              <a:rPr sz="2000" b="1" i="0">
                <a:solidFill>
                  <a:srgbClr val="1F1B2E"/>
                </a:solidFill>
                <a:latin typeface="Calibri"/>
              </a:rPr>
              <a:t>Key Features</a:t>
            </a:r>
          </a:p>
        </p:txBody>
      </p:sp>
      <p:sp>
        <p:nvSpPr>
          <p:cNvPr id="18" name="TextBox 17"/>
          <p:cNvSpPr txBox="1"/>
          <p:nvPr/>
        </p:nvSpPr>
        <p:spPr>
          <a:xfrm>
            <a:off x="1554480" y="5550408"/>
            <a:ext cx="4480560" cy="411480"/>
          </a:xfrm>
          <a:prstGeom prst="rect">
            <a:avLst/>
          </a:prstGeom>
          <a:noFill/>
        </p:spPr>
        <p:txBody>
          <a:bodyPr wrap="square" anchor="t" lIns="45720" rIns="45720">
            <a:spAutoFit/>
          </a:bodyPr>
          <a:lstStyle/>
          <a:p>
            <a:pPr algn="l"/>
            <a:r>
              <a:rPr sz="1400" b="0" i="0">
                <a:solidFill>
                  <a:srgbClr val="5F5A6B"/>
                </a:solidFill>
                <a:latin typeface="Calibri"/>
              </a:rPr>
              <a:t>Workflow, approvals, pricing, versioning, permissions</a:t>
            </a:r>
          </a:p>
        </p:txBody>
      </p:sp>
      <p:sp>
        <p:nvSpPr>
          <p:cNvPr id="19" name="Rounded Rectangle 18"/>
          <p:cNvSpPr/>
          <p:nvPr/>
        </p:nvSpPr>
        <p:spPr>
          <a:xfrm>
            <a:off x="6309359" y="1508760"/>
            <a:ext cx="86868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Calibri"/>
              </a:rPr>
              <a:t>05</a:t>
            </a:r>
          </a:p>
        </p:txBody>
      </p:sp>
      <p:sp>
        <p:nvSpPr>
          <p:cNvPr id="20" name="TextBox 19"/>
          <p:cNvSpPr txBox="1"/>
          <p:nvPr/>
        </p:nvSpPr>
        <p:spPr>
          <a:xfrm>
            <a:off x="7315200" y="1581912"/>
            <a:ext cx="4480560" cy="411480"/>
          </a:xfrm>
          <a:prstGeom prst="rect">
            <a:avLst/>
          </a:prstGeom>
          <a:noFill/>
        </p:spPr>
        <p:txBody>
          <a:bodyPr wrap="square" anchor="t" lIns="45720" rIns="45720">
            <a:spAutoFit/>
          </a:bodyPr>
          <a:lstStyle/>
          <a:p>
            <a:pPr algn="l"/>
            <a:r>
              <a:rPr sz="2000" b="1" i="0">
                <a:solidFill>
                  <a:srgbClr val="1F1B2E"/>
                </a:solidFill>
                <a:latin typeface="Calibri"/>
              </a:rPr>
              <a:t>CRM Integration</a:t>
            </a:r>
          </a:p>
        </p:txBody>
      </p:sp>
      <p:sp>
        <p:nvSpPr>
          <p:cNvPr id="21" name="TextBox 20"/>
          <p:cNvSpPr txBox="1"/>
          <p:nvPr/>
        </p:nvSpPr>
        <p:spPr>
          <a:xfrm>
            <a:off x="7315200" y="1984248"/>
            <a:ext cx="4480560" cy="411480"/>
          </a:xfrm>
          <a:prstGeom prst="rect">
            <a:avLst/>
          </a:prstGeom>
          <a:noFill/>
        </p:spPr>
        <p:txBody>
          <a:bodyPr wrap="square" anchor="t" lIns="45720" rIns="45720">
            <a:spAutoFit/>
          </a:bodyPr>
          <a:lstStyle/>
          <a:p>
            <a:pPr algn="l"/>
            <a:r>
              <a:rPr sz="1400" b="0" i="0">
                <a:solidFill>
                  <a:srgbClr val="5F5A6B"/>
                </a:solidFill>
                <a:latin typeface="Calibri"/>
              </a:rPr>
              <a:t>How offers are published to CRM, billing, provisioning</a:t>
            </a:r>
          </a:p>
        </p:txBody>
      </p:sp>
      <p:sp>
        <p:nvSpPr>
          <p:cNvPr id="22" name="Rounded Rectangle 21"/>
          <p:cNvSpPr/>
          <p:nvPr/>
        </p:nvSpPr>
        <p:spPr>
          <a:xfrm>
            <a:off x="6309359" y="2697480"/>
            <a:ext cx="86868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Calibri"/>
              </a:rPr>
              <a:t>06</a:t>
            </a:r>
          </a:p>
        </p:txBody>
      </p:sp>
      <p:sp>
        <p:nvSpPr>
          <p:cNvPr id="23" name="TextBox 22"/>
          <p:cNvSpPr txBox="1"/>
          <p:nvPr/>
        </p:nvSpPr>
        <p:spPr>
          <a:xfrm>
            <a:off x="7315200" y="2770632"/>
            <a:ext cx="4480560" cy="411480"/>
          </a:xfrm>
          <a:prstGeom prst="rect">
            <a:avLst/>
          </a:prstGeom>
          <a:noFill/>
        </p:spPr>
        <p:txBody>
          <a:bodyPr wrap="square" anchor="t" lIns="45720" rIns="45720">
            <a:spAutoFit/>
          </a:bodyPr>
          <a:lstStyle/>
          <a:p>
            <a:pPr algn="l"/>
            <a:r>
              <a:rPr sz="2000" b="1" i="0">
                <a:solidFill>
                  <a:srgbClr val="1F1B2E"/>
                </a:solidFill>
                <a:latin typeface="Calibri"/>
              </a:rPr>
              <a:t>Telecom Use Case</a:t>
            </a:r>
          </a:p>
        </p:txBody>
      </p:sp>
      <p:sp>
        <p:nvSpPr>
          <p:cNvPr id="24" name="TextBox 23"/>
          <p:cNvSpPr txBox="1"/>
          <p:nvPr/>
        </p:nvSpPr>
        <p:spPr>
          <a:xfrm>
            <a:off x="7315200" y="3172968"/>
            <a:ext cx="4480560" cy="411480"/>
          </a:xfrm>
          <a:prstGeom prst="rect">
            <a:avLst/>
          </a:prstGeom>
          <a:noFill/>
        </p:spPr>
        <p:txBody>
          <a:bodyPr wrap="square" anchor="t" lIns="45720" rIns="45720">
            <a:spAutoFit/>
          </a:bodyPr>
          <a:lstStyle/>
          <a:p>
            <a:pPr algn="l"/>
            <a:r>
              <a:rPr sz="1400" b="0" i="0">
                <a:solidFill>
                  <a:srgbClr val="5F5A6B"/>
                </a:solidFill>
                <a:latin typeface="Calibri"/>
              </a:rPr>
              <a:t>Launching a home fiber bundle and retiring an old package</a:t>
            </a:r>
          </a:p>
        </p:txBody>
      </p:sp>
      <p:sp>
        <p:nvSpPr>
          <p:cNvPr id="25" name="Rounded Rectangle 24"/>
          <p:cNvSpPr/>
          <p:nvPr/>
        </p:nvSpPr>
        <p:spPr>
          <a:xfrm>
            <a:off x="6309359" y="3886200"/>
            <a:ext cx="86868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400" b="1" i="0">
                <a:solidFill>
                  <a:srgbClr val="FFFFFF"/>
                </a:solidFill>
                <a:latin typeface="Calibri"/>
              </a:rPr>
              <a:t>07</a:t>
            </a:r>
          </a:p>
        </p:txBody>
      </p:sp>
      <p:sp>
        <p:nvSpPr>
          <p:cNvPr id="26" name="TextBox 25"/>
          <p:cNvSpPr txBox="1"/>
          <p:nvPr/>
        </p:nvSpPr>
        <p:spPr>
          <a:xfrm>
            <a:off x="7315200" y="3959352"/>
            <a:ext cx="4480560" cy="411480"/>
          </a:xfrm>
          <a:prstGeom prst="rect">
            <a:avLst/>
          </a:prstGeom>
          <a:noFill/>
        </p:spPr>
        <p:txBody>
          <a:bodyPr wrap="square" anchor="t" lIns="45720" rIns="45720">
            <a:spAutoFit/>
          </a:bodyPr>
          <a:lstStyle/>
          <a:p>
            <a:pPr algn="l"/>
            <a:r>
              <a:rPr sz="2000" b="1" i="0">
                <a:solidFill>
                  <a:srgbClr val="1F1B2E"/>
                </a:solidFill>
                <a:latin typeface="Calibri"/>
              </a:rPr>
              <a:t>Conclusion</a:t>
            </a:r>
          </a:p>
        </p:txBody>
      </p:sp>
      <p:sp>
        <p:nvSpPr>
          <p:cNvPr id="27" name="TextBox 26"/>
          <p:cNvSpPr txBox="1"/>
          <p:nvPr/>
        </p:nvSpPr>
        <p:spPr>
          <a:xfrm>
            <a:off x="7315200" y="4361688"/>
            <a:ext cx="4480560" cy="411480"/>
          </a:xfrm>
          <a:prstGeom prst="rect">
            <a:avLst/>
          </a:prstGeom>
          <a:noFill/>
        </p:spPr>
        <p:txBody>
          <a:bodyPr wrap="square" anchor="t" lIns="45720" rIns="45720">
            <a:spAutoFit/>
          </a:bodyPr>
          <a:lstStyle/>
          <a:p>
            <a:pPr algn="l"/>
            <a:r>
              <a:rPr sz="1400" b="0" i="0">
                <a:solidFill>
                  <a:srgbClr val="5F5A6B"/>
                </a:solidFill>
                <a:latin typeface="Calibri"/>
              </a:rPr>
              <a:t>What we should build in our own PLC</a:t>
            </a:r>
          </a:p>
        </p:txBody>
      </p:sp>
      <p:sp>
        <p:nvSpPr>
          <p:cNvPr id="28" name="Rounded Rectangle 27"/>
          <p:cNvSpPr/>
          <p:nvPr/>
        </p:nvSpPr>
        <p:spPr>
          <a:xfrm>
            <a:off x="6309360" y="5074920"/>
            <a:ext cx="5394960" cy="91440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Why this system?</a:t>
            </a:r>
          </a:p>
          <a:p>
            <a:pPr algn="ctr"/>
            <a:r>
              <a:rPr sz="1300" b="0" i="0">
                <a:solidFill>
                  <a:srgbClr val="1F1B2E"/>
                </a:solidFill>
                <a:latin typeface="Calibri"/>
              </a:rPr>
              <a:t>Telecom-specific, TM Forum-aligned, and fully documented in public, so every claim here can be checked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01  SYSTEM OVERVIEW</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Oracle Communications Launch Cloud Service</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A cloud (SaaS) catalog and offer-design hub built for communications service providers</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3</a:t>
            </a:r>
          </a:p>
        </p:txBody>
      </p:sp>
      <p:graphicFrame>
        <p:nvGraphicFramePr>
          <p:cNvPr id="8" name="Table 7"/>
          <p:cNvGraphicFramePr>
            <a:graphicFrameLocks noGrp="1"/>
          </p:cNvGraphicFramePr>
          <p:nvPr/>
        </p:nvGraphicFramePr>
        <p:xfrm>
          <a:off x="548640" y="1691640"/>
          <a:ext cx="6949440" cy="3968496"/>
        </p:xfrm>
        <a:graphic>
          <a:graphicData uri="http://schemas.openxmlformats.org/drawingml/2006/table">
            <a:tbl>
              <a:tblPr firstRow="1" bandRow="1">
                <a:tableStyleId>{5C22544A-7EE6-4342-B048-85BDC9FD1C3A}</a:tableStyleId>
              </a:tblPr>
              <a:tblGrid>
                <a:gridCol w="1554480"/>
                <a:gridCol w="5394960"/>
              </a:tblGrid>
              <a:tr h="566928">
                <a:tc>
                  <a:txBody>
                    <a:bodyPr wrap="square"/>
                    <a:lstStyle/>
                    <a:p>
                      <a:r>
                        <a:rPr sz="1300" b="1" i="0">
                          <a:solidFill>
                            <a:srgbClr val="FFFFFF"/>
                          </a:solidFill>
                          <a:latin typeface="Calibri"/>
                        </a:rPr>
                        <a:t>Item</a:t>
                      </a:r>
                    </a:p>
                  </a:txBody>
                  <a:tcPr marL="54864" marR="54864" marT="27432" marB="27432" anchor="ctr">
                    <a:solidFill>
                      <a:srgbClr val="5B2C83"/>
                    </a:solidFill>
                  </a:tcPr>
                </a:tc>
                <a:tc>
                  <a:txBody>
                    <a:bodyPr wrap="square"/>
                    <a:lstStyle/>
                    <a:p>
                      <a:r>
                        <a:rPr sz="1300" b="1" i="0">
                          <a:solidFill>
                            <a:srgbClr val="FFFFFF"/>
                          </a:solidFill>
                          <a:latin typeface="Calibri"/>
                        </a:rPr>
                        <a:t>Details</a:t>
                      </a:r>
                    </a:p>
                  </a:txBody>
                  <a:tcPr marL="54864" marR="54864" marT="27432" marB="27432" anchor="ctr">
                    <a:solidFill>
                      <a:srgbClr val="5B2C83"/>
                    </a:solidFill>
                  </a:tcPr>
                </a:tc>
              </a:tr>
              <a:tr h="566928">
                <a:tc>
                  <a:txBody>
                    <a:bodyPr wrap="square"/>
                    <a:lstStyle/>
                    <a:p>
                      <a:r>
                        <a:rPr sz="1300" b="1" i="0">
                          <a:solidFill>
                            <a:srgbClr val="1F1B2E"/>
                          </a:solidFill>
                          <a:latin typeface="Calibri"/>
                        </a:rPr>
                        <a:t>Vendor</a:t>
                      </a:r>
                    </a:p>
                  </a:txBody>
                  <a:tcPr marL="54864" marR="54864" marT="27432" marB="27432" anchor="ctr">
                    <a:solidFill>
                      <a:srgbClr val="F4F3F7"/>
                    </a:solidFill>
                  </a:tcPr>
                </a:tc>
                <a:tc>
                  <a:txBody>
                    <a:bodyPr wrap="square"/>
                    <a:lstStyle/>
                    <a:p>
                      <a:r>
                        <a:rPr sz="1300" b="0" i="0">
                          <a:solidFill>
                            <a:srgbClr val="1F1B2E"/>
                          </a:solidFill>
                          <a:latin typeface="Calibri"/>
                        </a:rPr>
                        <a:t>Oracle, as part of the Oracle Communications portfolio (runs on Oracle Fusion Cloud)</a:t>
                      </a:r>
                    </a:p>
                  </a:txBody>
                  <a:tcPr marL="54864" marR="54864" marT="27432" marB="27432" anchor="ctr">
                    <a:solidFill>
                      <a:srgbClr val="F4F3F7"/>
                    </a:solidFill>
                  </a:tcPr>
                </a:tc>
              </a:tr>
              <a:tr h="566928">
                <a:tc>
                  <a:txBody>
                    <a:bodyPr wrap="square"/>
                    <a:lstStyle/>
                    <a:p>
                      <a:r>
                        <a:rPr sz="1300" b="1" i="0">
                          <a:solidFill>
                            <a:srgbClr val="1F1B2E"/>
                          </a:solidFill>
                          <a:latin typeface="Calibri"/>
                        </a:rPr>
                        <a:t>Category</a:t>
                      </a:r>
                    </a:p>
                  </a:txBody>
                  <a:tcPr marL="54864" marR="54864" marT="27432" marB="27432" anchor="ctr">
                    <a:solidFill>
                      <a:srgbClr val="FFFFFF"/>
                    </a:solidFill>
                  </a:tcPr>
                </a:tc>
                <a:tc>
                  <a:txBody>
                    <a:bodyPr wrap="square"/>
                    <a:lstStyle/>
                    <a:p>
                      <a:r>
                        <a:rPr sz="1300" b="0" i="0">
                          <a:solidFill>
                            <a:srgbClr val="1F1B2E"/>
                          </a:solidFill>
                          <a:latin typeface="Calibri"/>
                        </a:rPr>
                        <a:t>Product catalog &amp; offer lifecycle management (design-time catalog hub)</a:t>
                      </a:r>
                    </a:p>
                  </a:txBody>
                  <a:tcPr marL="54864" marR="54864" marT="27432" marB="27432" anchor="ctr">
                    <a:solidFill>
                      <a:srgbClr val="FFFFFF"/>
                    </a:solidFill>
                  </a:tcPr>
                </a:tc>
              </a:tr>
              <a:tr h="566928">
                <a:tc>
                  <a:txBody>
                    <a:bodyPr wrap="square"/>
                    <a:lstStyle/>
                    <a:p>
                      <a:r>
                        <a:rPr sz="1300" b="1" i="0">
                          <a:solidFill>
                            <a:srgbClr val="1F1B2E"/>
                          </a:solidFill>
                          <a:latin typeface="Calibri"/>
                        </a:rPr>
                        <a:t>Main users</a:t>
                      </a:r>
                    </a:p>
                  </a:txBody>
                  <a:tcPr marL="54864" marR="54864" marT="27432" marB="27432" anchor="ctr">
                    <a:solidFill>
                      <a:srgbClr val="F4F3F7"/>
                    </a:solidFill>
                  </a:tcPr>
                </a:tc>
                <a:tc>
                  <a:txBody>
                    <a:bodyPr wrap="square"/>
                    <a:lstStyle/>
                    <a:p>
                      <a:r>
                        <a:rPr sz="1300" b="0" i="0">
                          <a:solidFill>
                            <a:srgbClr val="1F1B2E"/>
                          </a:solidFill>
                          <a:latin typeface="Calibri"/>
                        </a:rPr>
                        <a:t>Marketing, product managers, product specialists, catalog admins</a:t>
                      </a:r>
                    </a:p>
                  </a:txBody>
                  <a:tcPr marL="54864" marR="54864" marT="27432" marB="27432" anchor="ctr">
                    <a:solidFill>
                      <a:srgbClr val="F4F3F7"/>
                    </a:solidFill>
                  </a:tcPr>
                </a:tc>
              </a:tr>
              <a:tr h="566928">
                <a:tc>
                  <a:txBody>
                    <a:bodyPr wrap="square"/>
                    <a:lstStyle/>
                    <a:p>
                      <a:r>
                        <a:rPr sz="1300" b="1" i="0">
                          <a:solidFill>
                            <a:srgbClr val="1F1B2E"/>
                          </a:solidFill>
                          <a:latin typeface="Calibri"/>
                        </a:rPr>
                        <a:t>Core job</a:t>
                      </a:r>
                    </a:p>
                  </a:txBody>
                  <a:tcPr marL="54864" marR="54864" marT="27432" marB="27432" anchor="ctr">
                    <a:solidFill>
                      <a:srgbClr val="FFFFFF"/>
                    </a:solidFill>
                  </a:tcPr>
                </a:tc>
                <a:tc>
                  <a:txBody>
                    <a:bodyPr wrap="square"/>
                    <a:lstStyle/>
                    <a:p>
                      <a:r>
                        <a:rPr sz="1300" b="0" i="0">
                          <a:solidFill>
                            <a:srgbClr val="1F1B2E"/>
                          </a:solidFill>
                          <a:latin typeface="Calibri"/>
                        </a:rPr>
                        <a:t>Design offers once, govern them through a lifecycle, then publish them to CRM, billing and provisioning</a:t>
                      </a:r>
                    </a:p>
                  </a:txBody>
                  <a:tcPr marL="54864" marR="54864" marT="27432" marB="27432" anchor="ctr">
                    <a:solidFill>
                      <a:srgbClr val="FFFFFF"/>
                    </a:solidFill>
                  </a:tcPr>
                </a:tc>
              </a:tr>
              <a:tr h="566928">
                <a:tc>
                  <a:txBody>
                    <a:bodyPr wrap="square"/>
                    <a:lstStyle/>
                    <a:p>
                      <a:r>
                        <a:rPr sz="1300" b="1" i="0">
                          <a:solidFill>
                            <a:srgbClr val="1F1B2E"/>
                          </a:solidFill>
                          <a:latin typeface="Calibri"/>
                        </a:rPr>
                        <a:t>Standards</a:t>
                      </a:r>
                    </a:p>
                  </a:txBody>
                  <a:tcPr marL="54864" marR="54864" marT="27432" marB="27432" anchor="ctr">
                    <a:solidFill>
                      <a:srgbClr val="F4F3F7"/>
                    </a:solidFill>
                  </a:tcPr>
                </a:tc>
                <a:tc>
                  <a:txBody>
                    <a:bodyPr wrap="square"/>
                    <a:lstStyle/>
                    <a:p>
                      <a:r>
                        <a:rPr sz="1300" b="0" i="0">
                          <a:solidFill>
                            <a:srgbClr val="1F1B2E"/>
                          </a:solidFill>
                          <a:latin typeface="Calibri"/>
                        </a:rPr>
                        <a:t>REST APIs modelled on TM Forum TMF620 (Product Catalog Management)</a:t>
                      </a:r>
                    </a:p>
                  </a:txBody>
                  <a:tcPr marL="54864" marR="54864" marT="27432" marB="27432" anchor="ctr">
                    <a:solidFill>
                      <a:srgbClr val="F4F3F7"/>
                    </a:solidFill>
                  </a:tcPr>
                </a:tc>
              </a:tr>
              <a:tr h="566928">
                <a:tc>
                  <a:txBody>
                    <a:bodyPr wrap="square"/>
                    <a:lstStyle/>
                    <a:p>
                      <a:r>
                        <a:rPr sz="1300" b="1" i="0">
                          <a:solidFill>
                            <a:srgbClr val="1F1B2E"/>
                          </a:solidFill>
                          <a:latin typeface="Calibri"/>
                        </a:rPr>
                        <a:t>Release model</a:t>
                      </a:r>
                    </a:p>
                  </a:txBody>
                  <a:tcPr marL="54864" marR="54864" marT="27432" marB="27432" anchor="ctr">
                    <a:solidFill>
                      <a:srgbClr val="FFFFFF"/>
                    </a:solidFill>
                  </a:tcPr>
                </a:tc>
                <a:tc>
                  <a:txBody>
                    <a:bodyPr wrap="square"/>
                    <a:lstStyle/>
                    <a:p>
                      <a:r>
                        <a:rPr sz="1300" b="0" i="0">
                          <a:solidFill>
                            <a:srgbClr val="1F1B2E"/>
                          </a:solidFill>
                          <a:latin typeface="Calibri"/>
                        </a:rPr>
                        <a:t>Quarterly SaaS updates (e.g. 26A, 26B, 26C), including AI offer validation</a:t>
                      </a:r>
                    </a:p>
                  </a:txBody>
                  <a:tcPr marL="54864" marR="54864" marT="27432" marB="27432" anchor="ctr">
                    <a:solidFill>
                      <a:srgbClr val="FFFFFF"/>
                    </a:solidFill>
                  </a:tcPr>
                </a:tc>
              </a:tr>
            </a:tbl>
          </a:graphicData>
        </a:graphic>
      </p:graphicFrame>
      <p:sp>
        <p:nvSpPr>
          <p:cNvPr id="9" name="Rounded Rectangle 8"/>
          <p:cNvSpPr/>
          <p:nvPr/>
        </p:nvSpPr>
        <p:spPr>
          <a:xfrm>
            <a:off x="7863840" y="1691640"/>
            <a:ext cx="384048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Problems it solves</a:t>
            </a:r>
          </a:p>
        </p:txBody>
      </p:sp>
      <p:sp>
        <p:nvSpPr>
          <p:cNvPr id="10" name="TextBox 9"/>
          <p:cNvSpPr txBox="1"/>
          <p:nvPr/>
        </p:nvSpPr>
        <p:spPr>
          <a:xfrm>
            <a:off x="7863840" y="2240280"/>
            <a:ext cx="3886200" cy="3840480"/>
          </a:xfrm>
          <a:prstGeom prst="rect">
            <a:avLst/>
          </a:prstGeom>
          <a:noFill/>
        </p:spPr>
        <p:txBody>
          <a:bodyPr wrap="square">
            <a:spAutoFit/>
          </a:bodyPr>
          <a:lstStyle/>
          <a:p>
            <a:pPr>
              <a:spcAft>
                <a:spcPts val="600"/>
              </a:spcAft>
            </a:pPr>
            <a:r>
              <a:rPr sz="1100" b="0" i="0">
                <a:solidFill>
                  <a:srgbClr val="5B2C83"/>
                </a:solidFill>
                <a:latin typeface="Calibri"/>
              </a:rPr>
              <a:t>■  </a:t>
            </a:r>
            <a:r>
              <a:rPr sz="1500" b="0" i="0">
                <a:solidFill>
                  <a:srgbClr val="1F1B2E"/>
                </a:solidFill>
                <a:latin typeface="Calibri"/>
              </a:rPr>
              <a:t>Slow time-to-market for new offers</a:t>
            </a:r>
          </a:p>
          <a:p>
            <a:pPr>
              <a:spcAft>
                <a:spcPts val="600"/>
              </a:spcAft>
            </a:pPr>
            <a:r>
              <a:rPr sz="1100" b="0" i="0">
                <a:solidFill>
                  <a:srgbClr val="5B2C83"/>
                </a:solidFill>
                <a:latin typeface="Calibri"/>
              </a:rPr>
              <a:t>■  </a:t>
            </a:r>
            <a:r>
              <a:rPr sz="1500" b="0" i="0">
                <a:solidFill>
                  <a:srgbClr val="1F1B2E"/>
                </a:solidFill>
                <a:latin typeface="Calibri"/>
              </a:rPr>
              <a:t>The same product defined differently in CRM, billing and network</a:t>
            </a:r>
          </a:p>
          <a:p>
            <a:pPr>
              <a:spcAft>
                <a:spcPts val="600"/>
              </a:spcAft>
            </a:pPr>
            <a:r>
              <a:rPr sz="1100" b="0" i="0">
                <a:solidFill>
                  <a:srgbClr val="5B2C83"/>
                </a:solidFill>
                <a:latin typeface="Calibri"/>
              </a:rPr>
              <a:t>■  </a:t>
            </a:r>
            <a:r>
              <a:rPr sz="1500" b="0" i="0">
                <a:solidFill>
                  <a:srgbClr val="1F1B2E"/>
                </a:solidFill>
                <a:latin typeface="Calibri"/>
              </a:rPr>
              <a:t>Approvals by email with no audit trail</a:t>
            </a:r>
          </a:p>
          <a:p>
            <a:pPr>
              <a:spcAft>
                <a:spcPts val="600"/>
              </a:spcAft>
            </a:pPr>
            <a:r>
              <a:rPr sz="1100" b="0" i="0">
                <a:solidFill>
                  <a:srgbClr val="5B2C83"/>
                </a:solidFill>
                <a:latin typeface="Calibri"/>
              </a:rPr>
              <a:t>■  </a:t>
            </a:r>
            <a:r>
              <a:rPr sz="1500" b="0" i="0">
                <a:solidFill>
                  <a:srgbClr val="1F1B2E"/>
                </a:solidFill>
                <a:latin typeface="Calibri"/>
              </a:rPr>
              <a:t>Old offers never retired, so the catalog keeps growing</a:t>
            </a:r>
          </a:p>
          <a:p>
            <a:pPr>
              <a:spcAft>
                <a:spcPts val="600"/>
              </a:spcAft>
            </a:pPr>
            <a:r>
              <a:rPr sz="1100" b="0" i="0">
                <a:solidFill>
                  <a:srgbClr val="5B2C83"/>
                </a:solidFill>
                <a:latin typeface="Calibri"/>
              </a:rPr>
              <a:t>■  </a:t>
            </a:r>
            <a:r>
              <a:rPr sz="1500" b="0" i="0">
                <a:solidFill>
                  <a:srgbClr val="1F1B2E"/>
                </a:solidFill>
                <a:latin typeface="Calibri"/>
              </a:rPr>
              <a:t>No controlled way to move customers from old plans to new 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02  ARCHITECTURE</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Hub-and-spoke: design once, publish everywhere</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Launch is the design-time master; downstream systems consume what it publishes</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4</a:t>
            </a:r>
          </a:p>
        </p:txBody>
      </p:sp>
      <p:sp>
        <p:nvSpPr>
          <p:cNvPr id="8" name="Rounded Rectangle 7"/>
          <p:cNvSpPr/>
          <p:nvPr/>
        </p:nvSpPr>
        <p:spPr>
          <a:xfrm>
            <a:off x="548640" y="1737360"/>
            <a:ext cx="2377440" cy="411480"/>
          </a:xfrm>
          <a:prstGeom prst="roundRect">
            <a:avLst>
              <a:gd name="adj" fmla="val 12000"/>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Who / what feeds it</a:t>
            </a:r>
          </a:p>
        </p:txBody>
      </p:sp>
      <p:sp>
        <p:nvSpPr>
          <p:cNvPr id="9" name="Rounded Rectangle 8"/>
          <p:cNvSpPr/>
          <p:nvPr/>
        </p:nvSpPr>
        <p:spPr>
          <a:xfrm>
            <a:off x="548640" y="2286000"/>
            <a:ext cx="2377440" cy="868680"/>
          </a:xfrm>
          <a:prstGeom prst="roundRect">
            <a:avLst>
              <a:gd name="adj" fmla="val 12000"/>
            </a:avLst>
          </a:prstGeom>
          <a:solidFill>
            <a:srgbClr val="F4F3F7"/>
          </a:solidFill>
          <a:ln w="15875">
            <a:solidFill>
              <a:srgbClr val="5F5A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i="0">
                <a:solidFill>
                  <a:srgbClr val="1F1B2E"/>
                </a:solidFill>
                <a:latin typeface="Calibri"/>
              </a:rPr>
              <a:t>Marketing &amp; product teams (web UI, guided flows)</a:t>
            </a:r>
          </a:p>
        </p:txBody>
      </p:sp>
      <p:sp>
        <p:nvSpPr>
          <p:cNvPr id="10" name="Rounded Rectangle 9"/>
          <p:cNvSpPr/>
          <p:nvPr/>
        </p:nvSpPr>
        <p:spPr>
          <a:xfrm>
            <a:off x="548640" y="3337560"/>
            <a:ext cx="2377440" cy="868680"/>
          </a:xfrm>
          <a:prstGeom prst="roundRect">
            <a:avLst>
              <a:gd name="adj" fmla="val 12000"/>
            </a:avLst>
          </a:prstGeom>
          <a:solidFill>
            <a:srgbClr val="F4F3F7"/>
          </a:solidFill>
          <a:ln w="15875">
            <a:solidFill>
              <a:srgbClr val="5F5A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i="0">
                <a:solidFill>
                  <a:srgbClr val="1F1B2E"/>
                </a:solidFill>
                <a:latin typeface="Calibri"/>
              </a:rPr>
              <a:t>REST APIs (TMF620-style)</a:t>
            </a:r>
          </a:p>
        </p:txBody>
      </p:sp>
      <p:sp>
        <p:nvSpPr>
          <p:cNvPr id="11" name="Rounded Rectangle 10"/>
          <p:cNvSpPr/>
          <p:nvPr/>
        </p:nvSpPr>
        <p:spPr>
          <a:xfrm>
            <a:off x="548640" y="4389120"/>
            <a:ext cx="2377440" cy="868680"/>
          </a:xfrm>
          <a:prstGeom prst="roundRect">
            <a:avLst>
              <a:gd name="adj" fmla="val 12000"/>
            </a:avLst>
          </a:prstGeom>
          <a:solidFill>
            <a:srgbClr val="F4F3F7"/>
          </a:solidFill>
          <a:ln w="15875">
            <a:solidFill>
              <a:srgbClr val="5F5A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i="0">
                <a:solidFill>
                  <a:srgbClr val="1F1B2E"/>
                </a:solidFill>
                <a:latin typeface="Calibri"/>
              </a:rPr>
              <a:t>One-time import of the existing catalog (e.g. from CRM)</a:t>
            </a:r>
          </a:p>
        </p:txBody>
      </p:sp>
      <p:sp>
        <p:nvSpPr>
          <p:cNvPr id="12" name="Right Arrow 11"/>
          <p:cNvSpPr/>
          <p:nvPr/>
        </p:nvSpPr>
        <p:spPr>
          <a:xfrm>
            <a:off x="3063240" y="3291840"/>
            <a:ext cx="548640" cy="292608"/>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49039" y="1737360"/>
            <a:ext cx="3931920" cy="4206240"/>
          </a:xfrm>
          <a:prstGeom prst="roundRect">
            <a:avLst>
              <a:gd name="adj" fmla="val 12000"/>
            </a:avLst>
          </a:prstGeom>
          <a:solidFill>
            <a:srgbClr val="EEE7F5"/>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
            </a:r>
          </a:p>
        </p:txBody>
      </p:sp>
      <p:sp>
        <p:nvSpPr>
          <p:cNvPr id="14" name="TextBox 13"/>
          <p:cNvSpPr txBox="1"/>
          <p:nvPr/>
        </p:nvSpPr>
        <p:spPr>
          <a:xfrm>
            <a:off x="3840480" y="1810512"/>
            <a:ext cx="3749039" cy="365760"/>
          </a:xfrm>
          <a:prstGeom prst="rect">
            <a:avLst/>
          </a:prstGeom>
          <a:noFill/>
        </p:spPr>
        <p:txBody>
          <a:bodyPr wrap="square" anchor="t" lIns="45720" rIns="45720">
            <a:spAutoFit/>
          </a:bodyPr>
          <a:lstStyle/>
          <a:p>
            <a:pPr algn="ctr"/>
            <a:r>
              <a:rPr sz="1500" b="1" i="0">
                <a:solidFill>
                  <a:srgbClr val="5B2C83"/>
                </a:solidFill>
                <a:latin typeface="Calibri"/>
              </a:rPr>
              <a:t>LAUNCH CLOUD SERVICE</a:t>
            </a:r>
          </a:p>
        </p:txBody>
      </p:sp>
      <p:sp>
        <p:nvSpPr>
          <p:cNvPr id="15" name="Rounded Rectangle 14"/>
          <p:cNvSpPr/>
          <p:nvPr/>
        </p:nvSpPr>
        <p:spPr>
          <a:xfrm>
            <a:off x="3931920" y="2240280"/>
            <a:ext cx="3566160" cy="438912"/>
          </a:xfrm>
          <a:prstGeom prst="roundRect">
            <a:avLst>
              <a:gd name="adj" fmla="val 12000"/>
            </a:avLst>
          </a:prstGeom>
          <a:solidFill>
            <a:srgbClr val="FFFFFF"/>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solidFill>
                  <a:srgbClr val="1F1B2E"/>
                </a:solidFill>
                <a:latin typeface="Calibri"/>
              </a:rPr>
              <a:t>Initiatives (projects &amp; approvals)</a:t>
            </a:r>
          </a:p>
        </p:txBody>
      </p:sp>
      <p:sp>
        <p:nvSpPr>
          <p:cNvPr id="16" name="Rounded Rectangle 15"/>
          <p:cNvSpPr/>
          <p:nvPr/>
        </p:nvSpPr>
        <p:spPr>
          <a:xfrm>
            <a:off x="3931920" y="2761488"/>
            <a:ext cx="3566160" cy="438912"/>
          </a:xfrm>
          <a:prstGeom prst="roundRect">
            <a:avLst>
              <a:gd name="adj" fmla="val 12000"/>
            </a:avLst>
          </a:prstGeom>
          <a:solidFill>
            <a:srgbClr val="FFFFFF"/>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solidFill>
                  <a:srgbClr val="1F1B2E"/>
                </a:solidFill>
                <a:latin typeface="Calibri"/>
              </a:rPr>
              <a:t>Offer &amp; Promotion Management</a:t>
            </a:r>
          </a:p>
        </p:txBody>
      </p:sp>
      <p:sp>
        <p:nvSpPr>
          <p:cNvPr id="17" name="Rounded Rectangle 16"/>
          <p:cNvSpPr/>
          <p:nvPr/>
        </p:nvSpPr>
        <p:spPr>
          <a:xfrm>
            <a:off x="3931920" y="3282696"/>
            <a:ext cx="3566160" cy="438912"/>
          </a:xfrm>
          <a:prstGeom prst="roundRect">
            <a:avLst>
              <a:gd name="adj" fmla="val 12000"/>
            </a:avLst>
          </a:prstGeom>
          <a:solidFill>
            <a:srgbClr val="FFFFFF"/>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solidFill>
                  <a:srgbClr val="1F1B2E"/>
                </a:solidFill>
                <a:latin typeface="Calibri"/>
              </a:rPr>
              <a:t>Workbench (product/service specs)</a:t>
            </a:r>
          </a:p>
        </p:txBody>
      </p:sp>
      <p:sp>
        <p:nvSpPr>
          <p:cNvPr id="18" name="Rounded Rectangle 17"/>
          <p:cNvSpPr/>
          <p:nvPr/>
        </p:nvSpPr>
        <p:spPr>
          <a:xfrm>
            <a:off x="3931920" y="3803904"/>
            <a:ext cx="3566160" cy="438912"/>
          </a:xfrm>
          <a:prstGeom prst="roundRect">
            <a:avLst>
              <a:gd name="adj" fmla="val 12000"/>
            </a:avLst>
          </a:prstGeom>
          <a:solidFill>
            <a:srgbClr val="FFFFFF"/>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solidFill>
                  <a:srgbClr val="1F1B2E"/>
                </a:solidFill>
                <a:latin typeface="Calibri"/>
              </a:rPr>
              <a:t>Pricing &amp; Price Lists</a:t>
            </a:r>
          </a:p>
        </p:txBody>
      </p:sp>
      <p:sp>
        <p:nvSpPr>
          <p:cNvPr id="19" name="Rounded Rectangle 18"/>
          <p:cNvSpPr/>
          <p:nvPr/>
        </p:nvSpPr>
        <p:spPr>
          <a:xfrm>
            <a:off x="3931920" y="4325112"/>
            <a:ext cx="3566160" cy="438912"/>
          </a:xfrm>
          <a:prstGeom prst="roundRect">
            <a:avLst>
              <a:gd name="adj" fmla="val 12000"/>
            </a:avLst>
          </a:prstGeom>
          <a:solidFill>
            <a:srgbClr val="FFFFFF"/>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solidFill>
                  <a:srgbClr val="1F1B2E"/>
                </a:solidFill>
                <a:latin typeface="Calibri"/>
              </a:rPr>
              <a:t>Rules (eligibility, compatibility, migration)</a:t>
            </a:r>
          </a:p>
        </p:txBody>
      </p:sp>
      <p:sp>
        <p:nvSpPr>
          <p:cNvPr id="20" name="Rounded Rectangle 19"/>
          <p:cNvSpPr/>
          <p:nvPr/>
        </p:nvSpPr>
        <p:spPr>
          <a:xfrm>
            <a:off x="3931920" y="4846320"/>
            <a:ext cx="3566160" cy="438912"/>
          </a:xfrm>
          <a:prstGeom prst="roundRect">
            <a:avLst>
              <a:gd name="adj" fmla="val 12000"/>
            </a:avLst>
          </a:prstGeom>
          <a:solidFill>
            <a:srgbClr val="FFFFFF"/>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solidFill>
                  <a:srgbClr val="1F1B2E"/>
                </a:solidFill>
                <a:latin typeface="Calibri"/>
              </a:rPr>
              <a:t>Lifecycle &amp; Publishing Admin</a:t>
            </a:r>
          </a:p>
        </p:txBody>
      </p:sp>
      <p:sp>
        <p:nvSpPr>
          <p:cNvPr id="21" name="Rounded Rectangle 20"/>
          <p:cNvSpPr/>
          <p:nvPr/>
        </p:nvSpPr>
        <p:spPr>
          <a:xfrm>
            <a:off x="3931920" y="5367528"/>
            <a:ext cx="3566160" cy="438912"/>
          </a:xfrm>
          <a:prstGeom prst="roundRect">
            <a:avLst>
              <a:gd name="adj" fmla="val 12000"/>
            </a:avLst>
          </a:prstGeom>
          <a:solidFill>
            <a:srgbClr val="FFFFFF"/>
          </a:solidFill>
          <a:ln w="15875">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solidFill>
                  <a:srgbClr val="1F1B2E"/>
                </a:solidFill>
                <a:latin typeface="Calibri"/>
              </a:rPr>
              <a:t>Reports / Dashboards</a:t>
            </a:r>
          </a:p>
        </p:txBody>
      </p:sp>
      <p:sp>
        <p:nvSpPr>
          <p:cNvPr id="22" name="Right Arrow 21"/>
          <p:cNvSpPr/>
          <p:nvPr/>
        </p:nvSpPr>
        <p:spPr>
          <a:xfrm>
            <a:off x="7818120" y="3291840"/>
            <a:ext cx="548640" cy="292608"/>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58200" y="1737360"/>
            <a:ext cx="868680" cy="4206240"/>
          </a:xfrm>
          <a:prstGeom prst="roundRect">
            <a:avLst>
              <a:gd name="adj" fmla="val 12000"/>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FFFFFF"/>
                </a:solidFill>
                <a:latin typeface="Calibri"/>
              </a:rPr>
              <a:t>Integration</a:t>
            </a:r>
          </a:p>
          <a:p>
            <a:pPr algn="ctr"/>
            <a:r>
              <a:rPr sz="800" b="0" i="0">
                <a:solidFill>
                  <a:srgbClr val="FFFFFF"/>
                </a:solidFill>
                <a:latin typeface="Calibri"/>
              </a:rPr>
              <a:t>fabric</a:t>
            </a:r>
          </a:p>
        </p:txBody>
      </p:sp>
      <p:sp>
        <p:nvSpPr>
          <p:cNvPr id="24" name="Rounded Rectangle 23"/>
          <p:cNvSpPr/>
          <p:nvPr/>
        </p:nvSpPr>
        <p:spPr>
          <a:xfrm>
            <a:off x="9464040" y="1737360"/>
            <a:ext cx="2240280" cy="914400"/>
          </a:xfrm>
          <a:prstGeom prst="roundRect">
            <a:avLst>
              <a:gd name="adj" fmla="val 12000"/>
            </a:avLst>
          </a:prstGeom>
          <a:solidFill>
            <a:srgbClr val="FFFFFF"/>
          </a:solidFill>
          <a:ln w="1587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1F1B2E"/>
                </a:solidFill>
                <a:latin typeface="Calibri"/>
              </a:rPr>
              <a:t>CRM</a:t>
            </a:r>
          </a:p>
          <a:p>
            <a:pPr algn="ctr"/>
            <a:r>
              <a:rPr sz="1100" b="0" i="0">
                <a:solidFill>
                  <a:srgbClr val="1F1B2E"/>
                </a:solidFill>
                <a:latin typeface="Calibri"/>
              </a:rPr>
              <a:t>e.g. Siebel CRM (prebuilt)</a:t>
            </a:r>
          </a:p>
        </p:txBody>
      </p:sp>
      <p:sp>
        <p:nvSpPr>
          <p:cNvPr id="25" name="Oval 24"/>
          <p:cNvSpPr/>
          <p:nvPr/>
        </p:nvSpPr>
        <p:spPr>
          <a:xfrm>
            <a:off x="11338560" y="1627631"/>
            <a:ext cx="457200" cy="329184"/>
          </a:xfrm>
          <a:prstGeom prst="ellipse">
            <a:avLst/>
          </a:prstGeom>
          <a:solidFill>
            <a:srgbClr val="C746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FFFFFF"/>
                </a:solidFill>
                <a:latin typeface="Calibri"/>
              </a:rPr>
              <a:t>10</a:t>
            </a:r>
          </a:p>
        </p:txBody>
      </p:sp>
      <p:sp>
        <p:nvSpPr>
          <p:cNvPr id="26" name="Rounded Rectangle 25"/>
          <p:cNvSpPr/>
          <p:nvPr/>
        </p:nvSpPr>
        <p:spPr>
          <a:xfrm>
            <a:off x="9464040" y="2816352"/>
            <a:ext cx="2240280" cy="914400"/>
          </a:xfrm>
          <a:prstGeom prst="roundRect">
            <a:avLst>
              <a:gd name="adj" fmla="val 12000"/>
            </a:avLst>
          </a:prstGeom>
          <a:solidFill>
            <a:srgbClr val="FFFFFF"/>
          </a:solidFill>
          <a:ln w="1587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1F1B2E"/>
                </a:solidFill>
                <a:latin typeface="Calibri"/>
              </a:rPr>
              <a:t>Commerce / digital channels</a:t>
            </a:r>
          </a:p>
          <a:p>
            <a:pPr algn="ctr"/>
            <a:r>
              <a:rPr sz="1100" b="0" i="0">
                <a:solidFill>
                  <a:srgbClr val="1F1B2E"/>
                </a:solidFill>
                <a:latin typeface="Calibri"/>
              </a:rPr>
              <a:t>web, app, shops</a:t>
            </a:r>
          </a:p>
        </p:txBody>
      </p:sp>
      <p:sp>
        <p:nvSpPr>
          <p:cNvPr id="27" name="Oval 26"/>
          <p:cNvSpPr/>
          <p:nvPr/>
        </p:nvSpPr>
        <p:spPr>
          <a:xfrm>
            <a:off x="11338560" y="2706624"/>
            <a:ext cx="457200" cy="329184"/>
          </a:xfrm>
          <a:prstGeom prst="ellipse">
            <a:avLst/>
          </a:prstGeom>
          <a:solidFill>
            <a:srgbClr val="C746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FFFFFF"/>
                </a:solidFill>
                <a:latin typeface="Calibri"/>
              </a:rPr>
              <a:t>20</a:t>
            </a:r>
          </a:p>
        </p:txBody>
      </p:sp>
      <p:sp>
        <p:nvSpPr>
          <p:cNvPr id="28" name="Rounded Rectangle 27"/>
          <p:cNvSpPr/>
          <p:nvPr/>
        </p:nvSpPr>
        <p:spPr>
          <a:xfrm>
            <a:off x="9464040" y="3895344"/>
            <a:ext cx="2240280" cy="914400"/>
          </a:xfrm>
          <a:prstGeom prst="roundRect">
            <a:avLst>
              <a:gd name="adj" fmla="val 12000"/>
            </a:avLst>
          </a:prstGeom>
          <a:solidFill>
            <a:srgbClr val="FFFFFF"/>
          </a:solidFill>
          <a:ln w="1587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1F1B2E"/>
                </a:solidFill>
                <a:latin typeface="Calibri"/>
              </a:rPr>
              <a:t>Billing &amp; charging</a:t>
            </a:r>
          </a:p>
          <a:p>
            <a:pPr algn="ctr"/>
            <a:r>
              <a:rPr sz="1100" b="0" i="0">
                <a:solidFill>
                  <a:srgbClr val="1F1B2E"/>
                </a:solidFill>
                <a:latin typeface="Calibri"/>
              </a:rPr>
              <a:t>e.g. Oracle PDC / BRM</a:t>
            </a:r>
          </a:p>
        </p:txBody>
      </p:sp>
      <p:sp>
        <p:nvSpPr>
          <p:cNvPr id="29" name="Oval 28"/>
          <p:cNvSpPr/>
          <p:nvPr/>
        </p:nvSpPr>
        <p:spPr>
          <a:xfrm>
            <a:off x="11338560" y="3785615"/>
            <a:ext cx="457200" cy="329184"/>
          </a:xfrm>
          <a:prstGeom prst="ellipse">
            <a:avLst/>
          </a:prstGeom>
          <a:solidFill>
            <a:srgbClr val="C746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FFFFFF"/>
                </a:solidFill>
                <a:latin typeface="Calibri"/>
              </a:rPr>
              <a:t>30</a:t>
            </a:r>
          </a:p>
        </p:txBody>
      </p:sp>
      <p:sp>
        <p:nvSpPr>
          <p:cNvPr id="30" name="Rounded Rectangle 29"/>
          <p:cNvSpPr/>
          <p:nvPr/>
        </p:nvSpPr>
        <p:spPr>
          <a:xfrm>
            <a:off x="9464040" y="4974336"/>
            <a:ext cx="2240280" cy="914400"/>
          </a:xfrm>
          <a:prstGeom prst="roundRect">
            <a:avLst>
              <a:gd name="adj" fmla="val 12000"/>
            </a:avLst>
          </a:prstGeom>
          <a:solidFill>
            <a:srgbClr val="FFFFFF"/>
          </a:solidFill>
          <a:ln w="1587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1F1B2E"/>
                </a:solidFill>
                <a:latin typeface="Calibri"/>
              </a:rPr>
              <a:t>Service catalog &amp; provisioning</a:t>
            </a:r>
          </a:p>
          <a:p>
            <a:pPr algn="ctr"/>
            <a:r>
              <a:rPr sz="1100" b="0" i="0">
                <a:solidFill>
                  <a:srgbClr val="1F1B2E"/>
                </a:solidFill>
                <a:latin typeface="Calibri"/>
              </a:rPr>
              <a:t>network fulfillment</a:t>
            </a:r>
          </a:p>
        </p:txBody>
      </p:sp>
      <p:sp>
        <p:nvSpPr>
          <p:cNvPr id="31" name="Oval 30"/>
          <p:cNvSpPr/>
          <p:nvPr/>
        </p:nvSpPr>
        <p:spPr>
          <a:xfrm>
            <a:off x="11338560" y="4864607"/>
            <a:ext cx="457200" cy="329184"/>
          </a:xfrm>
          <a:prstGeom prst="ellipse">
            <a:avLst/>
          </a:prstGeom>
          <a:solidFill>
            <a:srgbClr val="C746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FFFFFF"/>
                </a:solidFill>
                <a:latin typeface="Calibri"/>
              </a:rPr>
              <a:t>40</a:t>
            </a:r>
          </a:p>
        </p:txBody>
      </p:sp>
      <p:sp>
        <p:nvSpPr>
          <p:cNvPr id="32" name="TextBox 31"/>
          <p:cNvSpPr txBox="1"/>
          <p:nvPr/>
        </p:nvSpPr>
        <p:spPr>
          <a:xfrm>
            <a:off x="548640" y="6035040"/>
            <a:ext cx="11247120" cy="365760"/>
          </a:xfrm>
          <a:prstGeom prst="rect">
            <a:avLst/>
          </a:prstGeom>
          <a:noFill/>
        </p:spPr>
        <p:txBody>
          <a:bodyPr wrap="square" anchor="t" lIns="45720" rIns="45720">
            <a:spAutoFit/>
          </a:bodyPr>
          <a:lstStyle/>
          <a:p>
            <a:pPr algn="l"/>
            <a:r>
              <a:rPr sz="1200" b="0" i="1">
                <a:solidFill>
                  <a:srgbClr val="5F5A6B"/>
                </a:solidFill>
                <a:latin typeface="Calibri"/>
              </a:rPr>
              <a:t>Red numbers = configurable publish sequence (CRM → Commerce → Billing → Provisioning), the example used in Oracle's documentation.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02  MODULES &amp; COMPONENTS</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Work areas and what each one does</a:t>
            </a:r>
          </a:p>
        </p:txBody>
      </p:sp>
      <p:sp>
        <p:nvSpPr>
          <p:cNvPr id="5" name="TextBox 4"/>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6" name="TextBox 5"/>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5</a:t>
            </a:r>
          </a:p>
        </p:txBody>
      </p:sp>
      <p:graphicFrame>
        <p:nvGraphicFramePr>
          <p:cNvPr id="7" name="Table 6"/>
          <p:cNvGraphicFramePr>
            <a:graphicFrameLocks noGrp="1"/>
          </p:cNvGraphicFramePr>
          <p:nvPr/>
        </p:nvGraphicFramePr>
        <p:xfrm>
          <a:off x="548640" y="1463040"/>
          <a:ext cx="11155680" cy="4608576"/>
        </p:xfrm>
        <a:graphic>
          <a:graphicData uri="http://schemas.openxmlformats.org/drawingml/2006/table">
            <a:tbl>
              <a:tblPr firstRow="1" bandRow="1">
                <a:tableStyleId>{5C22544A-7EE6-4342-B048-85BDC9FD1C3A}</a:tableStyleId>
              </a:tblPr>
              <a:tblGrid>
                <a:gridCol w="2286000"/>
                <a:gridCol w="6858000"/>
                <a:gridCol w="2011680"/>
              </a:tblGrid>
              <a:tr h="512064">
                <a:tc>
                  <a:txBody>
                    <a:bodyPr wrap="square"/>
                    <a:lstStyle/>
                    <a:p>
                      <a:r>
                        <a:rPr sz="1300" b="1" i="0">
                          <a:solidFill>
                            <a:srgbClr val="FFFFFF"/>
                          </a:solidFill>
                          <a:latin typeface="Calibri"/>
                        </a:rPr>
                        <a:t>Module / work area</a:t>
                      </a:r>
                    </a:p>
                  </a:txBody>
                  <a:tcPr marL="54864" marR="54864" marT="27432" marB="27432" anchor="ctr">
                    <a:solidFill>
                      <a:srgbClr val="5B2C83"/>
                    </a:solidFill>
                  </a:tcPr>
                </a:tc>
                <a:tc>
                  <a:txBody>
                    <a:bodyPr wrap="square"/>
                    <a:lstStyle/>
                    <a:p>
                      <a:r>
                        <a:rPr sz="1300" b="1" i="0">
                          <a:solidFill>
                            <a:srgbClr val="FFFFFF"/>
                          </a:solidFill>
                          <a:latin typeface="Calibri"/>
                        </a:rPr>
                        <a:t>What it does</a:t>
                      </a:r>
                    </a:p>
                  </a:txBody>
                  <a:tcPr marL="54864" marR="54864" marT="27432" marB="27432" anchor="ctr">
                    <a:solidFill>
                      <a:srgbClr val="5B2C83"/>
                    </a:solidFill>
                  </a:tcPr>
                </a:tc>
                <a:tc>
                  <a:txBody>
                    <a:bodyPr wrap="square"/>
                    <a:lstStyle/>
                    <a:p>
                      <a:r>
                        <a:rPr sz="1300" b="1" i="0">
                          <a:solidFill>
                            <a:srgbClr val="FFFFFF"/>
                          </a:solidFill>
                          <a:latin typeface="Calibri"/>
                        </a:rPr>
                        <a:t>Main user</a:t>
                      </a:r>
                    </a:p>
                  </a:txBody>
                  <a:tcPr marL="54864" marR="54864" marT="27432" marB="27432" anchor="ctr">
                    <a:solidFill>
                      <a:srgbClr val="5B2C83"/>
                    </a:solidFill>
                  </a:tcPr>
                </a:tc>
              </a:tr>
              <a:tr h="512064">
                <a:tc>
                  <a:txBody>
                    <a:bodyPr wrap="square"/>
                    <a:lstStyle/>
                    <a:p>
                      <a:r>
                        <a:rPr sz="1300" b="1" i="0">
                          <a:solidFill>
                            <a:srgbClr val="1F1B2E"/>
                          </a:solidFill>
                          <a:latin typeface="Calibri"/>
                        </a:rPr>
                        <a:t>Initiatives</a:t>
                      </a:r>
                    </a:p>
                  </a:txBody>
                  <a:tcPr marL="54864" marR="54864" marT="27432" marB="27432" anchor="ctr">
                    <a:solidFill>
                      <a:srgbClr val="F4F3F7"/>
                    </a:solidFill>
                  </a:tcPr>
                </a:tc>
                <a:tc>
                  <a:txBody>
                    <a:bodyPr wrap="square"/>
                    <a:lstStyle/>
                    <a:p>
                      <a:r>
                        <a:rPr sz="1300" b="0" i="0">
                          <a:solidFill>
                            <a:srgbClr val="1F1B2E"/>
                          </a:solidFill>
                          <a:latin typeface="Calibri"/>
                        </a:rPr>
                        <a:t>Container for a market release: team, attachments, approvers, notifications, lifecycle status, publish history</a:t>
                      </a:r>
                    </a:p>
                  </a:txBody>
                  <a:tcPr marL="54864" marR="54864" marT="27432" marB="27432" anchor="ctr">
                    <a:solidFill>
                      <a:srgbClr val="F4F3F7"/>
                    </a:solidFill>
                  </a:tcPr>
                </a:tc>
                <a:tc>
                  <a:txBody>
                    <a:bodyPr wrap="square"/>
                    <a:lstStyle/>
                    <a:p>
                      <a:r>
                        <a:rPr sz="1300" b="0" i="0">
                          <a:solidFill>
                            <a:srgbClr val="1F1B2E"/>
                          </a:solidFill>
                          <a:latin typeface="Calibri"/>
                        </a:rPr>
                        <a:t>Product Manager</a:t>
                      </a:r>
                    </a:p>
                  </a:txBody>
                  <a:tcPr marL="54864" marR="54864" marT="27432" marB="27432" anchor="ctr">
                    <a:solidFill>
                      <a:srgbClr val="F4F3F7"/>
                    </a:solidFill>
                  </a:tcPr>
                </a:tc>
              </a:tr>
              <a:tr h="512064">
                <a:tc>
                  <a:txBody>
                    <a:bodyPr wrap="square"/>
                    <a:lstStyle/>
                    <a:p>
                      <a:r>
                        <a:rPr sz="1300" b="1" i="0">
                          <a:solidFill>
                            <a:srgbClr val="1F1B2E"/>
                          </a:solidFill>
                          <a:latin typeface="Calibri"/>
                        </a:rPr>
                        <a:t>Offer Management</a:t>
                      </a:r>
                    </a:p>
                  </a:txBody>
                  <a:tcPr marL="54864" marR="54864" marT="27432" marB="27432" anchor="ctr">
                    <a:solidFill>
                      <a:srgbClr val="FFFFFF"/>
                    </a:solidFill>
                  </a:tcPr>
                </a:tc>
                <a:tc>
                  <a:txBody>
                    <a:bodyPr wrap="square"/>
                    <a:lstStyle/>
                    <a:p>
                      <a:r>
                        <a:rPr sz="1300" b="0" i="0">
                          <a:solidFill>
                            <a:srgbClr val="1F1B2E"/>
                          </a:solidFill>
                          <a:latin typeface="Calibri"/>
                        </a:rPr>
                        <a:t>Guided flow to create, revise, clone and bulk-update simple and bundle offers</a:t>
                      </a:r>
                    </a:p>
                  </a:txBody>
                  <a:tcPr marL="54864" marR="54864" marT="27432" marB="27432" anchor="ctr">
                    <a:solidFill>
                      <a:srgbClr val="FFFFFF"/>
                    </a:solidFill>
                  </a:tcPr>
                </a:tc>
                <a:tc>
                  <a:txBody>
                    <a:bodyPr wrap="square"/>
                    <a:lstStyle/>
                    <a:p>
                      <a:r>
                        <a:rPr sz="1300" b="0" i="0">
                          <a:solidFill>
                            <a:srgbClr val="1F1B2E"/>
                          </a:solidFill>
                          <a:latin typeface="Calibri"/>
                        </a:rPr>
                        <a:t>Product / Marketing Mgr</a:t>
                      </a:r>
                    </a:p>
                  </a:txBody>
                  <a:tcPr marL="54864" marR="54864" marT="27432" marB="27432" anchor="ctr">
                    <a:solidFill>
                      <a:srgbClr val="FFFFFF"/>
                    </a:solidFill>
                  </a:tcPr>
                </a:tc>
              </a:tr>
              <a:tr h="512064">
                <a:tc>
                  <a:txBody>
                    <a:bodyPr wrap="square"/>
                    <a:lstStyle/>
                    <a:p>
                      <a:r>
                        <a:rPr sz="1300" b="1" i="0">
                          <a:solidFill>
                            <a:srgbClr val="1F1B2E"/>
                          </a:solidFill>
                          <a:latin typeface="Calibri"/>
                        </a:rPr>
                        <a:t>Promotion Management</a:t>
                      </a:r>
                    </a:p>
                  </a:txBody>
                  <a:tcPr marL="54864" marR="54864" marT="27432" marB="27432" anchor="ctr">
                    <a:solidFill>
                      <a:srgbClr val="F4F3F7"/>
                    </a:solidFill>
                  </a:tcPr>
                </a:tc>
                <a:tc>
                  <a:txBody>
                    <a:bodyPr wrap="square"/>
                    <a:lstStyle/>
                    <a:p>
                      <a:r>
                        <a:rPr sz="1300" b="0" i="0">
                          <a:solidFill>
                            <a:srgbClr val="1F1B2E"/>
                          </a:solidFill>
                          <a:latin typeface="Calibri"/>
                        </a:rPr>
                        <a:t>Promotions with events and benefits (e.g. discount for 3 months)</a:t>
                      </a:r>
                    </a:p>
                  </a:txBody>
                  <a:tcPr marL="54864" marR="54864" marT="27432" marB="27432" anchor="ctr">
                    <a:solidFill>
                      <a:srgbClr val="F4F3F7"/>
                    </a:solidFill>
                  </a:tcPr>
                </a:tc>
                <a:tc>
                  <a:txBody>
                    <a:bodyPr wrap="square"/>
                    <a:lstStyle/>
                    <a:p>
                      <a:r>
                        <a:rPr sz="1300" b="0" i="0">
                          <a:solidFill>
                            <a:srgbClr val="1F1B2E"/>
                          </a:solidFill>
                          <a:latin typeface="Calibri"/>
                        </a:rPr>
                        <a:t>Marketing Manager</a:t>
                      </a:r>
                    </a:p>
                  </a:txBody>
                  <a:tcPr marL="54864" marR="54864" marT="27432" marB="27432" anchor="ctr">
                    <a:solidFill>
                      <a:srgbClr val="F4F3F7"/>
                    </a:solidFill>
                  </a:tcPr>
                </a:tc>
              </a:tr>
              <a:tr h="512064">
                <a:tc>
                  <a:txBody>
                    <a:bodyPr wrap="square"/>
                    <a:lstStyle/>
                    <a:p>
                      <a:r>
                        <a:rPr sz="1300" b="1" i="0">
                          <a:solidFill>
                            <a:srgbClr val="1F1B2E"/>
                          </a:solidFill>
                          <a:latin typeface="Calibri"/>
                        </a:rPr>
                        <a:t>Workbench</a:t>
                      </a:r>
                    </a:p>
                  </a:txBody>
                  <a:tcPr marL="54864" marR="54864" marT="27432" marB="27432" anchor="ctr">
                    <a:solidFill>
                      <a:srgbClr val="FFFFFF"/>
                    </a:solidFill>
                  </a:tcPr>
                </a:tc>
                <a:tc>
                  <a:txBody>
                    <a:bodyPr wrap="square"/>
                    <a:lstStyle/>
                    <a:p>
                      <a:r>
                        <a:rPr sz="1300" b="0" i="0">
                          <a:solidFill>
                            <a:srgbClr val="1F1B2E"/>
                          </a:solidFill>
                          <a:latin typeface="Calibri"/>
                        </a:rPr>
                        <a:t>Product specifications, service specifications, attributes (the technical side)</a:t>
                      </a:r>
                    </a:p>
                  </a:txBody>
                  <a:tcPr marL="54864" marR="54864" marT="27432" marB="27432" anchor="ctr">
                    <a:solidFill>
                      <a:srgbClr val="FFFFFF"/>
                    </a:solidFill>
                  </a:tcPr>
                </a:tc>
                <a:tc>
                  <a:txBody>
                    <a:bodyPr wrap="square"/>
                    <a:lstStyle/>
                    <a:p>
                      <a:r>
                        <a:rPr sz="1300" b="0" i="0">
                          <a:solidFill>
                            <a:srgbClr val="1F1B2E"/>
                          </a:solidFill>
                          <a:latin typeface="Calibri"/>
                        </a:rPr>
                        <a:t>Product Specialist</a:t>
                      </a:r>
                    </a:p>
                  </a:txBody>
                  <a:tcPr marL="54864" marR="54864" marT="27432" marB="27432" anchor="ctr">
                    <a:solidFill>
                      <a:srgbClr val="FFFFFF"/>
                    </a:solidFill>
                  </a:tcPr>
                </a:tc>
              </a:tr>
              <a:tr h="512064">
                <a:tc>
                  <a:txBody>
                    <a:bodyPr wrap="square"/>
                    <a:lstStyle/>
                    <a:p>
                      <a:r>
                        <a:rPr sz="1300" b="1" i="0">
                          <a:solidFill>
                            <a:srgbClr val="1F1B2E"/>
                          </a:solidFill>
                          <a:latin typeface="Calibri"/>
                        </a:rPr>
                        <a:t>Pricing &amp; Price Lists</a:t>
                      </a:r>
                    </a:p>
                  </a:txBody>
                  <a:tcPr marL="54864" marR="54864" marT="27432" marB="27432" anchor="ctr">
                    <a:solidFill>
                      <a:srgbClr val="F4F3F7"/>
                    </a:solidFill>
                  </a:tcPr>
                </a:tc>
                <a:tc>
                  <a:txBody>
                    <a:bodyPr wrap="square"/>
                    <a:lstStyle/>
                    <a:p>
                      <a:r>
                        <a:rPr sz="1300" b="0" i="0">
                          <a:solidFill>
                            <a:srgbClr val="1F1B2E"/>
                          </a:solidFill>
                          <a:latin typeface="Calibri"/>
                        </a:rPr>
                        <a:t>One-time, recurring and usage fees, discounts, price lists by segment or location</a:t>
                      </a:r>
                    </a:p>
                  </a:txBody>
                  <a:tcPr marL="54864" marR="54864" marT="27432" marB="27432" anchor="ctr">
                    <a:solidFill>
                      <a:srgbClr val="F4F3F7"/>
                    </a:solidFill>
                  </a:tcPr>
                </a:tc>
                <a:tc>
                  <a:txBody>
                    <a:bodyPr wrap="square"/>
                    <a:lstStyle/>
                    <a:p>
                      <a:r>
                        <a:rPr sz="1300" b="0" i="0">
                          <a:solidFill>
                            <a:srgbClr val="1F1B2E"/>
                          </a:solidFill>
                          <a:latin typeface="Calibri"/>
                        </a:rPr>
                        <a:t>Product Manager</a:t>
                      </a:r>
                    </a:p>
                  </a:txBody>
                  <a:tcPr marL="54864" marR="54864" marT="27432" marB="27432" anchor="ctr">
                    <a:solidFill>
                      <a:srgbClr val="F4F3F7"/>
                    </a:solidFill>
                  </a:tcPr>
                </a:tc>
              </a:tr>
              <a:tr h="512064">
                <a:tc>
                  <a:txBody>
                    <a:bodyPr wrap="square"/>
                    <a:lstStyle/>
                    <a:p>
                      <a:r>
                        <a:rPr sz="1300" b="1" i="0">
                          <a:solidFill>
                            <a:srgbClr val="1F1B2E"/>
                          </a:solidFill>
                          <a:latin typeface="Calibri"/>
                        </a:rPr>
                        <a:t>Rules</a:t>
                      </a:r>
                    </a:p>
                  </a:txBody>
                  <a:tcPr marL="54864" marR="54864" marT="27432" marB="27432" anchor="ctr">
                    <a:solidFill>
                      <a:srgbClr val="FFFFFF"/>
                    </a:solidFill>
                  </a:tcPr>
                </a:tc>
                <a:tc>
                  <a:txBody>
                    <a:bodyPr wrap="square"/>
                    <a:lstStyle/>
                    <a:p>
                      <a:r>
                        <a:rPr sz="1300" b="0" i="0">
                          <a:solidFill>
                            <a:srgbClr val="1F1B2E"/>
                          </a:solidFill>
                          <a:latin typeface="Calibri"/>
                        </a:rPr>
                        <a:t>Eligibility, compatibility, recommendation and migration (upgrade/downgrade) rules</a:t>
                      </a:r>
                    </a:p>
                  </a:txBody>
                  <a:tcPr marL="54864" marR="54864" marT="27432" marB="27432" anchor="ctr">
                    <a:solidFill>
                      <a:srgbClr val="FFFFFF"/>
                    </a:solidFill>
                  </a:tcPr>
                </a:tc>
                <a:tc>
                  <a:txBody>
                    <a:bodyPr wrap="square"/>
                    <a:lstStyle/>
                    <a:p>
                      <a:r>
                        <a:rPr sz="1300" b="0" i="0">
                          <a:solidFill>
                            <a:srgbClr val="1F1B2E"/>
                          </a:solidFill>
                          <a:latin typeface="Calibri"/>
                        </a:rPr>
                        <a:t>Product Manager</a:t>
                      </a:r>
                    </a:p>
                  </a:txBody>
                  <a:tcPr marL="54864" marR="54864" marT="27432" marB="27432" anchor="ctr">
                    <a:solidFill>
                      <a:srgbClr val="FFFFFF"/>
                    </a:solidFill>
                  </a:tcPr>
                </a:tc>
              </a:tr>
              <a:tr h="512064">
                <a:tc>
                  <a:txBody>
                    <a:bodyPr wrap="square"/>
                    <a:lstStyle/>
                    <a:p>
                      <a:r>
                        <a:rPr sz="1300" b="1" i="0">
                          <a:solidFill>
                            <a:srgbClr val="1F1B2E"/>
                          </a:solidFill>
                          <a:latin typeface="Calibri"/>
                        </a:rPr>
                        <a:t>Administration</a:t>
                      </a:r>
                    </a:p>
                  </a:txBody>
                  <a:tcPr marL="54864" marR="54864" marT="27432" marB="27432" anchor="ctr">
                    <a:solidFill>
                      <a:srgbClr val="F4F3F7"/>
                    </a:solidFill>
                  </a:tcPr>
                </a:tc>
                <a:tc>
                  <a:txBody>
                    <a:bodyPr wrap="square"/>
                    <a:lstStyle/>
                    <a:p>
                      <a:r>
                        <a:rPr sz="1300" b="0" i="0">
                          <a:solidFill>
                            <a:srgbClr val="1F1B2E"/>
                          </a:solidFill>
                          <a:latin typeface="Calibri"/>
                        </a:rPr>
                        <a:t>Catalogs and categories, lifecycle states, publish destinations, roles</a:t>
                      </a:r>
                    </a:p>
                  </a:txBody>
                  <a:tcPr marL="54864" marR="54864" marT="27432" marB="27432" anchor="ctr">
                    <a:solidFill>
                      <a:srgbClr val="F4F3F7"/>
                    </a:solidFill>
                  </a:tcPr>
                </a:tc>
                <a:tc>
                  <a:txBody>
                    <a:bodyPr wrap="square"/>
                    <a:lstStyle/>
                    <a:p>
                      <a:r>
                        <a:rPr sz="1300" b="0" i="0">
                          <a:solidFill>
                            <a:srgbClr val="1F1B2E"/>
                          </a:solidFill>
                          <a:latin typeface="Calibri"/>
                        </a:rPr>
                        <a:t>Catalog Admin</a:t>
                      </a:r>
                    </a:p>
                  </a:txBody>
                  <a:tcPr marL="54864" marR="54864" marT="27432" marB="27432" anchor="ctr">
                    <a:solidFill>
                      <a:srgbClr val="F4F3F7"/>
                    </a:solidFill>
                  </a:tcPr>
                </a:tc>
              </a:tr>
              <a:tr h="512064">
                <a:tc>
                  <a:txBody>
                    <a:bodyPr wrap="square"/>
                    <a:lstStyle/>
                    <a:p>
                      <a:r>
                        <a:rPr sz="1300" b="1" i="0">
                          <a:solidFill>
                            <a:srgbClr val="1F1B2E"/>
                          </a:solidFill>
                          <a:latin typeface="Calibri"/>
                        </a:rPr>
                        <a:t>Reports + AI agent</a:t>
                      </a:r>
                    </a:p>
                  </a:txBody>
                  <a:tcPr marL="54864" marR="54864" marT="27432" marB="27432" anchor="ctr">
                    <a:solidFill>
                      <a:srgbClr val="FFFFFF"/>
                    </a:solidFill>
                  </a:tcPr>
                </a:tc>
                <a:tc>
                  <a:txBody>
                    <a:bodyPr wrap="square"/>
                    <a:lstStyle/>
                    <a:p>
                      <a:r>
                        <a:rPr sz="1300" b="0" i="0">
                          <a:solidFill>
                            <a:srgbClr val="1F1B2E"/>
                          </a:solidFill>
                          <a:latin typeface="Calibri"/>
                        </a:rPr>
                        <a:t>Dashboards for initiatives and offers; AI "Offer Design Integrity" checks before publishing</a:t>
                      </a:r>
                    </a:p>
                  </a:txBody>
                  <a:tcPr marL="54864" marR="54864" marT="27432" marB="27432" anchor="ctr">
                    <a:solidFill>
                      <a:srgbClr val="FFFFFF"/>
                    </a:solidFill>
                  </a:tcPr>
                </a:tc>
                <a:tc>
                  <a:txBody>
                    <a:bodyPr wrap="square"/>
                    <a:lstStyle/>
                    <a:p>
                      <a:r>
                        <a:rPr sz="1300" b="0" i="0">
                          <a:solidFill>
                            <a:srgbClr val="1F1B2E"/>
                          </a:solidFill>
                          <a:latin typeface="Calibri"/>
                        </a:rPr>
                        <a:t>All / Admin</a:t>
                      </a:r>
                    </a:p>
                  </a:txBody>
                  <a:tcPr marL="54864" marR="54864"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02  CORE DATA MODEL</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Separate the commercial offer from the technical product</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This separation is what lets marketing change offers without touching the network</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6</a:t>
            </a:r>
          </a:p>
        </p:txBody>
      </p:sp>
      <p:sp>
        <p:nvSpPr>
          <p:cNvPr id="8" name="Rounded Rectangle 7"/>
          <p:cNvSpPr/>
          <p:nvPr/>
        </p:nvSpPr>
        <p:spPr>
          <a:xfrm>
            <a:off x="548640" y="1737360"/>
            <a:ext cx="338328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COMMERCIAL (what we sell)</a:t>
            </a:r>
          </a:p>
        </p:txBody>
      </p:sp>
      <p:sp>
        <p:nvSpPr>
          <p:cNvPr id="9" name="Rounded Rectangle 8"/>
          <p:cNvSpPr/>
          <p:nvPr/>
        </p:nvSpPr>
        <p:spPr>
          <a:xfrm>
            <a:off x="548640" y="2331720"/>
            <a:ext cx="3383280" cy="105156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Package</a:t>
            </a:r>
          </a:p>
          <a:p>
            <a:pPr algn="ctr"/>
            <a:r>
              <a:rPr sz="1300" b="0" i="0">
                <a:solidFill>
                  <a:srgbClr val="1F1B2E"/>
                </a:solidFill>
                <a:latin typeface="Calibri"/>
              </a:rPr>
              <a:t>e.g. Home bundle with a 12-month commitment</a:t>
            </a:r>
          </a:p>
        </p:txBody>
      </p:sp>
      <p:sp>
        <p:nvSpPr>
          <p:cNvPr id="10" name="Down Arrow 9"/>
          <p:cNvSpPr/>
          <p:nvPr/>
        </p:nvSpPr>
        <p:spPr>
          <a:xfrm>
            <a:off x="2103120" y="3456432"/>
            <a:ext cx="274320" cy="320040"/>
          </a:xfrm>
          <a:prstGeom prst="down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3840480"/>
            <a:ext cx="3383280" cy="105156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Commercial / Service Bundle</a:t>
            </a:r>
          </a:p>
          <a:p>
            <a:pPr algn="ctr"/>
            <a:r>
              <a:rPr sz="1300" b="0" i="0">
                <a:solidFill>
                  <a:srgbClr val="1F1B2E"/>
                </a:solidFill>
                <a:latin typeface="Calibri"/>
              </a:rPr>
              <a:t>groups simple offers, option groups</a:t>
            </a:r>
          </a:p>
        </p:txBody>
      </p:sp>
      <p:sp>
        <p:nvSpPr>
          <p:cNvPr id="12" name="Down Arrow 11"/>
          <p:cNvSpPr/>
          <p:nvPr/>
        </p:nvSpPr>
        <p:spPr>
          <a:xfrm>
            <a:off x="2103120" y="4965192"/>
            <a:ext cx="274320" cy="320040"/>
          </a:xfrm>
          <a:prstGeom prst="down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5349240"/>
            <a:ext cx="3383280" cy="86868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Simple Offer</a:t>
            </a:r>
          </a:p>
          <a:p>
            <a:pPr algn="ctr"/>
            <a:r>
              <a:rPr sz="1300" b="0" i="0">
                <a:solidFill>
                  <a:srgbClr val="1F1B2E"/>
                </a:solidFill>
                <a:latin typeface="Calibri"/>
              </a:rPr>
              <a:t>internet plan, device, add-on</a:t>
            </a:r>
          </a:p>
        </p:txBody>
      </p:sp>
      <p:sp>
        <p:nvSpPr>
          <p:cNvPr id="14" name="Right Arrow 13"/>
          <p:cNvSpPr/>
          <p:nvPr/>
        </p:nvSpPr>
        <p:spPr>
          <a:xfrm>
            <a:off x="4069080" y="5623560"/>
            <a:ext cx="640080" cy="292608"/>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46320" y="1737360"/>
            <a:ext cx="3017520" cy="457200"/>
          </a:xfrm>
          <a:prstGeom prst="roundRect">
            <a:avLst>
              <a:gd name="adj" fmla="val 12000"/>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TECHNICAL (what we deliver)</a:t>
            </a:r>
          </a:p>
        </p:txBody>
      </p:sp>
      <p:sp>
        <p:nvSpPr>
          <p:cNvPr id="16" name="Rounded Rectangle 15"/>
          <p:cNvSpPr/>
          <p:nvPr/>
        </p:nvSpPr>
        <p:spPr>
          <a:xfrm>
            <a:off x="4846320" y="5349240"/>
            <a:ext cx="3017520" cy="868680"/>
          </a:xfrm>
          <a:prstGeom prst="roundRect">
            <a:avLst>
              <a:gd name="adj" fmla="val 12000"/>
            </a:avLst>
          </a:prstGeom>
          <a:solidFill>
            <a:srgbClr val="FFFFFF"/>
          </a:solidFill>
          <a:ln w="1587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Product Specification</a:t>
            </a:r>
          </a:p>
          <a:p>
            <a:pPr algn="ctr"/>
            <a:r>
              <a:rPr sz="1300" b="0" i="0">
                <a:solidFill>
                  <a:srgbClr val="1F1B2E"/>
                </a:solidFill>
                <a:latin typeface="Calibri"/>
              </a:rPr>
              <a:t>attributes, e.g. speed</a:t>
            </a:r>
          </a:p>
        </p:txBody>
      </p:sp>
      <p:sp>
        <p:nvSpPr>
          <p:cNvPr id="17" name="Down Arrow 16"/>
          <p:cNvSpPr/>
          <p:nvPr/>
        </p:nvSpPr>
        <p:spPr>
          <a:xfrm rot="10800000">
            <a:off x="6217920" y="4983480"/>
            <a:ext cx="274320" cy="320040"/>
          </a:xfrm>
          <a:prstGeom prst="downArrow">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46320" y="3840480"/>
            <a:ext cx="3017520" cy="1051560"/>
          </a:xfrm>
          <a:prstGeom prst="roundRect">
            <a:avLst>
              <a:gd name="adj" fmla="val 12000"/>
            </a:avLst>
          </a:prstGeom>
          <a:solidFill>
            <a:srgbClr val="FFFFFF"/>
          </a:solidFill>
          <a:ln w="1587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Service Specification</a:t>
            </a:r>
          </a:p>
          <a:p>
            <a:pPr algn="ctr"/>
            <a:r>
              <a:rPr sz="1300" b="0" i="0">
                <a:solidFill>
                  <a:srgbClr val="1F1B2E"/>
                </a:solidFill>
                <a:latin typeface="Calibri"/>
              </a:rPr>
              <a:t>what the network must activate</a:t>
            </a:r>
          </a:p>
        </p:txBody>
      </p:sp>
      <p:sp>
        <p:nvSpPr>
          <p:cNvPr id="19" name="Rounded Rectangle 18"/>
          <p:cNvSpPr/>
          <p:nvPr/>
        </p:nvSpPr>
        <p:spPr>
          <a:xfrm>
            <a:off x="4846320" y="2331720"/>
            <a:ext cx="3017520" cy="1051560"/>
          </a:xfrm>
          <a:prstGeom prst="roundRect">
            <a:avLst>
              <a:gd name="adj" fmla="val 12000"/>
            </a:avLst>
          </a:prstGeom>
          <a:solidFill>
            <a:srgbClr val="FFFFFF"/>
          </a:solidFill>
          <a:ln w="15875">
            <a:solidFill>
              <a:srgbClr val="008C9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Resource</a:t>
            </a:r>
          </a:p>
          <a:p>
            <a:pPr algn="ctr"/>
            <a:r>
              <a:rPr sz="1300" b="0" i="0">
                <a:solidFill>
                  <a:srgbClr val="1F1B2E"/>
                </a:solidFill>
                <a:latin typeface="Calibri"/>
              </a:rPr>
              <a:t>equipment / network resource</a:t>
            </a:r>
          </a:p>
        </p:txBody>
      </p:sp>
      <p:sp>
        <p:nvSpPr>
          <p:cNvPr id="20" name="Down Arrow 19"/>
          <p:cNvSpPr/>
          <p:nvPr/>
        </p:nvSpPr>
        <p:spPr>
          <a:xfrm rot="10800000">
            <a:off x="6217920" y="3456432"/>
            <a:ext cx="274320" cy="320040"/>
          </a:xfrm>
          <a:prstGeom prst="downArrow">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9600" y="1737360"/>
            <a:ext cx="3474720" cy="457200"/>
          </a:xfrm>
          <a:prstGeom prst="roundRect">
            <a:avLst>
              <a:gd name="adj" fmla="val 12000"/>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ATTACHED TO EVERY OFFER</a:t>
            </a:r>
          </a:p>
        </p:txBody>
      </p:sp>
      <p:sp>
        <p:nvSpPr>
          <p:cNvPr id="22" name="TextBox 21"/>
          <p:cNvSpPr txBox="1"/>
          <p:nvPr/>
        </p:nvSpPr>
        <p:spPr>
          <a:xfrm>
            <a:off x="8229600" y="2331720"/>
            <a:ext cx="3520440" cy="3931920"/>
          </a:xfrm>
          <a:prstGeom prst="rect">
            <a:avLst/>
          </a:prstGeom>
          <a:noFill/>
        </p:spPr>
        <p:txBody>
          <a:bodyPr wrap="square">
            <a:spAutoFit/>
          </a:bodyPr>
          <a:lstStyle/>
          <a:p>
            <a:pPr>
              <a:spcAft>
                <a:spcPts val="600"/>
              </a:spcAft>
            </a:pPr>
            <a:r>
              <a:rPr sz="1100" b="0" i="0">
                <a:solidFill>
                  <a:srgbClr val="5B2C83"/>
                </a:solidFill>
                <a:latin typeface="Calibri"/>
              </a:rPr>
              <a:t>■  </a:t>
            </a:r>
            <a:r>
              <a:rPr sz="1500" b="1" i="0">
                <a:solidFill>
                  <a:srgbClr val="1F1B2E"/>
                </a:solidFill>
                <a:latin typeface="Calibri"/>
              </a:rPr>
              <a:t>Prices: </a:t>
            </a:r>
            <a:r>
              <a:rPr sz="1500" b="0" i="0">
                <a:solidFill>
                  <a:srgbClr val="1F1B2E"/>
                </a:solidFill>
                <a:latin typeface="Calibri"/>
              </a:rPr>
              <a:t>fees, discounts, price lists</a:t>
            </a:r>
          </a:p>
          <a:p>
            <a:pPr>
              <a:spcAft>
                <a:spcPts val="600"/>
              </a:spcAft>
            </a:pPr>
            <a:r>
              <a:rPr sz="1100" b="0" i="0">
                <a:solidFill>
                  <a:srgbClr val="5B2C83"/>
                </a:solidFill>
                <a:latin typeface="Calibri"/>
              </a:rPr>
              <a:t>■  </a:t>
            </a:r>
            <a:r>
              <a:rPr sz="1500" b="1" i="0">
                <a:solidFill>
                  <a:srgbClr val="1F1B2E"/>
                </a:solidFill>
                <a:latin typeface="Calibri"/>
              </a:rPr>
              <a:t>Terms: </a:t>
            </a:r>
            <a:r>
              <a:rPr sz="1500" b="0" i="0">
                <a:solidFill>
                  <a:srgbClr val="1F1B2E"/>
                </a:solidFill>
                <a:latin typeface="Calibri"/>
              </a:rPr>
              <a:t>commitment period, penalty</a:t>
            </a:r>
          </a:p>
          <a:p>
            <a:pPr>
              <a:spcAft>
                <a:spcPts val="600"/>
              </a:spcAft>
            </a:pPr>
            <a:r>
              <a:rPr sz="1100" b="0" i="0">
                <a:solidFill>
                  <a:srgbClr val="5B2C83"/>
                </a:solidFill>
                <a:latin typeface="Calibri"/>
              </a:rPr>
              <a:t>■  </a:t>
            </a:r>
            <a:r>
              <a:rPr sz="1500" b="1" i="0">
                <a:solidFill>
                  <a:srgbClr val="1F1B2E"/>
                </a:solidFill>
                <a:latin typeface="Calibri"/>
              </a:rPr>
              <a:t>Rules: </a:t>
            </a:r>
            <a:r>
              <a:rPr sz="1500" b="0" i="0">
                <a:solidFill>
                  <a:srgbClr val="1F1B2E"/>
                </a:solidFill>
                <a:latin typeface="Calibri"/>
              </a:rPr>
              <a:t>eligibility, compatibility, migration</a:t>
            </a:r>
          </a:p>
          <a:p>
            <a:pPr>
              <a:spcAft>
                <a:spcPts val="600"/>
              </a:spcAft>
            </a:pPr>
            <a:r>
              <a:rPr sz="1100" b="0" i="0">
                <a:solidFill>
                  <a:srgbClr val="5B2C83"/>
                </a:solidFill>
                <a:latin typeface="Calibri"/>
              </a:rPr>
              <a:t>■  </a:t>
            </a:r>
            <a:r>
              <a:rPr sz="1500" b="1" i="0">
                <a:solidFill>
                  <a:srgbClr val="1F1B2E"/>
                </a:solidFill>
                <a:latin typeface="Calibri"/>
              </a:rPr>
              <a:t>Availability: </a:t>
            </a:r>
            <a:r>
              <a:rPr sz="1500" b="0" i="0">
                <a:solidFill>
                  <a:srgbClr val="1F1B2E"/>
                </a:solidFill>
                <a:latin typeface="Calibri"/>
              </a:rPr>
              <a:t>channel, location, market segment</a:t>
            </a:r>
          </a:p>
          <a:p>
            <a:pPr>
              <a:spcAft>
                <a:spcPts val="600"/>
              </a:spcAft>
            </a:pPr>
            <a:r>
              <a:rPr sz="1100" b="0" i="0">
                <a:solidFill>
                  <a:srgbClr val="5B2C83"/>
                </a:solidFill>
                <a:latin typeface="Calibri"/>
              </a:rPr>
              <a:t>■  </a:t>
            </a:r>
            <a:r>
              <a:rPr sz="1500" b="1" i="0">
                <a:solidFill>
                  <a:srgbClr val="1F1B2E"/>
                </a:solidFill>
                <a:latin typeface="Calibri"/>
              </a:rPr>
              <a:t>Lifecycle: </a:t>
            </a:r>
            <a:r>
              <a:rPr sz="1500" b="0" i="0">
                <a:solidFill>
                  <a:srgbClr val="1F1B2E"/>
                </a:solidFill>
                <a:latin typeface="Calibri"/>
              </a:rPr>
              <a:t>status, version, start and end dates</a:t>
            </a:r>
          </a:p>
          <a:p>
            <a:pPr>
              <a:spcAft>
                <a:spcPts val="600"/>
              </a:spcAft>
            </a:pPr>
            <a:r>
              <a:rPr sz="1100" b="0" i="0">
                <a:solidFill>
                  <a:srgbClr val="5B2C83"/>
                </a:solidFill>
                <a:latin typeface="Calibri"/>
              </a:rPr>
              <a:t>■  </a:t>
            </a:r>
            <a:r>
              <a:rPr sz="1500" b="1" i="0">
                <a:solidFill>
                  <a:srgbClr val="1F1B2E"/>
                </a:solidFill>
                <a:latin typeface="Calibri"/>
              </a:rPr>
              <a:t>Catalog: </a:t>
            </a:r>
            <a:r>
              <a:rPr sz="1500" b="0" i="0">
                <a:solidFill>
                  <a:srgbClr val="1F1B2E"/>
                </a:solidFill>
                <a:latin typeface="Calibri"/>
              </a:rPr>
              <a:t>catalog, category, product 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03  PRODUCT LIFECYCLE</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End-to-end journey of an offer, from idea to obsolete</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Statuses are configurable; these are Oracle's default (seeded) statuses</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7</a:t>
            </a:r>
          </a:p>
        </p:txBody>
      </p:sp>
      <p:sp>
        <p:nvSpPr>
          <p:cNvPr id="8" name="Rounded Rectangle 7"/>
          <p:cNvSpPr/>
          <p:nvPr/>
        </p:nvSpPr>
        <p:spPr>
          <a:xfrm>
            <a:off x="548640" y="1783080"/>
            <a:ext cx="1417320" cy="914400"/>
          </a:xfrm>
          <a:prstGeom prst="roundRect">
            <a:avLst>
              <a:gd name="adj" fmla="val 12000"/>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Idea /</a:t>
            </a:r>
          </a:p>
          <a:p>
            <a:pPr algn="ctr"/>
            <a:r>
              <a:rPr sz="1300" b="0" i="0">
                <a:solidFill>
                  <a:srgbClr val="FFFFFF"/>
                </a:solidFill>
                <a:latin typeface="Calibri"/>
              </a:rPr>
              <a:t>Initiative</a:t>
            </a:r>
          </a:p>
        </p:txBody>
      </p:sp>
      <p:sp>
        <p:nvSpPr>
          <p:cNvPr id="9" name="TextBox 8"/>
          <p:cNvSpPr txBox="1"/>
          <p:nvPr/>
        </p:nvSpPr>
        <p:spPr>
          <a:xfrm>
            <a:off x="502919" y="2743200"/>
            <a:ext cx="1508760" cy="640080"/>
          </a:xfrm>
          <a:prstGeom prst="rect">
            <a:avLst/>
          </a:prstGeom>
          <a:noFill/>
        </p:spPr>
        <p:txBody>
          <a:bodyPr wrap="square" anchor="t" lIns="45720" rIns="45720">
            <a:spAutoFit/>
          </a:bodyPr>
          <a:lstStyle/>
          <a:p>
            <a:pPr algn="ctr"/>
            <a:r>
              <a:rPr sz="1200" b="0" i="0">
                <a:solidFill>
                  <a:srgbClr val="5F5A6B"/>
                </a:solidFill>
                <a:latin typeface="Calibri"/>
              </a:rPr>
              <a:t>Marketing opens an initiative</a:t>
            </a:r>
          </a:p>
        </p:txBody>
      </p:sp>
      <p:sp>
        <p:nvSpPr>
          <p:cNvPr id="10" name="Right Arrow 9"/>
          <p:cNvSpPr/>
          <p:nvPr/>
        </p:nvSpPr>
        <p:spPr>
          <a:xfrm>
            <a:off x="1975103" y="2121408"/>
            <a:ext cx="182880" cy="237744"/>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67128" y="1783080"/>
            <a:ext cx="141732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In Design</a:t>
            </a:r>
          </a:p>
        </p:txBody>
      </p:sp>
      <p:sp>
        <p:nvSpPr>
          <p:cNvPr id="12" name="TextBox 11"/>
          <p:cNvSpPr txBox="1"/>
          <p:nvPr/>
        </p:nvSpPr>
        <p:spPr>
          <a:xfrm>
            <a:off x="2121408" y="2743200"/>
            <a:ext cx="1508760" cy="640080"/>
          </a:xfrm>
          <a:prstGeom prst="rect">
            <a:avLst/>
          </a:prstGeom>
          <a:noFill/>
        </p:spPr>
        <p:txBody>
          <a:bodyPr wrap="square" anchor="t" lIns="45720" rIns="45720">
            <a:spAutoFit/>
          </a:bodyPr>
          <a:lstStyle/>
          <a:p>
            <a:pPr algn="ctr"/>
            <a:r>
              <a:rPr sz="1200" b="0" i="0">
                <a:solidFill>
                  <a:srgbClr val="5F5A6B"/>
                </a:solidFill>
                <a:latin typeface="Calibri"/>
              </a:rPr>
              <a:t>Define offer, price, rules</a:t>
            </a:r>
          </a:p>
        </p:txBody>
      </p:sp>
      <p:sp>
        <p:nvSpPr>
          <p:cNvPr id="13" name="Right Arrow 12"/>
          <p:cNvSpPr/>
          <p:nvPr/>
        </p:nvSpPr>
        <p:spPr>
          <a:xfrm>
            <a:off x="3593591" y="2121408"/>
            <a:ext cx="182880" cy="237744"/>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85615" y="1783080"/>
            <a:ext cx="1417320" cy="914400"/>
          </a:xfrm>
          <a:prstGeom prst="roundRect">
            <a:avLst>
              <a:gd name="adj" fmla="val 12000"/>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Approvals</a:t>
            </a:r>
          </a:p>
          <a:p>
            <a:pPr algn="ctr"/>
            <a:r>
              <a:rPr sz="1300" b="0" i="0">
                <a:solidFill>
                  <a:srgbClr val="FFFFFF"/>
                </a:solidFill>
                <a:latin typeface="Calibri"/>
              </a:rPr>
              <a:t>Pending</a:t>
            </a:r>
          </a:p>
        </p:txBody>
      </p:sp>
      <p:sp>
        <p:nvSpPr>
          <p:cNvPr id="15" name="TextBox 14"/>
          <p:cNvSpPr txBox="1"/>
          <p:nvPr/>
        </p:nvSpPr>
        <p:spPr>
          <a:xfrm>
            <a:off x="3739896" y="2743200"/>
            <a:ext cx="1508760" cy="640080"/>
          </a:xfrm>
          <a:prstGeom prst="rect">
            <a:avLst/>
          </a:prstGeom>
          <a:noFill/>
        </p:spPr>
        <p:txBody>
          <a:bodyPr wrap="square" anchor="t" lIns="45720" rIns="45720">
            <a:spAutoFit/>
          </a:bodyPr>
          <a:lstStyle/>
          <a:p>
            <a:pPr algn="ctr"/>
            <a:r>
              <a:rPr sz="1200" b="0" i="0">
                <a:solidFill>
                  <a:srgbClr val="5F5A6B"/>
                </a:solidFill>
                <a:latin typeface="Calibri"/>
              </a:rPr>
              <a:t>Optional approval step</a:t>
            </a:r>
          </a:p>
        </p:txBody>
      </p:sp>
      <p:sp>
        <p:nvSpPr>
          <p:cNvPr id="16" name="Right Arrow 15"/>
          <p:cNvSpPr/>
          <p:nvPr/>
        </p:nvSpPr>
        <p:spPr>
          <a:xfrm>
            <a:off x="5212079" y="2121408"/>
            <a:ext cx="182880" cy="237744"/>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04104" y="1783080"/>
            <a:ext cx="141732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Ready to</a:t>
            </a:r>
          </a:p>
          <a:p>
            <a:pPr algn="ctr"/>
            <a:r>
              <a:rPr sz="1300" b="0" i="0">
                <a:solidFill>
                  <a:srgbClr val="FFFFFF"/>
                </a:solidFill>
                <a:latin typeface="Calibri"/>
              </a:rPr>
              <a:t>Publish</a:t>
            </a:r>
          </a:p>
        </p:txBody>
      </p:sp>
      <p:sp>
        <p:nvSpPr>
          <p:cNvPr id="18" name="TextBox 17"/>
          <p:cNvSpPr txBox="1"/>
          <p:nvPr/>
        </p:nvSpPr>
        <p:spPr>
          <a:xfrm>
            <a:off x="5358384" y="2743200"/>
            <a:ext cx="1508760" cy="640080"/>
          </a:xfrm>
          <a:prstGeom prst="rect">
            <a:avLst/>
          </a:prstGeom>
          <a:noFill/>
        </p:spPr>
        <p:txBody>
          <a:bodyPr wrap="square" anchor="t" lIns="45720" rIns="45720">
            <a:spAutoFit/>
          </a:bodyPr>
          <a:lstStyle/>
          <a:p>
            <a:pPr algn="ctr"/>
            <a:r>
              <a:rPr sz="1200" b="0" i="0">
                <a:solidFill>
                  <a:srgbClr val="5F5A6B"/>
                </a:solidFill>
                <a:latin typeface="Calibri"/>
              </a:rPr>
              <a:t>Locked; sent to test systems</a:t>
            </a:r>
          </a:p>
        </p:txBody>
      </p:sp>
      <p:sp>
        <p:nvSpPr>
          <p:cNvPr id="19" name="Right Arrow 18"/>
          <p:cNvSpPr/>
          <p:nvPr/>
        </p:nvSpPr>
        <p:spPr>
          <a:xfrm>
            <a:off x="6830568" y="2121408"/>
            <a:ext cx="182880" cy="237744"/>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22592" y="1783080"/>
            <a:ext cx="141732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In Test</a:t>
            </a:r>
          </a:p>
        </p:txBody>
      </p:sp>
      <p:sp>
        <p:nvSpPr>
          <p:cNvPr id="21" name="TextBox 20"/>
          <p:cNvSpPr txBox="1"/>
          <p:nvPr/>
        </p:nvSpPr>
        <p:spPr>
          <a:xfrm>
            <a:off x="6976872" y="2743200"/>
            <a:ext cx="1508760" cy="640080"/>
          </a:xfrm>
          <a:prstGeom prst="rect">
            <a:avLst/>
          </a:prstGeom>
          <a:noFill/>
        </p:spPr>
        <p:txBody>
          <a:bodyPr wrap="square" anchor="t" lIns="45720" rIns="45720">
            <a:spAutoFit/>
          </a:bodyPr>
          <a:lstStyle/>
          <a:p>
            <a:pPr algn="ctr"/>
            <a:r>
              <a:rPr sz="1200" b="0" i="0">
                <a:solidFill>
                  <a:srgbClr val="5F5A6B"/>
                </a:solidFill>
                <a:latin typeface="Calibri"/>
              </a:rPr>
              <a:t>QA in SIT / UAT</a:t>
            </a:r>
          </a:p>
        </p:txBody>
      </p:sp>
      <p:sp>
        <p:nvSpPr>
          <p:cNvPr id="22" name="Right Arrow 21"/>
          <p:cNvSpPr/>
          <p:nvPr/>
        </p:nvSpPr>
        <p:spPr>
          <a:xfrm>
            <a:off x="8449056" y="2121408"/>
            <a:ext cx="182880" cy="237744"/>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41080" y="1783080"/>
            <a:ext cx="1417320" cy="9144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Active</a:t>
            </a:r>
          </a:p>
        </p:txBody>
      </p:sp>
      <p:sp>
        <p:nvSpPr>
          <p:cNvPr id="24" name="TextBox 23"/>
          <p:cNvSpPr txBox="1"/>
          <p:nvPr/>
        </p:nvSpPr>
        <p:spPr>
          <a:xfrm>
            <a:off x="8595359" y="2743200"/>
            <a:ext cx="1508760" cy="640080"/>
          </a:xfrm>
          <a:prstGeom prst="rect">
            <a:avLst/>
          </a:prstGeom>
          <a:noFill/>
        </p:spPr>
        <p:txBody>
          <a:bodyPr wrap="square" anchor="t" lIns="45720" rIns="45720">
            <a:spAutoFit/>
          </a:bodyPr>
          <a:lstStyle/>
          <a:p>
            <a:pPr algn="ctr"/>
            <a:r>
              <a:rPr sz="1200" b="0" i="0">
                <a:solidFill>
                  <a:srgbClr val="5F5A6B"/>
                </a:solidFill>
                <a:latin typeface="Calibri"/>
              </a:rPr>
              <a:t>Promoted to production</a:t>
            </a:r>
          </a:p>
        </p:txBody>
      </p:sp>
      <p:sp>
        <p:nvSpPr>
          <p:cNvPr id="25" name="Right Arrow 24"/>
          <p:cNvSpPr/>
          <p:nvPr/>
        </p:nvSpPr>
        <p:spPr>
          <a:xfrm>
            <a:off x="10067544" y="2121408"/>
            <a:ext cx="182880" cy="237744"/>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259568" y="1783080"/>
            <a:ext cx="1417320" cy="91440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Launched</a:t>
            </a:r>
          </a:p>
        </p:txBody>
      </p:sp>
      <p:sp>
        <p:nvSpPr>
          <p:cNvPr id="27" name="TextBox 26"/>
          <p:cNvSpPr txBox="1"/>
          <p:nvPr/>
        </p:nvSpPr>
        <p:spPr>
          <a:xfrm>
            <a:off x="10213848" y="2743200"/>
            <a:ext cx="1508760" cy="640080"/>
          </a:xfrm>
          <a:prstGeom prst="rect">
            <a:avLst/>
          </a:prstGeom>
          <a:noFill/>
        </p:spPr>
        <p:txBody>
          <a:bodyPr wrap="square" anchor="t" lIns="45720" rIns="45720">
            <a:spAutoFit/>
          </a:bodyPr>
          <a:lstStyle/>
          <a:p>
            <a:pPr algn="ctr"/>
            <a:r>
              <a:rPr sz="1200" b="0" i="0">
                <a:solidFill>
                  <a:srgbClr val="5F5A6B"/>
                </a:solidFill>
                <a:latin typeface="Calibri"/>
              </a:rPr>
              <a:t>Sellable in channels</a:t>
            </a:r>
          </a:p>
        </p:txBody>
      </p:sp>
      <p:sp>
        <p:nvSpPr>
          <p:cNvPr id="28" name="TextBox 27"/>
          <p:cNvSpPr txBox="1"/>
          <p:nvPr/>
        </p:nvSpPr>
        <p:spPr>
          <a:xfrm>
            <a:off x="548640" y="3474720"/>
            <a:ext cx="5486400" cy="365760"/>
          </a:xfrm>
          <a:prstGeom prst="rect">
            <a:avLst/>
          </a:prstGeom>
          <a:noFill/>
        </p:spPr>
        <p:txBody>
          <a:bodyPr wrap="square" anchor="t" lIns="45720" rIns="45720">
            <a:spAutoFit/>
          </a:bodyPr>
          <a:lstStyle/>
          <a:p>
            <a:pPr algn="l"/>
            <a:r>
              <a:rPr sz="1700" b="1" i="0">
                <a:solidFill>
                  <a:srgbClr val="5B2C83"/>
                </a:solidFill>
                <a:latin typeface="Calibri"/>
              </a:rPr>
              <a:t>After launch: change or end of life</a:t>
            </a:r>
          </a:p>
        </p:txBody>
      </p:sp>
      <p:sp>
        <p:nvSpPr>
          <p:cNvPr id="29" name="Rounded Rectangle 28"/>
          <p:cNvSpPr/>
          <p:nvPr/>
        </p:nvSpPr>
        <p:spPr>
          <a:xfrm>
            <a:off x="548640" y="3931920"/>
            <a:ext cx="2377440" cy="868680"/>
          </a:xfrm>
          <a:prstGeom prst="roundRect">
            <a:avLst>
              <a:gd name="adj" fmla="val 12000"/>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Revise</a:t>
            </a:r>
          </a:p>
        </p:txBody>
      </p:sp>
      <p:sp>
        <p:nvSpPr>
          <p:cNvPr id="30" name="TextBox 29"/>
          <p:cNvSpPr txBox="1"/>
          <p:nvPr/>
        </p:nvSpPr>
        <p:spPr>
          <a:xfrm>
            <a:off x="548640" y="4846320"/>
            <a:ext cx="2377440" cy="365760"/>
          </a:xfrm>
          <a:prstGeom prst="rect">
            <a:avLst/>
          </a:prstGeom>
          <a:noFill/>
        </p:spPr>
        <p:txBody>
          <a:bodyPr wrap="square" anchor="t" lIns="45720" rIns="45720">
            <a:spAutoFit/>
          </a:bodyPr>
          <a:lstStyle/>
          <a:p>
            <a:pPr algn="ctr"/>
            <a:r>
              <a:rPr sz="1200" b="0" i="0">
                <a:solidFill>
                  <a:srgbClr val="5F5A6B"/>
                </a:solidFill>
                <a:latin typeface="Calibri"/>
              </a:rPr>
              <a:t>new version starts In Design</a:t>
            </a:r>
          </a:p>
        </p:txBody>
      </p:sp>
      <p:sp>
        <p:nvSpPr>
          <p:cNvPr id="31" name="Right Arrow 30"/>
          <p:cNvSpPr/>
          <p:nvPr/>
        </p:nvSpPr>
        <p:spPr>
          <a:xfrm>
            <a:off x="2971800" y="4224528"/>
            <a:ext cx="365760"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83280" y="3931920"/>
            <a:ext cx="2377440" cy="868680"/>
          </a:xfrm>
          <a:prstGeom prst="roundRect">
            <a:avLst>
              <a:gd name="adj" fmla="val 12000"/>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Awaiting</a:t>
            </a:r>
          </a:p>
          <a:p>
            <a:pPr algn="ctr"/>
            <a:r>
              <a:rPr sz="1300" b="0" i="0">
                <a:solidFill>
                  <a:srgbClr val="FFFFFF"/>
                </a:solidFill>
                <a:latin typeface="Calibri"/>
              </a:rPr>
              <a:t>Retirement</a:t>
            </a:r>
          </a:p>
        </p:txBody>
      </p:sp>
      <p:sp>
        <p:nvSpPr>
          <p:cNvPr id="33" name="TextBox 32"/>
          <p:cNvSpPr txBox="1"/>
          <p:nvPr/>
        </p:nvSpPr>
        <p:spPr>
          <a:xfrm>
            <a:off x="3383280" y="4846320"/>
            <a:ext cx="2377440" cy="365760"/>
          </a:xfrm>
          <a:prstGeom prst="rect">
            <a:avLst/>
          </a:prstGeom>
          <a:noFill/>
        </p:spPr>
        <p:txBody>
          <a:bodyPr wrap="square" anchor="t" lIns="45720" rIns="45720">
            <a:spAutoFit/>
          </a:bodyPr>
          <a:lstStyle/>
          <a:p>
            <a:pPr algn="ctr"/>
            <a:r>
              <a:rPr sz="1200" b="0" i="0">
                <a:solidFill>
                  <a:srgbClr val="5F5A6B"/>
                </a:solidFill>
                <a:latin typeface="Calibri"/>
              </a:rPr>
              <a:t>linked to an initiative</a:t>
            </a:r>
          </a:p>
        </p:txBody>
      </p:sp>
      <p:sp>
        <p:nvSpPr>
          <p:cNvPr id="34" name="Right Arrow 33"/>
          <p:cNvSpPr/>
          <p:nvPr/>
        </p:nvSpPr>
        <p:spPr>
          <a:xfrm>
            <a:off x="5806440" y="4224528"/>
            <a:ext cx="365760"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17920" y="3931920"/>
            <a:ext cx="2377440" cy="868680"/>
          </a:xfrm>
          <a:prstGeom prst="roundRect">
            <a:avLst>
              <a:gd name="adj" fmla="val 12000"/>
            </a:avLst>
          </a:prstGeom>
          <a:solidFill>
            <a:srgbClr val="C746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Retired</a:t>
            </a:r>
          </a:p>
        </p:txBody>
      </p:sp>
      <p:sp>
        <p:nvSpPr>
          <p:cNvPr id="36" name="TextBox 35"/>
          <p:cNvSpPr txBox="1"/>
          <p:nvPr/>
        </p:nvSpPr>
        <p:spPr>
          <a:xfrm>
            <a:off x="6217920" y="4846320"/>
            <a:ext cx="2377440" cy="365760"/>
          </a:xfrm>
          <a:prstGeom prst="rect">
            <a:avLst/>
          </a:prstGeom>
          <a:noFill/>
        </p:spPr>
        <p:txBody>
          <a:bodyPr wrap="square" anchor="t" lIns="45720" rIns="45720">
            <a:spAutoFit/>
          </a:bodyPr>
          <a:lstStyle/>
          <a:p>
            <a:pPr algn="ctr"/>
            <a:r>
              <a:rPr sz="1200" b="0" i="0">
                <a:solidFill>
                  <a:srgbClr val="5F5A6B"/>
                </a:solidFill>
                <a:latin typeface="Calibri"/>
              </a:rPr>
              <a:t>no new sales</a:t>
            </a:r>
          </a:p>
        </p:txBody>
      </p:sp>
      <p:sp>
        <p:nvSpPr>
          <p:cNvPr id="37" name="Right Arrow 36"/>
          <p:cNvSpPr/>
          <p:nvPr/>
        </p:nvSpPr>
        <p:spPr>
          <a:xfrm>
            <a:off x="8641080" y="4224528"/>
            <a:ext cx="365760"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052560" y="3931920"/>
            <a:ext cx="2377440" cy="868680"/>
          </a:xfrm>
          <a:prstGeom prst="roundRect">
            <a:avLst>
              <a:gd name="adj" fmla="val 12000"/>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Obsolete</a:t>
            </a:r>
          </a:p>
        </p:txBody>
      </p:sp>
      <p:sp>
        <p:nvSpPr>
          <p:cNvPr id="39" name="TextBox 38"/>
          <p:cNvSpPr txBox="1"/>
          <p:nvPr/>
        </p:nvSpPr>
        <p:spPr>
          <a:xfrm>
            <a:off x="9052560" y="4846320"/>
            <a:ext cx="2377440" cy="365760"/>
          </a:xfrm>
          <a:prstGeom prst="rect">
            <a:avLst/>
          </a:prstGeom>
          <a:noFill/>
        </p:spPr>
        <p:txBody>
          <a:bodyPr wrap="square" anchor="t" lIns="45720" rIns="45720">
            <a:spAutoFit/>
          </a:bodyPr>
          <a:lstStyle/>
          <a:p>
            <a:pPr algn="ctr"/>
            <a:r>
              <a:rPr sz="1200" b="0" i="0">
                <a:solidFill>
                  <a:srgbClr val="5F5A6B"/>
                </a:solidFill>
                <a:latin typeface="Calibri"/>
              </a:rPr>
              <a:t>archived</a:t>
            </a:r>
          </a:p>
        </p:txBody>
      </p:sp>
      <p:sp>
        <p:nvSpPr>
          <p:cNvPr id="40" name="TextBox 39"/>
          <p:cNvSpPr txBox="1"/>
          <p:nvPr/>
        </p:nvSpPr>
        <p:spPr>
          <a:xfrm>
            <a:off x="548640" y="5349240"/>
            <a:ext cx="11247120" cy="1005840"/>
          </a:xfrm>
          <a:prstGeom prst="rect">
            <a:avLst/>
          </a:prstGeom>
          <a:noFill/>
        </p:spPr>
        <p:txBody>
          <a:bodyPr wrap="square">
            <a:spAutoFit/>
          </a:bodyPr>
          <a:lstStyle/>
          <a:p>
            <a:pPr>
              <a:spcAft>
                <a:spcPts val="300"/>
              </a:spcAft>
            </a:pPr>
            <a:r>
              <a:rPr sz="900" b="0" i="0">
                <a:solidFill>
                  <a:srgbClr val="5B2C83"/>
                </a:solidFill>
                <a:latin typeface="Calibri"/>
              </a:rPr>
              <a:t>■  </a:t>
            </a:r>
            <a:r>
              <a:rPr sz="1300" b="1" i="0">
                <a:solidFill>
                  <a:srgbClr val="1F1B2E"/>
                </a:solidFill>
                <a:latin typeface="Calibri"/>
              </a:rPr>
              <a:t>Rule: </a:t>
            </a:r>
            <a:r>
              <a:rPr sz="1300" b="0" i="0">
                <a:solidFill>
                  <a:srgbClr val="1F1B2E"/>
                </a:solidFill>
                <a:latin typeface="Calibri"/>
              </a:rPr>
              <a:t>content is designed in the test instance only, then migrated to production; each status controls editing, approval and publishing</a:t>
            </a:r>
          </a:p>
          <a:p>
            <a:pPr>
              <a:spcAft>
                <a:spcPts val="300"/>
              </a:spcAft>
            </a:pPr>
            <a:r>
              <a:rPr sz="900" b="0" i="0">
                <a:solidFill>
                  <a:srgbClr val="5B2C83"/>
                </a:solidFill>
                <a:latin typeface="Calibri"/>
              </a:rPr>
              <a:t>■  </a:t>
            </a:r>
            <a:r>
              <a:rPr sz="1300" b="1" i="0">
                <a:solidFill>
                  <a:srgbClr val="1F1B2E"/>
                </a:solidFill>
                <a:latin typeface="Calibri"/>
              </a:rPr>
              <a:t>Rule: </a:t>
            </a:r>
            <a:r>
              <a:rPr sz="1300" b="0" i="0">
                <a:solidFill>
                  <a:srgbClr val="1F1B2E"/>
                </a:solidFill>
                <a:latin typeface="Calibri"/>
              </a:rPr>
              <a:t>only one launched version of an offer at a time; you can retire an offer only when no version is still in design or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03  IDEATION &amp; DEFINITION</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How an idea from marketing becomes a defined product</a:t>
            </a:r>
          </a:p>
        </p:txBody>
      </p:sp>
      <p:sp>
        <p:nvSpPr>
          <p:cNvPr id="5" name="TextBox 4"/>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6" name="TextBox 5"/>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8</a:t>
            </a:r>
          </a:p>
        </p:txBody>
      </p:sp>
      <p:sp>
        <p:nvSpPr>
          <p:cNvPr id="7" name="Rounded Rectangle 6"/>
          <p:cNvSpPr/>
          <p:nvPr/>
        </p:nvSpPr>
        <p:spPr>
          <a:xfrm>
            <a:off x="548640" y="1463040"/>
            <a:ext cx="539496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Product Ideation: the Initiative</a:t>
            </a:r>
          </a:p>
        </p:txBody>
      </p:sp>
      <p:sp>
        <p:nvSpPr>
          <p:cNvPr id="8" name="TextBox 7"/>
          <p:cNvSpPr txBox="1"/>
          <p:nvPr/>
        </p:nvSpPr>
        <p:spPr>
          <a:xfrm>
            <a:off x="548640" y="2057400"/>
            <a:ext cx="5394960" cy="2743200"/>
          </a:xfrm>
          <a:prstGeom prst="rect">
            <a:avLst/>
          </a:prstGeom>
          <a:noFill/>
        </p:spPr>
        <p:txBody>
          <a:bodyPr wrap="square">
            <a:spAutoFit/>
          </a:bodyPr>
          <a:lstStyle/>
          <a:p>
            <a:pPr>
              <a:spcAft>
                <a:spcPts val="600"/>
              </a:spcAft>
            </a:pPr>
            <a:r>
              <a:rPr sz="1100" b="0" i="0">
                <a:solidFill>
                  <a:srgbClr val="5B2C83"/>
                </a:solidFill>
                <a:latin typeface="Calibri"/>
              </a:rPr>
              <a:t>■  </a:t>
            </a:r>
            <a:r>
              <a:rPr sz="1500" b="0" i="0">
                <a:solidFill>
                  <a:srgbClr val="1F1B2E"/>
                </a:solidFill>
                <a:latin typeface="Calibri"/>
              </a:rPr>
              <a:t>Marketing / product manager creates an initiative for a market release</a:t>
            </a:r>
          </a:p>
          <a:p>
            <a:pPr>
              <a:spcAft>
                <a:spcPts val="600"/>
              </a:spcAft>
            </a:pPr>
            <a:r>
              <a:rPr sz="1100" b="0" i="0">
                <a:solidFill>
                  <a:srgbClr val="5B2C83"/>
                </a:solidFill>
                <a:latin typeface="Calibri"/>
              </a:rPr>
              <a:t>■  </a:t>
            </a:r>
            <a:r>
              <a:rPr sz="1500" b="0" i="0">
                <a:solidFill>
                  <a:srgbClr val="1F1B2E"/>
                </a:solidFill>
                <a:latin typeface="Calibri"/>
              </a:rPr>
              <a:t>Attach the business case, requirements and design documents</a:t>
            </a:r>
          </a:p>
          <a:p>
            <a:pPr>
              <a:spcAft>
                <a:spcPts val="600"/>
              </a:spcAft>
            </a:pPr>
            <a:r>
              <a:rPr sz="1100" b="0" i="0">
                <a:solidFill>
                  <a:srgbClr val="5B2C83"/>
                </a:solidFill>
                <a:latin typeface="Calibri"/>
              </a:rPr>
              <a:t>■  </a:t>
            </a:r>
            <a:r>
              <a:rPr sz="1500" b="0" i="0">
                <a:solidFill>
                  <a:srgbClr val="1F1B2E"/>
                </a:solidFill>
                <a:latin typeface="Calibri"/>
              </a:rPr>
              <a:t>Add the team and the approvers for all offers in the initiative</a:t>
            </a:r>
          </a:p>
          <a:p>
            <a:pPr>
              <a:spcAft>
                <a:spcPts val="600"/>
              </a:spcAft>
            </a:pPr>
            <a:r>
              <a:rPr sz="1100" b="0" i="0">
                <a:solidFill>
                  <a:srgbClr val="5B2C83"/>
                </a:solidFill>
                <a:latin typeface="Calibri"/>
              </a:rPr>
              <a:t>■  </a:t>
            </a:r>
            <a:r>
              <a:rPr sz="1500" b="0" i="0">
                <a:solidFill>
                  <a:srgbClr val="1F1B2E"/>
                </a:solidFill>
                <a:latin typeface="Calibri"/>
              </a:rPr>
              <a:t>Notifications on assignment, approval requests and publish status</a:t>
            </a:r>
          </a:p>
          <a:p>
            <a:pPr>
              <a:spcAft>
                <a:spcPts val="600"/>
              </a:spcAft>
            </a:pPr>
            <a:r>
              <a:rPr sz="1100" b="0" i="0">
                <a:solidFill>
                  <a:srgbClr val="5B2C83"/>
                </a:solidFill>
                <a:latin typeface="Calibri"/>
              </a:rPr>
              <a:t>■  </a:t>
            </a:r>
            <a:r>
              <a:rPr sz="1500" b="0" i="0">
                <a:solidFill>
                  <a:srgbClr val="1F1B2E"/>
                </a:solidFill>
                <a:latin typeface="Calibri"/>
              </a:rPr>
              <a:t>Dashboard shows every initiative and its status</a:t>
            </a:r>
          </a:p>
        </p:txBody>
      </p:sp>
      <p:sp>
        <p:nvSpPr>
          <p:cNvPr id="9" name="Rounded Rectangle 8"/>
          <p:cNvSpPr/>
          <p:nvPr/>
        </p:nvSpPr>
        <p:spPr>
          <a:xfrm>
            <a:off x="6309360" y="1463040"/>
            <a:ext cx="539496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Product Definition: the guided offer flow</a:t>
            </a:r>
          </a:p>
        </p:txBody>
      </p:sp>
      <p:sp>
        <p:nvSpPr>
          <p:cNvPr id="10" name="Oval 9"/>
          <p:cNvSpPr/>
          <p:nvPr/>
        </p:nvSpPr>
        <p:spPr>
          <a:xfrm>
            <a:off x="6309360" y="2057400"/>
            <a:ext cx="384048" cy="365760"/>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1" name="TextBox 10"/>
          <p:cNvSpPr txBox="1"/>
          <p:nvPr/>
        </p:nvSpPr>
        <p:spPr>
          <a:xfrm>
            <a:off x="6812280" y="2075688"/>
            <a:ext cx="4937760" cy="365760"/>
          </a:xfrm>
          <a:prstGeom prst="rect">
            <a:avLst/>
          </a:prstGeom>
          <a:noFill/>
        </p:spPr>
        <p:txBody>
          <a:bodyPr wrap="square" anchor="t" lIns="45720" rIns="45720">
            <a:spAutoFit/>
          </a:bodyPr>
          <a:lstStyle/>
          <a:p>
            <a:pPr algn="l"/>
            <a:r>
              <a:rPr sz="1500" b="0" i="0">
                <a:solidFill>
                  <a:srgbClr val="1F1B2E"/>
                </a:solidFill>
                <a:latin typeface="Calibri"/>
              </a:rPr>
              <a:t>General info: name, type, dates, catalog</a:t>
            </a:r>
          </a:p>
        </p:txBody>
      </p:sp>
      <p:sp>
        <p:nvSpPr>
          <p:cNvPr id="12" name="Oval 11"/>
          <p:cNvSpPr/>
          <p:nvPr/>
        </p:nvSpPr>
        <p:spPr>
          <a:xfrm>
            <a:off x="6309360" y="2487168"/>
            <a:ext cx="384048" cy="365760"/>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3" name="TextBox 12"/>
          <p:cNvSpPr txBox="1"/>
          <p:nvPr/>
        </p:nvSpPr>
        <p:spPr>
          <a:xfrm>
            <a:off x="6812280" y="2505456"/>
            <a:ext cx="4937760" cy="365760"/>
          </a:xfrm>
          <a:prstGeom prst="rect">
            <a:avLst/>
          </a:prstGeom>
          <a:noFill/>
        </p:spPr>
        <p:txBody>
          <a:bodyPr wrap="square" anchor="t" lIns="45720" rIns="45720">
            <a:spAutoFit/>
          </a:bodyPr>
          <a:lstStyle/>
          <a:p>
            <a:pPr algn="l"/>
            <a:r>
              <a:rPr sz="1500" b="0" i="0">
                <a:solidFill>
                  <a:srgbClr val="1F1B2E"/>
                </a:solidFill>
                <a:latin typeface="Calibri"/>
              </a:rPr>
              <a:t>Attributes from the product specification</a:t>
            </a:r>
          </a:p>
        </p:txBody>
      </p:sp>
      <p:sp>
        <p:nvSpPr>
          <p:cNvPr id="14" name="Oval 13"/>
          <p:cNvSpPr/>
          <p:nvPr/>
        </p:nvSpPr>
        <p:spPr>
          <a:xfrm>
            <a:off x="6309360" y="2916936"/>
            <a:ext cx="384048" cy="365760"/>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15" name="TextBox 14"/>
          <p:cNvSpPr txBox="1"/>
          <p:nvPr/>
        </p:nvSpPr>
        <p:spPr>
          <a:xfrm>
            <a:off x="6812280" y="2935224"/>
            <a:ext cx="4937760" cy="365760"/>
          </a:xfrm>
          <a:prstGeom prst="rect">
            <a:avLst/>
          </a:prstGeom>
          <a:noFill/>
        </p:spPr>
        <p:txBody>
          <a:bodyPr wrap="square" anchor="t" lIns="45720" rIns="45720">
            <a:spAutoFit/>
          </a:bodyPr>
          <a:lstStyle/>
          <a:p>
            <a:pPr algn="l"/>
            <a:r>
              <a:rPr sz="1500" b="0" i="0">
                <a:solidFill>
                  <a:srgbClr val="1F1B2E"/>
                </a:solidFill>
                <a:latin typeface="Calibri"/>
              </a:rPr>
              <a:t>Components and option groups (bundles)</a:t>
            </a:r>
          </a:p>
        </p:txBody>
      </p:sp>
      <p:sp>
        <p:nvSpPr>
          <p:cNvPr id="16" name="Oval 15"/>
          <p:cNvSpPr/>
          <p:nvPr/>
        </p:nvSpPr>
        <p:spPr>
          <a:xfrm>
            <a:off x="6309360" y="3346704"/>
            <a:ext cx="384048" cy="365760"/>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17" name="TextBox 16"/>
          <p:cNvSpPr txBox="1"/>
          <p:nvPr/>
        </p:nvSpPr>
        <p:spPr>
          <a:xfrm>
            <a:off x="6812280" y="3364992"/>
            <a:ext cx="4937760" cy="365760"/>
          </a:xfrm>
          <a:prstGeom prst="rect">
            <a:avLst/>
          </a:prstGeom>
          <a:noFill/>
        </p:spPr>
        <p:txBody>
          <a:bodyPr wrap="square" anchor="t" lIns="45720" rIns="45720">
            <a:spAutoFit/>
          </a:bodyPr>
          <a:lstStyle/>
          <a:p>
            <a:pPr algn="l"/>
            <a:r>
              <a:rPr sz="1500" b="0" i="0">
                <a:solidFill>
                  <a:srgbClr val="1F1B2E"/>
                </a:solidFill>
                <a:latin typeface="Calibri"/>
              </a:rPr>
              <a:t>Pricing and commitment terms</a:t>
            </a:r>
          </a:p>
        </p:txBody>
      </p:sp>
      <p:sp>
        <p:nvSpPr>
          <p:cNvPr id="18" name="Oval 17"/>
          <p:cNvSpPr/>
          <p:nvPr/>
        </p:nvSpPr>
        <p:spPr>
          <a:xfrm>
            <a:off x="6309360" y="3776472"/>
            <a:ext cx="384048" cy="365760"/>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5</a:t>
            </a:r>
          </a:p>
        </p:txBody>
      </p:sp>
      <p:sp>
        <p:nvSpPr>
          <p:cNvPr id="19" name="TextBox 18"/>
          <p:cNvSpPr txBox="1"/>
          <p:nvPr/>
        </p:nvSpPr>
        <p:spPr>
          <a:xfrm>
            <a:off x="6812280" y="3794759"/>
            <a:ext cx="4937760" cy="365760"/>
          </a:xfrm>
          <a:prstGeom prst="rect">
            <a:avLst/>
          </a:prstGeom>
          <a:noFill/>
        </p:spPr>
        <p:txBody>
          <a:bodyPr wrap="square" anchor="t" lIns="45720" rIns="45720">
            <a:spAutoFit/>
          </a:bodyPr>
          <a:lstStyle/>
          <a:p>
            <a:pPr algn="l"/>
            <a:r>
              <a:rPr sz="1500" b="0" i="0">
                <a:solidFill>
                  <a:srgbClr val="1F1B2E"/>
                </a:solidFill>
                <a:latin typeface="Calibri"/>
              </a:rPr>
              <a:t>Rules: eligibility, compatibility, migration</a:t>
            </a:r>
          </a:p>
        </p:txBody>
      </p:sp>
      <p:sp>
        <p:nvSpPr>
          <p:cNvPr id="20" name="Oval 19"/>
          <p:cNvSpPr/>
          <p:nvPr/>
        </p:nvSpPr>
        <p:spPr>
          <a:xfrm>
            <a:off x="6309360" y="4206240"/>
            <a:ext cx="384048" cy="365760"/>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6</a:t>
            </a:r>
          </a:p>
        </p:txBody>
      </p:sp>
      <p:sp>
        <p:nvSpPr>
          <p:cNvPr id="21" name="TextBox 20"/>
          <p:cNvSpPr txBox="1"/>
          <p:nvPr/>
        </p:nvSpPr>
        <p:spPr>
          <a:xfrm>
            <a:off x="6812280" y="4224527"/>
            <a:ext cx="4937760" cy="365760"/>
          </a:xfrm>
          <a:prstGeom prst="rect">
            <a:avLst/>
          </a:prstGeom>
          <a:noFill/>
        </p:spPr>
        <p:txBody>
          <a:bodyPr wrap="square" anchor="t" lIns="45720" rIns="45720">
            <a:spAutoFit/>
          </a:bodyPr>
          <a:lstStyle/>
          <a:p>
            <a:pPr algn="l"/>
            <a:r>
              <a:rPr sz="1500" b="0" i="0">
                <a:solidFill>
                  <a:srgbClr val="1F1B2E"/>
                </a:solidFill>
                <a:latin typeface="Calibri"/>
              </a:rPr>
              <a:t>Channels, locations, market segments</a:t>
            </a:r>
          </a:p>
        </p:txBody>
      </p:sp>
      <p:sp>
        <p:nvSpPr>
          <p:cNvPr id="22" name="Oval 21"/>
          <p:cNvSpPr/>
          <p:nvPr/>
        </p:nvSpPr>
        <p:spPr>
          <a:xfrm>
            <a:off x="6309360" y="4636008"/>
            <a:ext cx="384048" cy="365760"/>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7</a:t>
            </a:r>
          </a:p>
        </p:txBody>
      </p:sp>
      <p:sp>
        <p:nvSpPr>
          <p:cNvPr id="23" name="TextBox 22"/>
          <p:cNvSpPr txBox="1"/>
          <p:nvPr/>
        </p:nvSpPr>
        <p:spPr>
          <a:xfrm>
            <a:off x="6812280" y="4654296"/>
            <a:ext cx="4937760" cy="365760"/>
          </a:xfrm>
          <a:prstGeom prst="rect">
            <a:avLst/>
          </a:prstGeom>
          <a:noFill/>
        </p:spPr>
        <p:txBody>
          <a:bodyPr wrap="square" anchor="t" lIns="45720" rIns="45720">
            <a:spAutoFit/>
          </a:bodyPr>
          <a:lstStyle/>
          <a:p>
            <a:pPr algn="l"/>
            <a:r>
              <a:rPr sz="1500" b="0" i="0">
                <a:solidFill>
                  <a:srgbClr val="1F1B2E"/>
                </a:solidFill>
                <a:latin typeface="Calibri"/>
              </a:rPr>
              <a:t>Approvals, then Confirm</a:t>
            </a:r>
          </a:p>
        </p:txBody>
      </p:sp>
      <p:sp>
        <p:nvSpPr>
          <p:cNvPr id="24" name="Rounded Rectangle 23"/>
          <p:cNvSpPr/>
          <p:nvPr/>
        </p:nvSpPr>
        <p:spPr>
          <a:xfrm>
            <a:off x="548640" y="5257800"/>
            <a:ext cx="11155680" cy="96012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500" b="1" i="0">
                <a:solidFill>
                  <a:srgbClr val="1F1B2E"/>
                </a:solidFill>
                <a:latin typeface="Calibri"/>
              </a:rPr>
              <a:t>Gap we noticed (an opportunity for our own system)</a:t>
            </a:r>
          </a:p>
          <a:p>
            <a:pPr algn="l"/>
            <a:r>
              <a:rPr sz="1300" b="0" i="0">
                <a:solidFill>
                  <a:srgbClr val="1F1B2E"/>
                </a:solidFill>
                <a:latin typeface="Calibri"/>
              </a:rPr>
              <a:t>Oracle starts once an initiative exists. It has no idea backlog, idea scoring or business-case approval before design. If we build in-house, an Idea &amp; Business Case module is a real value-add.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04  WORKFLOW &amp; APPROVALS</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Who approves what, and how the workflow runs</a:t>
            </a:r>
          </a:p>
        </p:txBody>
      </p:sp>
      <p:sp>
        <p:nvSpPr>
          <p:cNvPr id="5" name="TextBox 4"/>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6" name="TextBox 5"/>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9</a:t>
            </a:r>
          </a:p>
        </p:txBody>
      </p:sp>
      <p:sp>
        <p:nvSpPr>
          <p:cNvPr id="7" name="Rounded Rectangle 6"/>
          <p:cNvSpPr/>
          <p:nvPr/>
        </p:nvSpPr>
        <p:spPr>
          <a:xfrm>
            <a:off x="548640" y="1508760"/>
            <a:ext cx="1645920" cy="86868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Designer</a:t>
            </a:r>
          </a:p>
          <a:p>
            <a:pPr algn="ctr"/>
            <a:r>
              <a:rPr sz="1100" b="0" i="0">
                <a:solidFill>
                  <a:srgbClr val="FFFFFF"/>
                </a:solidFill>
                <a:latin typeface="Calibri"/>
              </a:rPr>
              <a:t>confirms offer</a:t>
            </a:r>
          </a:p>
        </p:txBody>
      </p:sp>
      <p:sp>
        <p:nvSpPr>
          <p:cNvPr id="8" name="Right Arrow 7"/>
          <p:cNvSpPr/>
          <p:nvPr/>
        </p:nvSpPr>
        <p:spPr>
          <a:xfrm>
            <a:off x="2212848" y="1801368"/>
            <a:ext cx="210312"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41448" y="1508760"/>
            <a:ext cx="1645920" cy="86868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Design</a:t>
            </a:r>
          </a:p>
          <a:p>
            <a:pPr algn="ctr"/>
            <a:r>
              <a:rPr sz="1100" b="0" i="0">
                <a:solidFill>
                  <a:srgbClr val="FFFFFF"/>
                </a:solidFill>
                <a:latin typeface="Calibri"/>
              </a:rPr>
              <a:t>Complete</a:t>
            </a:r>
          </a:p>
        </p:txBody>
      </p:sp>
      <p:sp>
        <p:nvSpPr>
          <p:cNvPr id="10" name="Right Arrow 9"/>
          <p:cNvSpPr/>
          <p:nvPr/>
        </p:nvSpPr>
        <p:spPr>
          <a:xfrm>
            <a:off x="4105656" y="1801368"/>
            <a:ext cx="210312"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34255" y="1508760"/>
            <a:ext cx="1645920" cy="868680"/>
          </a:xfrm>
          <a:prstGeom prst="roundRect">
            <a:avLst>
              <a:gd name="adj" fmla="val 12000"/>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Initiate</a:t>
            </a:r>
          </a:p>
          <a:p>
            <a:pPr algn="ctr"/>
            <a:r>
              <a:rPr sz="1100" b="0" i="0">
                <a:solidFill>
                  <a:srgbClr val="FFFFFF"/>
                </a:solidFill>
                <a:latin typeface="Calibri"/>
              </a:rPr>
              <a:t>approvals</a:t>
            </a:r>
          </a:p>
        </p:txBody>
      </p:sp>
      <p:sp>
        <p:nvSpPr>
          <p:cNvPr id="12" name="Right Arrow 11"/>
          <p:cNvSpPr/>
          <p:nvPr/>
        </p:nvSpPr>
        <p:spPr>
          <a:xfrm>
            <a:off x="5998464" y="1801368"/>
            <a:ext cx="210312"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27063" y="1508760"/>
            <a:ext cx="1645920" cy="868680"/>
          </a:xfrm>
          <a:prstGeom prst="roundRect">
            <a:avLst>
              <a:gd name="adj" fmla="val 12000"/>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Approvers notified</a:t>
            </a:r>
          </a:p>
          <a:p>
            <a:pPr algn="ctr"/>
            <a:r>
              <a:rPr sz="1100" b="0" i="0">
                <a:solidFill>
                  <a:srgbClr val="FFFFFF"/>
                </a:solidFill>
                <a:latin typeface="Calibri"/>
              </a:rPr>
              <a:t>(email + UI)</a:t>
            </a:r>
          </a:p>
        </p:txBody>
      </p:sp>
      <p:sp>
        <p:nvSpPr>
          <p:cNvPr id="14" name="Right Arrow 13"/>
          <p:cNvSpPr/>
          <p:nvPr/>
        </p:nvSpPr>
        <p:spPr>
          <a:xfrm>
            <a:off x="7891271" y="1801368"/>
            <a:ext cx="210312"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19871" y="1508760"/>
            <a:ext cx="1645920" cy="868680"/>
          </a:xfrm>
          <a:prstGeom prst="roundRect">
            <a:avLst>
              <a:gd name="adj" fmla="val 12000"/>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Approve / reject</a:t>
            </a:r>
          </a:p>
          <a:p>
            <a:pPr algn="ctr"/>
            <a:r>
              <a:rPr sz="1100" b="0" i="0">
                <a:solidFill>
                  <a:srgbClr val="FFFFFF"/>
                </a:solidFill>
                <a:latin typeface="Calibri"/>
              </a:rPr>
              <a:t>with comments</a:t>
            </a:r>
          </a:p>
        </p:txBody>
      </p:sp>
      <p:sp>
        <p:nvSpPr>
          <p:cNvPr id="16" name="Right Arrow 15"/>
          <p:cNvSpPr/>
          <p:nvPr/>
        </p:nvSpPr>
        <p:spPr>
          <a:xfrm>
            <a:off x="9784080" y="1801368"/>
            <a:ext cx="210312"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12680" y="1508760"/>
            <a:ext cx="1645920" cy="8686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Ready to</a:t>
            </a:r>
          </a:p>
          <a:p>
            <a:pPr algn="ctr"/>
            <a:r>
              <a:rPr sz="1100" b="0" i="0">
                <a:solidFill>
                  <a:srgbClr val="FFFFFF"/>
                </a:solidFill>
                <a:latin typeface="Calibri"/>
              </a:rPr>
              <a:t>Publish</a:t>
            </a:r>
          </a:p>
        </p:txBody>
      </p:sp>
      <p:sp>
        <p:nvSpPr>
          <p:cNvPr id="18" name="TextBox 17"/>
          <p:cNvSpPr txBox="1"/>
          <p:nvPr/>
        </p:nvSpPr>
        <p:spPr>
          <a:xfrm>
            <a:off x="548640" y="2651760"/>
            <a:ext cx="5486400" cy="3566160"/>
          </a:xfrm>
          <a:prstGeom prst="rect">
            <a:avLst/>
          </a:prstGeom>
          <a:noFill/>
        </p:spPr>
        <p:txBody>
          <a:bodyPr wrap="square">
            <a:spAutoFit/>
          </a:bodyPr>
          <a:lstStyle/>
          <a:p>
            <a:pPr>
              <a:spcAft>
                <a:spcPts val="600"/>
              </a:spcAft>
            </a:pPr>
            <a:r>
              <a:rPr sz="1100" b="0" i="0">
                <a:solidFill>
                  <a:srgbClr val="5B2C83"/>
                </a:solidFill>
                <a:latin typeface="Calibri"/>
              </a:rPr>
              <a:t>■  </a:t>
            </a:r>
            <a:r>
              <a:rPr sz="1500" b="1" i="0">
                <a:solidFill>
                  <a:srgbClr val="1F1B2E"/>
                </a:solidFill>
                <a:latin typeface="Calibri"/>
              </a:rPr>
              <a:t>Two modes: </a:t>
            </a:r>
            <a:r>
              <a:rPr sz="1500" b="0" i="0">
                <a:solidFill>
                  <a:srgbClr val="1F1B2E"/>
                </a:solidFill>
                <a:latin typeface="Calibri"/>
              </a:rPr>
              <a:t>sequential (one approver after another) or parallel (all at once, with a voting %, e.g. 50%)</a:t>
            </a:r>
          </a:p>
          <a:p>
            <a:pPr>
              <a:spcAft>
                <a:spcPts val="600"/>
              </a:spcAft>
            </a:pPr>
            <a:r>
              <a:rPr sz="1100" b="0" i="0">
                <a:solidFill>
                  <a:srgbClr val="5B2C83"/>
                </a:solidFill>
                <a:latin typeface="Calibri"/>
              </a:rPr>
              <a:t>■  </a:t>
            </a:r>
            <a:r>
              <a:rPr sz="1500" b="0" i="0">
                <a:solidFill>
                  <a:srgbClr val="1F1B2E"/>
                </a:solidFill>
                <a:latin typeface="Calibri"/>
              </a:rPr>
              <a:t>Approvers set once per initiative, with overrides per offer</a:t>
            </a:r>
          </a:p>
          <a:p>
            <a:pPr>
              <a:spcAft>
                <a:spcPts val="600"/>
              </a:spcAft>
            </a:pPr>
            <a:r>
              <a:rPr sz="1100" b="0" i="0">
                <a:solidFill>
                  <a:srgbClr val="5B2C83"/>
                </a:solidFill>
                <a:latin typeface="Calibri"/>
              </a:rPr>
              <a:t>■  </a:t>
            </a:r>
            <a:r>
              <a:rPr sz="1500" b="0" i="0">
                <a:solidFill>
                  <a:srgbClr val="1F1B2E"/>
                </a:solidFill>
                <a:latin typeface="Calibri"/>
              </a:rPr>
              <a:t>Offer is locked while in Approvals Pending</a:t>
            </a:r>
          </a:p>
          <a:p>
            <a:pPr>
              <a:spcAft>
                <a:spcPts val="600"/>
              </a:spcAft>
            </a:pPr>
            <a:r>
              <a:rPr sz="1100" b="0" i="0">
                <a:solidFill>
                  <a:srgbClr val="5B2C83"/>
                </a:solidFill>
                <a:latin typeface="Calibri"/>
              </a:rPr>
              <a:t>■  </a:t>
            </a:r>
            <a:r>
              <a:rPr sz="1500" b="1" i="0">
                <a:solidFill>
                  <a:srgbClr val="1F1B2E"/>
                </a:solidFill>
                <a:latin typeface="Calibri"/>
              </a:rPr>
              <a:t>Rejected: </a:t>
            </a:r>
            <a:r>
              <a:rPr sz="1500" b="0" i="0">
                <a:solidFill>
                  <a:srgbClr val="1F1B2E"/>
                </a:solidFill>
                <a:latin typeface="Calibri"/>
              </a:rPr>
              <a:t>back to In Design with comments</a:t>
            </a:r>
          </a:p>
          <a:p>
            <a:pPr>
              <a:spcAft>
                <a:spcPts val="600"/>
              </a:spcAft>
            </a:pPr>
            <a:r>
              <a:rPr sz="1100" b="0" i="0">
                <a:solidFill>
                  <a:srgbClr val="5B2C83"/>
                </a:solidFill>
                <a:latin typeface="Calibri"/>
              </a:rPr>
              <a:t>■  </a:t>
            </a:r>
            <a:r>
              <a:rPr sz="1500" b="0" i="0">
                <a:solidFill>
                  <a:srgbClr val="1F1B2E"/>
                </a:solidFill>
                <a:latin typeface="Calibri"/>
              </a:rPr>
              <a:t>Full approval history kept on every offer</a:t>
            </a:r>
          </a:p>
          <a:p>
            <a:pPr>
              <a:spcAft>
                <a:spcPts val="600"/>
              </a:spcAft>
            </a:pPr>
            <a:r>
              <a:rPr sz="1100" b="0" i="0">
                <a:solidFill>
                  <a:srgbClr val="5B2C83"/>
                </a:solidFill>
                <a:latin typeface="Calibri"/>
              </a:rPr>
              <a:t>■  </a:t>
            </a:r>
            <a:r>
              <a:rPr sz="1500" b="0" i="0">
                <a:solidFill>
                  <a:srgbClr val="1F1B2E"/>
                </a:solidFill>
                <a:latin typeface="Calibri"/>
              </a:rPr>
              <a:t>Admin can make approval mandatory for any lifecycle status</a:t>
            </a:r>
          </a:p>
        </p:txBody>
      </p:sp>
      <p:sp>
        <p:nvSpPr>
          <p:cNvPr id="19" name="TextBox 18"/>
          <p:cNvSpPr txBox="1"/>
          <p:nvPr/>
        </p:nvSpPr>
        <p:spPr>
          <a:xfrm>
            <a:off x="6309360" y="2606040"/>
            <a:ext cx="5394960" cy="365760"/>
          </a:xfrm>
          <a:prstGeom prst="rect">
            <a:avLst/>
          </a:prstGeom>
          <a:noFill/>
        </p:spPr>
        <p:txBody>
          <a:bodyPr wrap="square" anchor="t" lIns="45720" rIns="45720">
            <a:spAutoFit/>
          </a:bodyPr>
          <a:lstStyle/>
          <a:p>
            <a:pPr algn="l"/>
            <a:r>
              <a:rPr sz="1500" b="1" i="0">
                <a:solidFill>
                  <a:srgbClr val="5B2C83"/>
                </a:solidFill>
                <a:latin typeface="Calibri"/>
              </a:rPr>
              <a:t>Example approval matrix for our team</a:t>
            </a:r>
          </a:p>
        </p:txBody>
      </p:sp>
      <p:graphicFrame>
        <p:nvGraphicFramePr>
          <p:cNvPr id="20" name="Table 19"/>
          <p:cNvGraphicFramePr>
            <a:graphicFrameLocks noGrp="1"/>
          </p:cNvGraphicFramePr>
          <p:nvPr/>
        </p:nvGraphicFramePr>
        <p:xfrm>
          <a:off x="6309360" y="3017520"/>
          <a:ext cx="5394960" cy="3017520"/>
        </p:xfrm>
        <a:graphic>
          <a:graphicData uri="http://schemas.openxmlformats.org/drawingml/2006/table">
            <a:tbl>
              <a:tblPr firstRow="1" bandRow="1">
                <a:tableStyleId>{5C22544A-7EE6-4342-B048-85BDC9FD1C3A}</a:tableStyleId>
              </a:tblPr>
              <a:tblGrid>
                <a:gridCol w="2103120"/>
                <a:gridCol w="3291840"/>
              </a:tblGrid>
              <a:tr h="502920">
                <a:tc>
                  <a:txBody>
                    <a:bodyPr wrap="square"/>
                    <a:lstStyle/>
                    <a:p>
                      <a:r>
                        <a:rPr sz="1300" b="1" i="0">
                          <a:solidFill>
                            <a:srgbClr val="FFFFFF"/>
                          </a:solidFill>
                          <a:latin typeface="Calibri"/>
                        </a:rPr>
                        <a:t>Stage</a:t>
                      </a:r>
                    </a:p>
                  </a:txBody>
                  <a:tcPr marL="54864" marR="54864" marT="27432" marB="27432" anchor="ctr">
                    <a:solidFill>
                      <a:srgbClr val="5B2C83"/>
                    </a:solidFill>
                  </a:tcPr>
                </a:tc>
                <a:tc>
                  <a:txBody>
                    <a:bodyPr wrap="square"/>
                    <a:lstStyle/>
                    <a:p>
                      <a:r>
                        <a:rPr sz="1300" b="1" i="0">
                          <a:solidFill>
                            <a:srgbClr val="FFFFFF"/>
                          </a:solidFill>
                          <a:latin typeface="Calibri"/>
                        </a:rPr>
                        <a:t>Proposed approver (example)</a:t>
                      </a:r>
                    </a:p>
                  </a:txBody>
                  <a:tcPr marL="54864" marR="54864" marT="27432" marB="27432" anchor="ctr">
                    <a:solidFill>
                      <a:srgbClr val="5B2C83"/>
                    </a:solidFill>
                  </a:tcPr>
                </a:tc>
              </a:tr>
              <a:tr h="502920">
                <a:tc>
                  <a:txBody>
                    <a:bodyPr wrap="square"/>
                    <a:lstStyle/>
                    <a:p>
                      <a:r>
                        <a:rPr sz="1300" b="1" i="0">
                          <a:solidFill>
                            <a:srgbClr val="1F1B2E"/>
                          </a:solidFill>
                          <a:latin typeface="Calibri"/>
                        </a:rPr>
                        <a:t>Business case</a:t>
                      </a:r>
                    </a:p>
                  </a:txBody>
                  <a:tcPr marL="54864" marR="54864" marT="27432" marB="27432" anchor="ctr">
                    <a:solidFill>
                      <a:srgbClr val="F4F3F7"/>
                    </a:solidFill>
                  </a:tcPr>
                </a:tc>
                <a:tc>
                  <a:txBody>
                    <a:bodyPr wrap="square"/>
                    <a:lstStyle/>
                    <a:p>
                      <a:r>
                        <a:rPr sz="1300" b="0" i="0">
                          <a:solidFill>
                            <a:srgbClr val="1F1B2E"/>
                          </a:solidFill>
                          <a:latin typeface="Calibri"/>
                        </a:rPr>
                        <a:t>Marketing director</a:t>
                      </a:r>
                    </a:p>
                  </a:txBody>
                  <a:tcPr marL="54864" marR="54864" marT="27432" marB="27432" anchor="ctr">
                    <a:solidFill>
                      <a:srgbClr val="F4F3F7"/>
                    </a:solidFill>
                  </a:tcPr>
                </a:tc>
              </a:tr>
              <a:tr h="502920">
                <a:tc>
                  <a:txBody>
                    <a:bodyPr wrap="square"/>
                    <a:lstStyle/>
                    <a:p>
                      <a:r>
                        <a:rPr sz="1300" b="1" i="0">
                          <a:solidFill>
                            <a:srgbClr val="1F1B2E"/>
                          </a:solidFill>
                          <a:latin typeface="Calibri"/>
                        </a:rPr>
                        <a:t>Offer &amp; price</a:t>
                      </a:r>
                    </a:p>
                  </a:txBody>
                  <a:tcPr marL="54864" marR="54864" marT="27432" marB="27432" anchor="ctr">
                    <a:solidFill>
                      <a:srgbClr val="FFFFFF"/>
                    </a:solidFill>
                  </a:tcPr>
                </a:tc>
                <a:tc>
                  <a:txBody>
                    <a:bodyPr wrap="square"/>
                    <a:lstStyle/>
                    <a:p>
                      <a:r>
                        <a:rPr sz="1300" b="0" i="0">
                          <a:solidFill>
                            <a:srgbClr val="1F1B2E"/>
                          </a:solidFill>
                          <a:latin typeface="Calibri"/>
                        </a:rPr>
                        <a:t>Product mgmt + Finance / pricing</a:t>
                      </a:r>
                    </a:p>
                  </a:txBody>
                  <a:tcPr marL="54864" marR="54864" marT="27432" marB="27432" anchor="ctr">
                    <a:solidFill>
                      <a:srgbClr val="FFFFFF"/>
                    </a:solidFill>
                  </a:tcPr>
                </a:tc>
              </a:tr>
              <a:tr h="502920">
                <a:tc>
                  <a:txBody>
                    <a:bodyPr wrap="square"/>
                    <a:lstStyle/>
                    <a:p>
                      <a:r>
                        <a:rPr sz="1300" b="1" i="0">
                          <a:solidFill>
                            <a:srgbClr val="1F1B2E"/>
                          </a:solidFill>
                          <a:latin typeface="Calibri"/>
                        </a:rPr>
                        <a:t>Terms &amp; regulation</a:t>
                      </a:r>
                    </a:p>
                  </a:txBody>
                  <a:tcPr marL="54864" marR="54864" marT="27432" marB="27432" anchor="ctr">
                    <a:solidFill>
                      <a:srgbClr val="F4F3F7"/>
                    </a:solidFill>
                  </a:tcPr>
                </a:tc>
                <a:tc>
                  <a:txBody>
                    <a:bodyPr wrap="square"/>
                    <a:lstStyle/>
                    <a:p>
                      <a:r>
                        <a:rPr sz="1300" b="0" i="0">
                          <a:solidFill>
                            <a:srgbClr val="1F1B2E"/>
                          </a:solidFill>
                          <a:latin typeface="Calibri"/>
                        </a:rPr>
                        <a:t>Legal &amp; regulatory (NTRA, where needed)</a:t>
                      </a:r>
                    </a:p>
                  </a:txBody>
                  <a:tcPr marL="54864" marR="54864" marT="27432" marB="27432" anchor="ctr">
                    <a:solidFill>
                      <a:srgbClr val="F4F3F7"/>
                    </a:solidFill>
                  </a:tcPr>
                </a:tc>
              </a:tr>
              <a:tr h="502920">
                <a:tc>
                  <a:txBody>
                    <a:bodyPr wrap="square"/>
                    <a:lstStyle/>
                    <a:p>
                      <a:r>
                        <a:rPr sz="1300" b="1" i="0">
                          <a:solidFill>
                            <a:srgbClr val="1F1B2E"/>
                          </a:solidFill>
                          <a:latin typeface="Calibri"/>
                        </a:rPr>
                        <a:t>Technical feasibility</a:t>
                      </a:r>
                    </a:p>
                  </a:txBody>
                  <a:tcPr marL="54864" marR="54864" marT="27432" marB="27432" anchor="ctr">
                    <a:solidFill>
                      <a:srgbClr val="FFFFFF"/>
                    </a:solidFill>
                  </a:tcPr>
                </a:tc>
                <a:tc>
                  <a:txBody>
                    <a:bodyPr wrap="square"/>
                    <a:lstStyle/>
                    <a:p>
                      <a:r>
                        <a:rPr sz="1300" b="0" i="0">
                          <a:solidFill>
                            <a:srgbClr val="1F1B2E"/>
                          </a:solidFill>
                          <a:latin typeface="Calibri"/>
                        </a:rPr>
                        <a:t>IT / network / provisioning</a:t>
                      </a:r>
                    </a:p>
                  </a:txBody>
                  <a:tcPr marL="54864" marR="54864" marT="27432" marB="27432" anchor="ctr">
                    <a:solidFill>
                      <a:srgbClr val="FFFFFF"/>
                    </a:solidFill>
                  </a:tcPr>
                </a:tc>
              </a:tr>
              <a:tr h="502920">
                <a:tc>
                  <a:txBody>
                    <a:bodyPr wrap="square"/>
                    <a:lstStyle/>
                    <a:p>
                      <a:r>
                        <a:rPr sz="1300" b="1" i="0">
                          <a:solidFill>
                            <a:srgbClr val="1F1B2E"/>
                          </a:solidFill>
                          <a:latin typeface="Calibri"/>
                        </a:rPr>
                        <a:t>Go-live</a:t>
                      </a:r>
                    </a:p>
                  </a:txBody>
                  <a:tcPr marL="54864" marR="54864" marT="27432" marB="27432" anchor="ctr">
                    <a:solidFill>
                      <a:srgbClr val="F4F3F7"/>
                    </a:solidFill>
                  </a:tcPr>
                </a:tc>
                <a:tc>
                  <a:txBody>
                    <a:bodyPr wrap="square"/>
                    <a:lstStyle/>
                    <a:p>
                      <a:r>
                        <a:rPr sz="1300" b="0" i="0">
                          <a:solidFill>
                            <a:srgbClr val="1F1B2E"/>
                          </a:solidFill>
                          <a:latin typeface="Calibri"/>
                        </a:rPr>
                        <a:t>Commercial head + QA sign-off</a:t>
                      </a:r>
                    </a:p>
                  </a:txBody>
                  <a:tcPr marL="54864" marR="54864" marT="27432" marB="27432" anchor="ctr">
                    <a:solidFill>
                      <a:srgbClr val="F4F3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04  PRICING MANAGEMENT</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Flexible pricing, controlled through the same lifecycle</a:t>
            </a:r>
          </a:p>
        </p:txBody>
      </p:sp>
      <p:sp>
        <p:nvSpPr>
          <p:cNvPr id="5" name="TextBox 4"/>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6" name="TextBox 5"/>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10</a:t>
            </a:r>
          </a:p>
        </p:txBody>
      </p:sp>
      <p:sp>
        <p:nvSpPr>
          <p:cNvPr id="7" name="Rounded Rectangle 6"/>
          <p:cNvSpPr/>
          <p:nvPr/>
        </p:nvSpPr>
        <p:spPr>
          <a:xfrm>
            <a:off x="548640" y="1508760"/>
            <a:ext cx="2606040" cy="50292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Price types</a:t>
            </a:r>
          </a:p>
        </p:txBody>
      </p:sp>
      <p:sp>
        <p:nvSpPr>
          <p:cNvPr id="8" name="TextBox 7"/>
          <p:cNvSpPr txBox="1"/>
          <p:nvPr/>
        </p:nvSpPr>
        <p:spPr>
          <a:xfrm>
            <a:off x="548640" y="2103120"/>
            <a:ext cx="2651760" cy="2377440"/>
          </a:xfrm>
          <a:prstGeom prst="rect">
            <a:avLst/>
          </a:prstGeom>
          <a:noFill/>
        </p:spPr>
        <p:txBody>
          <a:bodyPr wrap="square">
            <a:spAutoFit/>
          </a:bodyPr>
          <a:lstStyle/>
          <a:p>
            <a:pPr>
              <a:spcAft>
                <a:spcPts val="400"/>
              </a:spcAft>
            </a:pPr>
            <a:r>
              <a:rPr sz="1000" b="0" i="0">
                <a:solidFill>
                  <a:srgbClr val="5B2C83"/>
                </a:solidFill>
                <a:latin typeface="Calibri"/>
              </a:rPr>
              <a:t>■  </a:t>
            </a:r>
            <a:r>
              <a:rPr sz="1400" b="0" i="0">
                <a:solidFill>
                  <a:srgbClr val="1F1B2E"/>
                </a:solidFill>
                <a:latin typeface="Calibri"/>
              </a:rPr>
              <a:t>One-time fee (installation)</a:t>
            </a:r>
          </a:p>
          <a:p>
            <a:pPr>
              <a:spcAft>
                <a:spcPts val="400"/>
              </a:spcAft>
            </a:pPr>
            <a:r>
              <a:rPr sz="1000" b="0" i="0">
                <a:solidFill>
                  <a:srgbClr val="5B2C83"/>
                </a:solidFill>
                <a:latin typeface="Calibri"/>
              </a:rPr>
              <a:t>■  </a:t>
            </a:r>
            <a:r>
              <a:rPr sz="1400" b="0" i="0">
                <a:solidFill>
                  <a:srgbClr val="1F1B2E"/>
                </a:solidFill>
                <a:latin typeface="Calibri"/>
              </a:rPr>
              <a:t>Recurring fee (monthly)</a:t>
            </a:r>
          </a:p>
          <a:p>
            <a:pPr>
              <a:spcAft>
                <a:spcPts val="400"/>
              </a:spcAft>
            </a:pPr>
            <a:r>
              <a:rPr sz="1000" b="0" i="0">
                <a:solidFill>
                  <a:srgbClr val="5B2C83"/>
                </a:solidFill>
                <a:latin typeface="Calibri"/>
              </a:rPr>
              <a:t>■  </a:t>
            </a:r>
            <a:r>
              <a:rPr sz="1400" b="0" i="0">
                <a:solidFill>
                  <a:srgbClr val="1F1B2E"/>
                </a:solidFill>
                <a:latin typeface="Calibri"/>
              </a:rPr>
              <a:t>Usage fee (per GB / minute)</a:t>
            </a:r>
          </a:p>
          <a:p>
            <a:pPr>
              <a:spcAft>
                <a:spcPts val="400"/>
              </a:spcAft>
            </a:pPr>
            <a:r>
              <a:rPr sz="1000" b="0" i="0">
                <a:solidFill>
                  <a:srgbClr val="5B2C83"/>
                </a:solidFill>
                <a:latin typeface="Calibri"/>
              </a:rPr>
              <a:t>■  </a:t>
            </a:r>
            <a:r>
              <a:rPr sz="1400" b="0" i="0">
                <a:solidFill>
                  <a:srgbClr val="1F1B2E"/>
                </a:solidFill>
                <a:latin typeface="Calibri"/>
              </a:rPr>
              <a:t>Rollover of allowances</a:t>
            </a:r>
          </a:p>
        </p:txBody>
      </p:sp>
      <p:sp>
        <p:nvSpPr>
          <p:cNvPr id="9" name="Rounded Rectangle 8"/>
          <p:cNvSpPr/>
          <p:nvPr/>
        </p:nvSpPr>
        <p:spPr>
          <a:xfrm>
            <a:off x="3364992" y="1508760"/>
            <a:ext cx="2606040" cy="50292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Price lists</a:t>
            </a:r>
          </a:p>
        </p:txBody>
      </p:sp>
      <p:sp>
        <p:nvSpPr>
          <p:cNvPr id="10" name="TextBox 9"/>
          <p:cNvSpPr txBox="1"/>
          <p:nvPr/>
        </p:nvSpPr>
        <p:spPr>
          <a:xfrm>
            <a:off x="3364992" y="2103120"/>
            <a:ext cx="2651760" cy="2377440"/>
          </a:xfrm>
          <a:prstGeom prst="rect">
            <a:avLst/>
          </a:prstGeom>
          <a:noFill/>
        </p:spPr>
        <p:txBody>
          <a:bodyPr wrap="square">
            <a:spAutoFit/>
          </a:bodyPr>
          <a:lstStyle/>
          <a:p>
            <a:pPr>
              <a:spcAft>
                <a:spcPts val="400"/>
              </a:spcAft>
            </a:pPr>
            <a:r>
              <a:rPr sz="1000" b="0" i="0">
                <a:solidFill>
                  <a:srgbClr val="5B2C83"/>
                </a:solidFill>
                <a:latin typeface="Calibri"/>
              </a:rPr>
              <a:t>■  </a:t>
            </a:r>
            <a:r>
              <a:rPr sz="1400" b="0" i="0">
                <a:solidFill>
                  <a:srgbClr val="1F1B2E"/>
                </a:solidFill>
                <a:latin typeface="Calibri"/>
              </a:rPr>
              <a:t>Standard prices per segment</a:t>
            </a:r>
          </a:p>
          <a:p>
            <a:pPr>
              <a:spcAft>
                <a:spcPts val="400"/>
              </a:spcAft>
            </a:pPr>
            <a:r>
              <a:rPr sz="1000" b="0" i="0">
                <a:solidFill>
                  <a:srgbClr val="5B2C83"/>
                </a:solidFill>
                <a:latin typeface="Calibri"/>
              </a:rPr>
              <a:t>■  </a:t>
            </a:r>
            <a:r>
              <a:rPr sz="1400" b="0" i="0">
                <a:solidFill>
                  <a:srgbClr val="1F1B2E"/>
                </a:solidFill>
                <a:latin typeface="Calibri"/>
              </a:rPr>
              <a:t>e.g. Residential vs Business</a:t>
            </a:r>
          </a:p>
          <a:p>
            <a:pPr>
              <a:spcAft>
                <a:spcPts val="400"/>
              </a:spcAft>
            </a:pPr>
            <a:r>
              <a:rPr sz="1000" b="0" i="0">
                <a:solidFill>
                  <a:srgbClr val="5B2C83"/>
                </a:solidFill>
                <a:latin typeface="Calibri"/>
              </a:rPr>
              <a:t>■  </a:t>
            </a:r>
            <a:r>
              <a:rPr sz="1400" b="0" i="0">
                <a:solidFill>
                  <a:srgbClr val="1F1B2E"/>
                </a:solidFill>
                <a:latin typeface="Calibri"/>
              </a:rPr>
              <a:t>Or per location</a:t>
            </a:r>
          </a:p>
          <a:p>
            <a:pPr>
              <a:spcAft>
                <a:spcPts val="400"/>
              </a:spcAft>
            </a:pPr>
            <a:r>
              <a:rPr sz="1000" b="0" i="0">
                <a:solidFill>
                  <a:srgbClr val="5B2C83"/>
                </a:solidFill>
                <a:latin typeface="Calibri"/>
              </a:rPr>
              <a:t>■  </a:t>
            </a:r>
            <a:r>
              <a:rPr sz="1400" b="0" i="0">
                <a:solidFill>
                  <a:srgbClr val="1F1B2E"/>
                </a:solidFill>
                <a:latin typeface="Calibri"/>
              </a:rPr>
              <a:t>GL ID and tax code per price</a:t>
            </a:r>
          </a:p>
        </p:txBody>
      </p:sp>
      <p:sp>
        <p:nvSpPr>
          <p:cNvPr id="11" name="Rounded Rectangle 10"/>
          <p:cNvSpPr/>
          <p:nvPr/>
        </p:nvSpPr>
        <p:spPr>
          <a:xfrm>
            <a:off x="6181344" y="1508760"/>
            <a:ext cx="2606040" cy="50292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Discounts &amp; terms</a:t>
            </a:r>
          </a:p>
        </p:txBody>
      </p:sp>
      <p:sp>
        <p:nvSpPr>
          <p:cNvPr id="12" name="TextBox 11"/>
          <p:cNvSpPr txBox="1"/>
          <p:nvPr/>
        </p:nvSpPr>
        <p:spPr>
          <a:xfrm>
            <a:off x="6181344" y="2103120"/>
            <a:ext cx="2651760" cy="2377440"/>
          </a:xfrm>
          <a:prstGeom prst="rect">
            <a:avLst/>
          </a:prstGeom>
          <a:noFill/>
        </p:spPr>
        <p:txBody>
          <a:bodyPr wrap="square">
            <a:spAutoFit/>
          </a:bodyPr>
          <a:lstStyle/>
          <a:p>
            <a:pPr>
              <a:spcAft>
                <a:spcPts val="400"/>
              </a:spcAft>
            </a:pPr>
            <a:r>
              <a:rPr sz="1000" b="0" i="0">
                <a:solidFill>
                  <a:srgbClr val="5B2C83"/>
                </a:solidFill>
                <a:latin typeface="Calibri"/>
              </a:rPr>
              <a:t>■  </a:t>
            </a:r>
            <a:r>
              <a:rPr sz="1400" b="0" i="0">
                <a:solidFill>
                  <a:srgbClr val="1F1B2E"/>
                </a:solidFill>
                <a:latin typeface="Calibri"/>
              </a:rPr>
              <a:t>Price alterations on bundles</a:t>
            </a:r>
          </a:p>
          <a:p>
            <a:pPr>
              <a:spcAft>
                <a:spcPts val="400"/>
              </a:spcAft>
            </a:pPr>
            <a:r>
              <a:rPr sz="1000" b="0" i="0">
                <a:solidFill>
                  <a:srgbClr val="5B2C83"/>
                </a:solidFill>
                <a:latin typeface="Calibri"/>
              </a:rPr>
              <a:t>■  </a:t>
            </a:r>
            <a:r>
              <a:rPr sz="1400" b="0" i="0">
                <a:solidFill>
                  <a:srgbClr val="1F1B2E"/>
                </a:solidFill>
                <a:latin typeface="Calibri"/>
              </a:rPr>
              <a:t>Time-limited discounts</a:t>
            </a:r>
          </a:p>
          <a:p>
            <a:pPr>
              <a:spcAft>
                <a:spcPts val="400"/>
              </a:spcAft>
            </a:pPr>
            <a:r>
              <a:rPr sz="1000" b="0" i="0">
                <a:solidFill>
                  <a:srgbClr val="5B2C83"/>
                </a:solidFill>
                <a:latin typeface="Calibri"/>
              </a:rPr>
              <a:t>■  </a:t>
            </a:r>
            <a:r>
              <a:rPr sz="1400" b="0" i="0">
                <a:solidFill>
                  <a:srgbClr val="1F1B2E"/>
                </a:solidFill>
                <a:latin typeface="Calibri"/>
              </a:rPr>
              <a:t>Multi-line / volume tiers</a:t>
            </a:r>
          </a:p>
          <a:p>
            <a:pPr>
              <a:spcAft>
                <a:spcPts val="400"/>
              </a:spcAft>
            </a:pPr>
            <a:r>
              <a:rPr sz="1000" b="0" i="0">
                <a:solidFill>
                  <a:srgbClr val="5B2C83"/>
                </a:solidFill>
                <a:latin typeface="Calibri"/>
              </a:rPr>
              <a:t>■  </a:t>
            </a:r>
            <a:r>
              <a:rPr sz="1400" b="0" i="0">
                <a:solidFill>
                  <a:srgbClr val="1F1B2E"/>
                </a:solidFill>
                <a:latin typeface="Calibri"/>
              </a:rPr>
              <a:t>Commitment terms with penalties</a:t>
            </a:r>
          </a:p>
        </p:txBody>
      </p:sp>
      <p:sp>
        <p:nvSpPr>
          <p:cNvPr id="13" name="Rounded Rectangle 12"/>
          <p:cNvSpPr/>
          <p:nvPr/>
        </p:nvSpPr>
        <p:spPr>
          <a:xfrm>
            <a:off x="8997696" y="1508760"/>
            <a:ext cx="2606040" cy="50292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Changing prices</a:t>
            </a:r>
          </a:p>
        </p:txBody>
      </p:sp>
      <p:sp>
        <p:nvSpPr>
          <p:cNvPr id="14" name="TextBox 13"/>
          <p:cNvSpPr txBox="1"/>
          <p:nvPr/>
        </p:nvSpPr>
        <p:spPr>
          <a:xfrm>
            <a:off x="8997696" y="2103120"/>
            <a:ext cx="2651760" cy="2377440"/>
          </a:xfrm>
          <a:prstGeom prst="rect">
            <a:avLst/>
          </a:prstGeom>
          <a:noFill/>
        </p:spPr>
        <p:txBody>
          <a:bodyPr wrap="square">
            <a:spAutoFit/>
          </a:bodyPr>
          <a:lstStyle/>
          <a:p>
            <a:pPr>
              <a:spcAft>
                <a:spcPts val="400"/>
              </a:spcAft>
            </a:pPr>
            <a:r>
              <a:rPr sz="1000" b="0" i="0">
                <a:solidFill>
                  <a:srgbClr val="5B2C83"/>
                </a:solidFill>
                <a:latin typeface="Calibri"/>
              </a:rPr>
              <a:t>■  </a:t>
            </a:r>
            <a:r>
              <a:rPr sz="1400" b="0" i="0">
                <a:solidFill>
                  <a:srgbClr val="1F1B2E"/>
                </a:solidFill>
                <a:latin typeface="Calibri"/>
              </a:rPr>
              <a:t>Revise the launched offer</a:t>
            </a:r>
          </a:p>
          <a:p>
            <a:pPr>
              <a:spcAft>
                <a:spcPts val="400"/>
              </a:spcAft>
            </a:pPr>
            <a:r>
              <a:rPr sz="1000" b="0" i="0">
                <a:solidFill>
                  <a:srgbClr val="5B2C83"/>
                </a:solidFill>
                <a:latin typeface="Calibri"/>
              </a:rPr>
              <a:t>■  </a:t>
            </a:r>
            <a:r>
              <a:rPr sz="1400" b="0" i="0">
                <a:solidFill>
                  <a:srgbClr val="1F1B2E"/>
                </a:solidFill>
                <a:latin typeface="Calibri"/>
              </a:rPr>
              <a:t>New version goes through approval</a:t>
            </a:r>
          </a:p>
          <a:p>
            <a:pPr>
              <a:spcAft>
                <a:spcPts val="400"/>
              </a:spcAft>
            </a:pPr>
            <a:r>
              <a:rPr sz="1000" b="0" i="0">
                <a:solidFill>
                  <a:srgbClr val="5B2C83"/>
                </a:solidFill>
                <a:latin typeface="Calibri"/>
              </a:rPr>
              <a:t>■  </a:t>
            </a:r>
            <a:r>
              <a:rPr sz="1400" b="0" i="0">
                <a:solidFill>
                  <a:srgbClr val="1F1B2E"/>
                </a:solidFill>
                <a:latin typeface="Calibri"/>
              </a:rPr>
              <a:t>Bulk update by amount or %</a:t>
            </a:r>
          </a:p>
          <a:p>
            <a:pPr>
              <a:spcAft>
                <a:spcPts val="400"/>
              </a:spcAft>
            </a:pPr>
            <a:r>
              <a:rPr sz="1000" b="0" i="0">
                <a:solidFill>
                  <a:srgbClr val="5B2C83"/>
                </a:solidFill>
                <a:latin typeface="Calibri"/>
              </a:rPr>
              <a:t>■  </a:t>
            </a:r>
            <a:r>
              <a:rPr sz="1400" b="0" i="0">
                <a:solidFill>
                  <a:srgbClr val="1F1B2E"/>
                </a:solidFill>
                <a:latin typeface="Calibri"/>
              </a:rPr>
              <a:t>Bundles re-point to new versions</a:t>
            </a:r>
          </a:p>
        </p:txBody>
      </p:sp>
      <p:sp>
        <p:nvSpPr>
          <p:cNvPr id="15" name="Rounded Rectangle 14"/>
          <p:cNvSpPr/>
          <p:nvPr/>
        </p:nvSpPr>
        <p:spPr>
          <a:xfrm>
            <a:off x="548640" y="4572000"/>
            <a:ext cx="11155680" cy="160020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500" b="1" i="0">
                <a:solidFill>
                  <a:srgbClr val="1F1B2E"/>
                </a:solidFill>
                <a:latin typeface="Calibri"/>
              </a:rPr>
              <a:t>Example from Oracle's docs, adapted</a:t>
            </a:r>
          </a:p>
          <a:p>
            <a:pPr algn="l"/>
            <a:r>
              <a:rPr sz="1300" b="0" i="0">
                <a:solidFill>
                  <a:srgbClr val="1F1B2E"/>
                </a:solidFill>
                <a:latin typeface="Calibri"/>
              </a:rPr>
              <a:t>Multi-line plan: 1 line = 80 per month, 2 lines = 75 per line, 3+ lines = 70 per line.  Price increase: select several plans and raise them by 10% in one bulk revise, then send them for approval.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04  VERSIONING &amp; ROLE-BASED ACCESS</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Every change is traced; every role sees only what it should</a:t>
            </a:r>
          </a:p>
        </p:txBody>
      </p:sp>
      <p:sp>
        <p:nvSpPr>
          <p:cNvPr id="5" name="TextBox 4"/>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6" name="TextBox 5"/>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11</a:t>
            </a:r>
          </a:p>
        </p:txBody>
      </p:sp>
      <p:sp>
        <p:nvSpPr>
          <p:cNvPr id="7" name="Rounded Rectangle 6"/>
          <p:cNvSpPr/>
          <p:nvPr/>
        </p:nvSpPr>
        <p:spPr>
          <a:xfrm>
            <a:off x="548640" y="1463040"/>
            <a:ext cx="493776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Product Versioning</a:t>
            </a:r>
          </a:p>
        </p:txBody>
      </p:sp>
      <p:sp>
        <p:nvSpPr>
          <p:cNvPr id="8" name="TextBox 7"/>
          <p:cNvSpPr txBox="1"/>
          <p:nvPr/>
        </p:nvSpPr>
        <p:spPr>
          <a:xfrm>
            <a:off x="548640" y="2057400"/>
            <a:ext cx="5029200" cy="4114800"/>
          </a:xfrm>
          <a:prstGeom prst="rect">
            <a:avLst/>
          </a:prstGeom>
          <a:noFill/>
        </p:spPr>
        <p:txBody>
          <a:bodyPr wrap="square">
            <a:spAutoFit/>
          </a:bodyPr>
          <a:lstStyle/>
          <a:p>
            <a:pPr>
              <a:spcAft>
                <a:spcPts val="600"/>
              </a:spcAft>
            </a:pPr>
            <a:r>
              <a:rPr sz="1100" b="0" i="0">
                <a:solidFill>
                  <a:srgbClr val="5B2C83"/>
                </a:solidFill>
                <a:latin typeface="Calibri"/>
              </a:rPr>
              <a:t>■  </a:t>
            </a:r>
            <a:r>
              <a:rPr sz="1500" b="1" i="0">
                <a:solidFill>
                  <a:srgbClr val="1F1B2E"/>
                </a:solidFill>
                <a:latin typeface="Calibri"/>
              </a:rPr>
              <a:t>Revise: </a:t>
            </a:r>
            <a:r>
              <a:rPr sz="1500" b="0" i="0">
                <a:solidFill>
                  <a:srgbClr val="1F1B2E"/>
                </a:solidFill>
                <a:latin typeface="Calibri"/>
              </a:rPr>
              <a:t>a launched offer gets a new version in In Design</a:t>
            </a:r>
          </a:p>
          <a:p>
            <a:pPr>
              <a:spcAft>
                <a:spcPts val="600"/>
              </a:spcAft>
            </a:pPr>
            <a:r>
              <a:rPr sz="1100" b="0" i="0">
                <a:solidFill>
                  <a:srgbClr val="5B2C83"/>
                </a:solidFill>
                <a:latin typeface="Calibri"/>
              </a:rPr>
              <a:t>■  </a:t>
            </a:r>
            <a:r>
              <a:rPr sz="1500" b="1" i="0">
                <a:solidFill>
                  <a:srgbClr val="1F1B2E"/>
                </a:solidFill>
                <a:latin typeface="Calibri"/>
              </a:rPr>
              <a:t>Compare: </a:t>
            </a:r>
            <a:r>
              <a:rPr sz="1500" b="0" i="0">
                <a:solidFill>
                  <a:srgbClr val="1F1B2E"/>
                </a:solidFill>
                <a:latin typeface="Calibri"/>
              </a:rPr>
              <a:t>two offers, or two versions side by side</a:t>
            </a:r>
          </a:p>
          <a:p>
            <a:pPr>
              <a:spcAft>
                <a:spcPts val="600"/>
              </a:spcAft>
            </a:pPr>
            <a:r>
              <a:rPr sz="1100" b="0" i="0">
                <a:solidFill>
                  <a:srgbClr val="5B2C83"/>
                </a:solidFill>
                <a:latin typeface="Calibri"/>
              </a:rPr>
              <a:t>■  </a:t>
            </a:r>
            <a:r>
              <a:rPr sz="1500" b="1" i="0">
                <a:solidFill>
                  <a:srgbClr val="1F1B2E"/>
                </a:solidFill>
                <a:latin typeface="Calibri"/>
              </a:rPr>
              <a:t>Clone: </a:t>
            </a:r>
            <a:r>
              <a:rPr sz="1500" b="0" i="0">
                <a:solidFill>
                  <a:srgbClr val="1F1B2E"/>
                </a:solidFill>
                <a:latin typeface="Calibri"/>
              </a:rPr>
              <a:t>start a new offer from an existing one</a:t>
            </a:r>
          </a:p>
          <a:p>
            <a:pPr>
              <a:spcAft>
                <a:spcPts val="600"/>
              </a:spcAft>
            </a:pPr>
            <a:r>
              <a:rPr sz="1100" b="0" i="0">
                <a:solidFill>
                  <a:srgbClr val="5B2C83"/>
                </a:solidFill>
                <a:latin typeface="Calibri"/>
              </a:rPr>
              <a:t>■  </a:t>
            </a:r>
            <a:r>
              <a:rPr sz="1500" b="1" i="0">
                <a:solidFill>
                  <a:srgbClr val="1F1B2E"/>
                </a:solidFill>
                <a:latin typeface="Calibri"/>
              </a:rPr>
              <a:t>Bulk revise: </a:t>
            </a:r>
            <a:r>
              <a:rPr sz="1500" b="0" i="0">
                <a:solidFill>
                  <a:srgbClr val="1F1B2E"/>
                </a:solidFill>
                <a:latin typeface="Calibri"/>
              </a:rPr>
              <a:t>many launched offers at once</a:t>
            </a:r>
          </a:p>
          <a:p>
            <a:pPr>
              <a:spcAft>
                <a:spcPts val="600"/>
              </a:spcAft>
            </a:pPr>
            <a:r>
              <a:rPr sz="1100" b="0" i="0">
                <a:solidFill>
                  <a:srgbClr val="5B2C83"/>
                </a:solidFill>
                <a:latin typeface="Calibri"/>
              </a:rPr>
              <a:t>■  </a:t>
            </a:r>
            <a:r>
              <a:rPr sz="1500" b="0" i="0">
                <a:solidFill>
                  <a:srgbClr val="1F1B2E"/>
                </a:solidFill>
                <a:latin typeface="Calibri"/>
              </a:rPr>
              <a:t>One launched version at a time; the old one is replaced on publish</a:t>
            </a:r>
          </a:p>
          <a:p>
            <a:pPr>
              <a:spcAft>
                <a:spcPts val="600"/>
              </a:spcAft>
            </a:pPr>
            <a:r>
              <a:rPr sz="1100" b="0" i="0">
                <a:solidFill>
                  <a:srgbClr val="5B2C83"/>
                </a:solidFill>
                <a:latin typeface="Calibri"/>
              </a:rPr>
              <a:t>■  </a:t>
            </a:r>
            <a:r>
              <a:rPr sz="1500" b="0" i="0">
                <a:solidFill>
                  <a:srgbClr val="1F1B2E"/>
                </a:solidFill>
                <a:latin typeface="Calibri"/>
              </a:rPr>
              <a:t>Publish history kept per initiative</a:t>
            </a:r>
          </a:p>
        </p:txBody>
      </p:sp>
      <p:sp>
        <p:nvSpPr>
          <p:cNvPr id="9" name="Rounded Rectangle 8"/>
          <p:cNvSpPr/>
          <p:nvPr/>
        </p:nvSpPr>
        <p:spPr>
          <a:xfrm>
            <a:off x="5852160" y="1463040"/>
            <a:ext cx="585216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Role-Based Access (seeded job roles)</a:t>
            </a:r>
          </a:p>
        </p:txBody>
      </p:sp>
      <p:graphicFrame>
        <p:nvGraphicFramePr>
          <p:cNvPr id="10" name="Table 9"/>
          <p:cNvGraphicFramePr>
            <a:graphicFrameLocks noGrp="1"/>
          </p:cNvGraphicFramePr>
          <p:nvPr/>
        </p:nvGraphicFramePr>
        <p:xfrm>
          <a:off x="5852160" y="2057400"/>
          <a:ext cx="5852160" cy="3017520"/>
        </p:xfrm>
        <a:graphic>
          <a:graphicData uri="http://schemas.openxmlformats.org/drawingml/2006/table">
            <a:tbl>
              <a:tblPr firstRow="1" bandRow="1">
                <a:tableStyleId>{5C22544A-7EE6-4342-B048-85BDC9FD1C3A}</a:tableStyleId>
              </a:tblPr>
              <a:tblGrid>
                <a:gridCol w="2011680"/>
                <a:gridCol w="640080"/>
                <a:gridCol w="1097280"/>
                <a:gridCol w="640080"/>
                <a:gridCol w="1463040"/>
              </a:tblGrid>
              <a:tr h="502920">
                <a:tc>
                  <a:txBody>
                    <a:bodyPr wrap="square"/>
                    <a:lstStyle/>
                    <a:p>
                      <a:r>
                        <a:rPr sz="1200" b="1" i="0">
                          <a:solidFill>
                            <a:srgbClr val="FFFFFF"/>
                          </a:solidFill>
                          <a:latin typeface="Calibri"/>
                        </a:rPr>
                        <a:t>Role</a:t>
                      </a:r>
                    </a:p>
                  </a:txBody>
                  <a:tcPr marL="54864" marR="54864" marT="27432" marB="27432" anchor="ctr">
                    <a:solidFill>
                      <a:srgbClr val="5B2C83"/>
                    </a:solidFill>
                  </a:tcPr>
                </a:tc>
                <a:tc>
                  <a:txBody>
                    <a:bodyPr wrap="square"/>
                    <a:lstStyle/>
                    <a:p>
                      <a:r>
                        <a:rPr sz="1200" b="1" i="0">
                          <a:solidFill>
                            <a:srgbClr val="FFFFFF"/>
                          </a:solidFill>
                          <a:latin typeface="Calibri"/>
                        </a:rPr>
                        <a:t>View</a:t>
                      </a:r>
                    </a:p>
                  </a:txBody>
                  <a:tcPr marL="54864" marR="54864" marT="27432" marB="27432" anchor="ctr">
                    <a:solidFill>
                      <a:srgbClr val="5B2C83"/>
                    </a:solidFill>
                  </a:tcPr>
                </a:tc>
                <a:tc>
                  <a:txBody>
                    <a:bodyPr wrap="square"/>
                    <a:lstStyle/>
                    <a:p>
                      <a:r>
                        <a:rPr sz="1200" b="1" i="0">
                          <a:solidFill>
                            <a:srgbClr val="FFFFFF"/>
                          </a:solidFill>
                          <a:latin typeface="Calibri"/>
                        </a:rPr>
                        <a:t>Create / edit</a:t>
                      </a:r>
                    </a:p>
                  </a:txBody>
                  <a:tcPr marL="54864" marR="54864" marT="27432" marB="27432" anchor="ctr">
                    <a:solidFill>
                      <a:srgbClr val="5B2C83"/>
                    </a:solidFill>
                  </a:tcPr>
                </a:tc>
                <a:tc>
                  <a:txBody>
                    <a:bodyPr wrap="square"/>
                    <a:lstStyle/>
                    <a:p>
                      <a:r>
                        <a:rPr sz="1200" b="1" i="0">
                          <a:solidFill>
                            <a:srgbClr val="FFFFFF"/>
                          </a:solidFill>
                          <a:latin typeface="Calibri"/>
                        </a:rPr>
                        <a:t>Delete</a:t>
                      </a:r>
                    </a:p>
                  </a:txBody>
                  <a:tcPr marL="54864" marR="54864" marT="27432" marB="27432" anchor="ctr">
                    <a:solidFill>
                      <a:srgbClr val="5B2C83"/>
                    </a:solidFill>
                  </a:tcPr>
                </a:tc>
                <a:tc>
                  <a:txBody>
                    <a:bodyPr wrap="square"/>
                    <a:lstStyle/>
                    <a:p>
                      <a:r>
                        <a:rPr sz="1200" b="1" i="0">
                          <a:solidFill>
                            <a:srgbClr val="FFFFFF"/>
                          </a:solidFill>
                          <a:latin typeface="Calibri"/>
                        </a:rPr>
                        <a:t>Lifecycle &amp; publish</a:t>
                      </a:r>
                    </a:p>
                  </a:txBody>
                  <a:tcPr marL="54864" marR="54864" marT="27432" marB="27432" anchor="ctr">
                    <a:solidFill>
                      <a:srgbClr val="5B2C83"/>
                    </a:solidFill>
                  </a:tcPr>
                </a:tc>
              </a:tr>
              <a:tr h="502920">
                <a:tc>
                  <a:txBody>
                    <a:bodyPr wrap="square"/>
                    <a:lstStyle/>
                    <a:p>
                      <a:r>
                        <a:rPr sz="1200" b="1" i="0">
                          <a:solidFill>
                            <a:srgbClr val="1F1B2E"/>
                          </a:solidFill>
                          <a:latin typeface="Calibri"/>
                        </a:rPr>
                        <a:t>Catalog Administrator</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 (can override status)</a:t>
                      </a:r>
                    </a:p>
                  </a:txBody>
                  <a:tcPr marL="54864" marR="54864" marT="27432" marB="27432" anchor="ctr">
                    <a:solidFill>
                      <a:srgbClr val="F4F3F7"/>
                    </a:solidFill>
                  </a:tcPr>
                </a:tc>
              </a:tr>
              <a:tr h="502920">
                <a:tc>
                  <a:txBody>
                    <a:bodyPr wrap="square"/>
                    <a:lstStyle/>
                    <a:p>
                      <a:r>
                        <a:rPr sz="1200" b="1" i="0">
                          <a:solidFill>
                            <a:srgbClr val="1F1B2E"/>
                          </a:solidFill>
                          <a:latin typeface="Calibri"/>
                        </a:rPr>
                        <a:t>Catalog Product Manager</a:t>
                      </a:r>
                    </a:p>
                  </a:txBody>
                  <a:tcPr marL="54864" marR="54864" marT="27432" marB="27432" anchor="ctr">
                    <a:solidFill>
                      <a:srgbClr val="FFFFFF"/>
                    </a:solidFill>
                  </a:tcPr>
                </a:tc>
                <a:tc>
                  <a:txBody>
                    <a:bodyPr wrap="square"/>
                    <a:lstStyle/>
                    <a:p>
                      <a:r>
                        <a:rPr sz="1200" b="0" i="0">
                          <a:solidFill>
                            <a:srgbClr val="1F1B2E"/>
                          </a:solidFill>
                          <a:latin typeface="Calibri"/>
                        </a:rPr>
                        <a:t>✓</a:t>
                      </a:r>
                    </a:p>
                  </a:txBody>
                  <a:tcPr marL="54864" marR="54864" marT="27432" marB="27432" anchor="ctr">
                    <a:solidFill>
                      <a:srgbClr val="FFFFFF"/>
                    </a:solidFill>
                  </a:tcPr>
                </a:tc>
                <a:tc>
                  <a:txBody>
                    <a:bodyPr wrap="square"/>
                    <a:lstStyle/>
                    <a:p>
                      <a:r>
                        <a:rPr sz="1200" b="0" i="0">
                          <a:solidFill>
                            <a:srgbClr val="1F1B2E"/>
                          </a:solidFill>
                          <a:latin typeface="Calibri"/>
                        </a:rPr>
                        <a:t>✓</a:t>
                      </a:r>
                    </a:p>
                  </a:txBody>
                  <a:tcPr marL="54864" marR="54864" marT="27432" marB="27432" anchor="ctr">
                    <a:solidFill>
                      <a:srgbClr val="FFFFFF"/>
                    </a:solidFill>
                  </a:tcPr>
                </a:tc>
                <a:tc>
                  <a:txBody>
                    <a:bodyPr wrap="square"/>
                    <a:lstStyle/>
                    <a:p>
                      <a:r>
                        <a:rPr sz="1200" b="0" i="0">
                          <a:solidFill>
                            <a:srgbClr val="1F1B2E"/>
                          </a:solidFill>
                          <a:latin typeface="Calibri"/>
                        </a:rPr>
                        <a:t>✗</a:t>
                      </a:r>
                    </a:p>
                  </a:txBody>
                  <a:tcPr marL="54864" marR="54864" marT="27432" marB="27432" anchor="ctr">
                    <a:solidFill>
                      <a:srgbClr val="FFFFFF"/>
                    </a:solidFill>
                  </a:tcPr>
                </a:tc>
                <a:tc>
                  <a:txBody>
                    <a:bodyPr wrap="square"/>
                    <a:lstStyle/>
                    <a:p>
                      <a:r>
                        <a:rPr sz="1200" b="0" i="0">
                          <a:solidFill>
                            <a:srgbClr val="1F1B2E"/>
                          </a:solidFill>
                          <a:latin typeface="Calibri"/>
                        </a:rPr>
                        <a:t>✓ manage initiatives</a:t>
                      </a:r>
                    </a:p>
                  </a:txBody>
                  <a:tcPr marL="54864" marR="54864" marT="27432" marB="27432" anchor="ctr">
                    <a:solidFill>
                      <a:srgbClr val="FFFFFF"/>
                    </a:solidFill>
                  </a:tcPr>
                </a:tc>
              </a:tr>
              <a:tr h="502920">
                <a:tc>
                  <a:txBody>
                    <a:bodyPr wrap="square"/>
                    <a:lstStyle/>
                    <a:p>
                      <a:r>
                        <a:rPr sz="1200" b="1" i="0">
                          <a:solidFill>
                            <a:srgbClr val="1F1B2E"/>
                          </a:solidFill>
                          <a:latin typeface="Calibri"/>
                        </a:rPr>
                        <a:t>Marketing Manager</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 offers</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 no initiatives</a:t>
                      </a:r>
                    </a:p>
                  </a:txBody>
                  <a:tcPr marL="54864" marR="54864" marT="27432" marB="27432" anchor="ctr">
                    <a:solidFill>
                      <a:srgbClr val="F4F3F7"/>
                    </a:solidFill>
                  </a:tcPr>
                </a:tc>
              </a:tr>
              <a:tr h="502920">
                <a:tc>
                  <a:txBody>
                    <a:bodyPr wrap="square"/>
                    <a:lstStyle/>
                    <a:p>
                      <a:r>
                        <a:rPr sz="1200" b="1" i="0">
                          <a:solidFill>
                            <a:srgbClr val="1F1B2E"/>
                          </a:solidFill>
                          <a:latin typeface="Calibri"/>
                        </a:rPr>
                        <a:t>Product Specialist</a:t>
                      </a:r>
                    </a:p>
                  </a:txBody>
                  <a:tcPr marL="54864" marR="54864" marT="27432" marB="27432" anchor="ctr">
                    <a:solidFill>
                      <a:srgbClr val="FFFFFF"/>
                    </a:solidFill>
                  </a:tcPr>
                </a:tc>
                <a:tc>
                  <a:txBody>
                    <a:bodyPr wrap="square"/>
                    <a:lstStyle/>
                    <a:p>
                      <a:r>
                        <a:rPr sz="1200" b="0" i="0">
                          <a:solidFill>
                            <a:srgbClr val="1F1B2E"/>
                          </a:solidFill>
                          <a:latin typeface="Calibri"/>
                        </a:rPr>
                        <a:t>✓</a:t>
                      </a:r>
                    </a:p>
                  </a:txBody>
                  <a:tcPr marL="54864" marR="54864" marT="27432" marB="27432" anchor="ctr">
                    <a:solidFill>
                      <a:srgbClr val="FFFFFF"/>
                    </a:solidFill>
                  </a:tcPr>
                </a:tc>
                <a:tc>
                  <a:txBody>
                    <a:bodyPr wrap="square"/>
                    <a:lstStyle/>
                    <a:p>
                      <a:r>
                        <a:rPr sz="1200" b="0" i="0">
                          <a:solidFill>
                            <a:srgbClr val="1F1B2E"/>
                          </a:solidFill>
                          <a:latin typeface="Calibri"/>
                        </a:rPr>
                        <a:t>✓ specs only</a:t>
                      </a:r>
                    </a:p>
                  </a:txBody>
                  <a:tcPr marL="54864" marR="54864" marT="27432" marB="27432" anchor="ctr">
                    <a:solidFill>
                      <a:srgbClr val="FFFFFF"/>
                    </a:solidFill>
                  </a:tcPr>
                </a:tc>
                <a:tc>
                  <a:txBody>
                    <a:bodyPr wrap="square"/>
                    <a:lstStyle/>
                    <a:p>
                      <a:r>
                        <a:rPr sz="1200" b="0" i="0">
                          <a:solidFill>
                            <a:srgbClr val="1F1B2E"/>
                          </a:solidFill>
                          <a:latin typeface="Calibri"/>
                        </a:rPr>
                        <a:t>✗</a:t>
                      </a:r>
                    </a:p>
                  </a:txBody>
                  <a:tcPr marL="54864" marR="54864" marT="27432" marB="27432" anchor="ctr">
                    <a:solidFill>
                      <a:srgbClr val="FFFFFF"/>
                    </a:solidFill>
                  </a:tcPr>
                </a:tc>
                <a:tc>
                  <a:txBody>
                    <a:bodyPr wrap="square"/>
                    <a:lstStyle/>
                    <a:p>
                      <a:r>
                        <a:rPr sz="1200" b="0" i="0">
                          <a:solidFill>
                            <a:srgbClr val="1F1B2E"/>
                          </a:solidFill>
                          <a:latin typeface="Calibri"/>
                        </a:rPr>
                        <a:t>Confirm only</a:t>
                      </a:r>
                    </a:p>
                  </a:txBody>
                  <a:tcPr marL="54864" marR="54864" marT="27432" marB="27432" anchor="ctr">
                    <a:solidFill>
                      <a:srgbClr val="FFFFFF"/>
                    </a:solidFill>
                  </a:tcPr>
                </a:tc>
              </a:tr>
              <a:tr h="502920">
                <a:tc>
                  <a:txBody>
                    <a:bodyPr wrap="square"/>
                    <a:lstStyle/>
                    <a:p>
                      <a:r>
                        <a:rPr sz="1200" b="1" i="0">
                          <a:solidFill>
                            <a:srgbClr val="1F1B2E"/>
                          </a:solidFill>
                          <a:latin typeface="Calibri"/>
                        </a:rPr>
                        <a:t>Catalog Viewer</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a:t>
                      </a:r>
                    </a:p>
                  </a:txBody>
                  <a:tcPr marL="54864" marR="54864" marT="27432" marB="27432" anchor="ctr">
                    <a:solidFill>
                      <a:srgbClr val="F4F3F7"/>
                    </a:solidFill>
                  </a:tcPr>
                </a:tc>
                <a:tc>
                  <a:txBody>
                    <a:bodyPr wrap="square"/>
                    <a:lstStyle/>
                    <a:p>
                      <a:r>
                        <a:rPr sz="1200" b="0" i="0">
                          <a:solidFill>
                            <a:srgbClr val="1F1B2E"/>
                          </a:solidFill>
                          <a:latin typeface="Calibri"/>
                        </a:rPr>
                        <a:t>✗ read-only</a:t>
                      </a:r>
                    </a:p>
                  </a:txBody>
                  <a:tcPr marL="54864" marR="54864" marT="27432" marB="27432" anchor="ctr">
                    <a:solidFill>
                      <a:srgbClr val="F4F3F7"/>
                    </a:solidFill>
                  </a:tcPr>
                </a:tc>
              </a:tr>
            </a:tbl>
          </a:graphicData>
        </a:graphic>
      </p:graphicFrame>
      <p:sp>
        <p:nvSpPr>
          <p:cNvPr id="11" name="TextBox 10"/>
          <p:cNvSpPr txBox="1"/>
          <p:nvPr/>
        </p:nvSpPr>
        <p:spPr>
          <a:xfrm>
            <a:off x="5852160" y="5166360"/>
            <a:ext cx="5852160" cy="1097280"/>
          </a:xfrm>
          <a:prstGeom prst="rect">
            <a:avLst/>
          </a:prstGeom>
          <a:noFill/>
        </p:spPr>
        <p:txBody>
          <a:bodyPr wrap="square" anchor="t" lIns="45720" rIns="45720">
            <a:spAutoFit/>
          </a:bodyPr>
          <a:lstStyle/>
          <a:p>
            <a:pPr algn="l"/>
            <a:r>
              <a:rPr sz="1300" b="0" i="0">
                <a:solidFill>
                  <a:srgbClr val="5F5A6B"/>
                </a:solidFill>
                <a:latin typeface="Calibri"/>
              </a:rPr>
              <a:t>Plus: a "sensitive" flag on production destinations, so only privileged users can publish to production. Custom roles can be built in the Security Console.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03  LAUNCH, RETIREMENT &amp; MIGRATION</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Bringing an offer to market, and taking it out safely</a:t>
            </a:r>
          </a:p>
        </p:txBody>
      </p:sp>
      <p:sp>
        <p:nvSpPr>
          <p:cNvPr id="5" name="TextBox 4"/>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6" name="TextBox 5"/>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12</a:t>
            </a:r>
          </a:p>
        </p:txBody>
      </p:sp>
      <p:sp>
        <p:nvSpPr>
          <p:cNvPr id="7" name="Rounded Rectangle 6"/>
          <p:cNvSpPr/>
          <p:nvPr/>
        </p:nvSpPr>
        <p:spPr>
          <a:xfrm>
            <a:off x="548640" y="1463040"/>
            <a:ext cx="3566160" cy="50292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FFFFFF"/>
                </a:solidFill>
                <a:latin typeface="Calibri"/>
              </a:rPr>
              <a:t>Product Launch</a:t>
            </a:r>
          </a:p>
        </p:txBody>
      </p:sp>
      <p:sp>
        <p:nvSpPr>
          <p:cNvPr id="8" name="TextBox 7"/>
          <p:cNvSpPr txBox="1"/>
          <p:nvPr/>
        </p:nvSpPr>
        <p:spPr>
          <a:xfrm>
            <a:off x="548640" y="2103120"/>
            <a:ext cx="3611880" cy="3291840"/>
          </a:xfrm>
          <a:prstGeom prst="rect">
            <a:avLst/>
          </a:prstGeom>
          <a:noFill/>
        </p:spPr>
        <p:txBody>
          <a:bodyPr wrap="square">
            <a:spAutoFit/>
          </a:bodyPr>
          <a:lstStyle/>
          <a:p>
            <a:pPr>
              <a:spcAft>
                <a:spcPts val="500"/>
              </a:spcAft>
            </a:pPr>
            <a:r>
              <a:rPr sz="1000" b="0" i="0">
                <a:solidFill>
                  <a:srgbClr val="5B2C83"/>
                </a:solidFill>
                <a:latin typeface="Calibri"/>
              </a:rPr>
              <a:t>■  </a:t>
            </a:r>
            <a:r>
              <a:rPr sz="1400" b="0" i="0">
                <a:solidFill>
                  <a:srgbClr val="1F1B2E"/>
                </a:solidFill>
                <a:latin typeface="Calibri"/>
              </a:rPr>
              <a:t>Initiative moves to Active in production</a:t>
            </a:r>
          </a:p>
          <a:p>
            <a:pPr>
              <a:spcAft>
                <a:spcPts val="500"/>
              </a:spcAft>
            </a:pPr>
            <a:r>
              <a:rPr sz="1000" b="0" i="0">
                <a:solidFill>
                  <a:srgbClr val="5B2C83"/>
                </a:solidFill>
                <a:latin typeface="Calibri"/>
              </a:rPr>
              <a:t>■  </a:t>
            </a:r>
            <a:r>
              <a:rPr sz="1400" b="0" i="0">
                <a:solidFill>
                  <a:srgbClr val="1F1B2E"/>
                </a:solidFill>
                <a:latin typeface="Calibri"/>
              </a:rPr>
              <a:t>Publish to production CRM, billing and provisioning</a:t>
            </a:r>
          </a:p>
          <a:p>
            <a:pPr>
              <a:spcAft>
                <a:spcPts val="500"/>
              </a:spcAft>
            </a:pPr>
            <a:r>
              <a:rPr sz="1000" b="0" i="0">
                <a:solidFill>
                  <a:srgbClr val="5B2C83"/>
                </a:solidFill>
                <a:latin typeface="Calibri"/>
              </a:rPr>
              <a:t>■  </a:t>
            </a:r>
            <a:r>
              <a:rPr sz="1400" b="1" i="0">
                <a:solidFill>
                  <a:srgbClr val="1F1B2E"/>
                </a:solidFill>
                <a:latin typeface="Calibri"/>
              </a:rPr>
              <a:t>Status becomes Launched: </a:t>
            </a:r>
            <a:r>
              <a:rPr sz="1400" b="0" i="0">
                <a:solidFill>
                  <a:srgbClr val="1F1B2E"/>
                </a:solidFill>
                <a:latin typeface="Calibri"/>
              </a:rPr>
              <a:t>sellable</a:t>
            </a:r>
          </a:p>
          <a:p>
            <a:pPr>
              <a:spcAft>
                <a:spcPts val="500"/>
              </a:spcAft>
            </a:pPr>
            <a:r>
              <a:rPr sz="1000" b="0" i="0">
                <a:solidFill>
                  <a:srgbClr val="5B2C83"/>
                </a:solidFill>
                <a:latin typeface="Calibri"/>
              </a:rPr>
              <a:t>■  </a:t>
            </a:r>
            <a:r>
              <a:rPr sz="1400" b="0" i="0">
                <a:solidFill>
                  <a:srgbClr val="1F1B2E"/>
                </a:solidFill>
                <a:latin typeface="Calibri"/>
              </a:rPr>
              <a:t>Availability limited by channel, location and segment</a:t>
            </a:r>
          </a:p>
          <a:p>
            <a:pPr>
              <a:spcAft>
                <a:spcPts val="500"/>
              </a:spcAft>
            </a:pPr>
            <a:r>
              <a:rPr sz="1000" b="0" i="0">
                <a:solidFill>
                  <a:srgbClr val="5B2C83"/>
                </a:solidFill>
                <a:latin typeface="Calibri"/>
              </a:rPr>
              <a:t>■  </a:t>
            </a:r>
            <a:r>
              <a:rPr sz="1400" b="0" i="0">
                <a:solidFill>
                  <a:srgbClr val="1F1B2E"/>
                </a:solidFill>
                <a:latin typeface="Calibri"/>
              </a:rPr>
              <a:t>Storefront banners to highlight offers</a:t>
            </a:r>
          </a:p>
        </p:txBody>
      </p:sp>
      <p:sp>
        <p:nvSpPr>
          <p:cNvPr id="9" name="Rounded Rectangle 8"/>
          <p:cNvSpPr/>
          <p:nvPr/>
        </p:nvSpPr>
        <p:spPr>
          <a:xfrm>
            <a:off x="4325112" y="1463040"/>
            <a:ext cx="3566160" cy="502920"/>
          </a:xfrm>
          <a:prstGeom prst="roundRect">
            <a:avLst>
              <a:gd name="adj" fmla="val 12000"/>
            </a:avLst>
          </a:prstGeom>
          <a:solidFill>
            <a:srgbClr val="C746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FFFFFF"/>
                </a:solidFill>
                <a:latin typeface="Calibri"/>
              </a:rPr>
              <a:t>Product Retirement</a:t>
            </a:r>
          </a:p>
        </p:txBody>
      </p:sp>
      <p:sp>
        <p:nvSpPr>
          <p:cNvPr id="10" name="TextBox 9"/>
          <p:cNvSpPr txBox="1"/>
          <p:nvPr/>
        </p:nvSpPr>
        <p:spPr>
          <a:xfrm>
            <a:off x="4325112" y="2103120"/>
            <a:ext cx="3611880" cy="3291840"/>
          </a:xfrm>
          <a:prstGeom prst="rect">
            <a:avLst/>
          </a:prstGeom>
          <a:noFill/>
        </p:spPr>
        <p:txBody>
          <a:bodyPr wrap="square">
            <a:spAutoFit/>
          </a:bodyPr>
          <a:lstStyle/>
          <a:p>
            <a:pPr>
              <a:spcAft>
                <a:spcPts val="500"/>
              </a:spcAft>
            </a:pPr>
            <a:r>
              <a:rPr sz="1000" b="0" i="0">
                <a:solidFill>
                  <a:srgbClr val="5B2C83"/>
                </a:solidFill>
                <a:latin typeface="Calibri"/>
              </a:rPr>
              <a:t>■  </a:t>
            </a:r>
            <a:r>
              <a:rPr sz="1400" b="0" i="0">
                <a:solidFill>
                  <a:srgbClr val="1F1B2E"/>
                </a:solidFill>
                <a:latin typeface="Calibri"/>
              </a:rPr>
              <a:t>Allowed only when all versions are Launched</a:t>
            </a:r>
          </a:p>
          <a:p>
            <a:pPr>
              <a:spcAft>
                <a:spcPts val="500"/>
              </a:spcAft>
            </a:pPr>
            <a:r>
              <a:rPr sz="1000" b="0" i="0">
                <a:solidFill>
                  <a:srgbClr val="5B2C83"/>
                </a:solidFill>
                <a:latin typeface="Calibri"/>
              </a:rPr>
              <a:t>■  </a:t>
            </a:r>
            <a:r>
              <a:rPr sz="1400" b="1" i="0">
                <a:solidFill>
                  <a:srgbClr val="1F1B2E"/>
                </a:solidFill>
                <a:latin typeface="Calibri"/>
              </a:rPr>
              <a:t>Link the offer to an initiative: </a:t>
            </a:r>
            <a:r>
              <a:rPr sz="1400" b="0" i="0">
                <a:solidFill>
                  <a:srgbClr val="1F1B2E"/>
                </a:solidFill>
                <a:latin typeface="Calibri"/>
              </a:rPr>
              <a:t>Awaiting Retirement</a:t>
            </a:r>
          </a:p>
          <a:p>
            <a:pPr>
              <a:spcAft>
                <a:spcPts val="500"/>
              </a:spcAft>
            </a:pPr>
            <a:r>
              <a:rPr sz="1000" b="0" i="0">
                <a:solidFill>
                  <a:srgbClr val="5B2C83"/>
                </a:solidFill>
                <a:latin typeface="Calibri"/>
              </a:rPr>
              <a:t>■  </a:t>
            </a:r>
            <a:r>
              <a:rPr sz="1400" b="1" i="0">
                <a:solidFill>
                  <a:srgbClr val="1F1B2E"/>
                </a:solidFill>
                <a:latin typeface="Calibri"/>
              </a:rPr>
              <a:t>On publish: </a:t>
            </a:r>
            <a:r>
              <a:rPr sz="1400" b="0" i="0">
                <a:solidFill>
                  <a:srgbClr val="1F1B2E"/>
                </a:solidFill>
                <a:latin typeface="Calibri"/>
              </a:rPr>
              <a:t>Retired, not sellable in any channel</a:t>
            </a:r>
          </a:p>
          <a:p>
            <a:pPr>
              <a:spcAft>
                <a:spcPts val="500"/>
              </a:spcAft>
            </a:pPr>
            <a:r>
              <a:rPr sz="1000" b="0" i="0">
                <a:solidFill>
                  <a:srgbClr val="5B2C83"/>
                </a:solidFill>
                <a:latin typeface="Calibri"/>
              </a:rPr>
              <a:t>■  </a:t>
            </a:r>
            <a:r>
              <a:rPr sz="1400" b="1" i="0">
                <a:solidFill>
                  <a:srgbClr val="1F1B2E"/>
                </a:solidFill>
                <a:latin typeface="Calibri"/>
              </a:rPr>
              <a:t>Later: </a:t>
            </a:r>
            <a:r>
              <a:rPr sz="1400" b="0" i="0">
                <a:solidFill>
                  <a:srgbClr val="1F1B2E"/>
                </a:solidFill>
                <a:latin typeface="Calibri"/>
              </a:rPr>
              <a:t>Obsolete (archived)</a:t>
            </a:r>
          </a:p>
          <a:p>
            <a:pPr>
              <a:spcAft>
                <a:spcPts val="500"/>
              </a:spcAft>
            </a:pPr>
            <a:r>
              <a:rPr sz="1000" b="0" i="0">
                <a:solidFill>
                  <a:srgbClr val="5B2C83"/>
                </a:solidFill>
                <a:latin typeface="Calibri"/>
              </a:rPr>
              <a:t>■  </a:t>
            </a:r>
            <a:r>
              <a:rPr sz="1400" b="0" i="0">
                <a:solidFill>
                  <a:srgbClr val="1F1B2E"/>
                </a:solidFill>
                <a:latin typeface="Calibri"/>
              </a:rPr>
              <a:t>Existing subscribers are not removed automatically</a:t>
            </a:r>
          </a:p>
        </p:txBody>
      </p:sp>
      <p:sp>
        <p:nvSpPr>
          <p:cNvPr id="11" name="Rounded Rectangle 10"/>
          <p:cNvSpPr/>
          <p:nvPr/>
        </p:nvSpPr>
        <p:spPr>
          <a:xfrm>
            <a:off x="8101583" y="1463040"/>
            <a:ext cx="3566160" cy="502920"/>
          </a:xfrm>
          <a:prstGeom prst="roundRect">
            <a:avLst>
              <a:gd name="adj" fmla="val 12000"/>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FFFFFF"/>
                </a:solidFill>
                <a:latin typeface="Calibri"/>
              </a:rPr>
              <a:t>Product Migration</a:t>
            </a:r>
          </a:p>
        </p:txBody>
      </p:sp>
      <p:sp>
        <p:nvSpPr>
          <p:cNvPr id="12" name="TextBox 11"/>
          <p:cNvSpPr txBox="1"/>
          <p:nvPr/>
        </p:nvSpPr>
        <p:spPr>
          <a:xfrm>
            <a:off x="8101583" y="2103120"/>
            <a:ext cx="3611880" cy="3291840"/>
          </a:xfrm>
          <a:prstGeom prst="rect">
            <a:avLst/>
          </a:prstGeom>
          <a:noFill/>
        </p:spPr>
        <p:txBody>
          <a:bodyPr wrap="square">
            <a:spAutoFit/>
          </a:bodyPr>
          <a:lstStyle/>
          <a:p>
            <a:pPr>
              <a:spcAft>
                <a:spcPts val="500"/>
              </a:spcAft>
            </a:pPr>
            <a:r>
              <a:rPr sz="1000" b="0" i="0">
                <a:solidFill>
                  <a:srgbClr val="5B2C83"/>
                </a:solidFill>
                <a:latin typeface="Calibri"/>
              </a:rPr>
              <a:t>■  </a:t>
            </a:r>
            <a:r>
              <a:rPr sz="1400" b="1" i="0">
                <a:solidFill>
                  <a:srgbClr val="1F1B2E"/>
                </a:solidFill>
                <a:latin typeface="Calibri"/>
              </a:rPr>
              <a:t>Migration rules: </a:t>
            </a:r>
            <a:r>
              <a:rPr sz="1400" b="0" i="0">
                <a:solidFill>
                  <a:srgbClr val="1F1B2E"/>
                </a:solidFill>
                <a:latin typeface="Calibri"/>
              </a:rPr>
              <a:t>Upgrade To / Upgrade From</a:t>
            </a:r>
          </a:p>
          <a:p>
            <a:pPr>
              <a:spcAft>
                <a:spcPts val="500"/>
              </a:spcAft>
            </a:pPr>
            <a:r>
              <a:rPr sz="1000" b="0" i="0">
                <a:solidFill>
                  <a:srgbClr val="5B2C83"/>
                </a:solidFill>
                <a:latin typeface="Calibri"/>
              </a:rPr>
              <a:t>■  </a:t>
            </a:r>
            <a:r>
              <a:rPr sz="1400" b="0" i="0">
                <a:solidFill>
                  <a:srgbClr val="1F1B2E"/>
                </a:solidFill>
                <a:latin typeface="Calibri"/>
              </a:rPr>
              <a:t>Defined between sellable bundles and packages</a:t>
            </a:r>
          </a:p>
          <a:p>
            <a:pPr>
              <a:spcAft>
                <a:spcPts val="500"/>
              </a:spcAft>
            </a:pPr>
            <a:r>
              <a:rPr sz="1000" b="0" i="0">
                <a:solidFill>
                  <a:srgbClr val="5B2C83"/>
                </a:solidFill>
                <a:latin typeface="Calibri"/>
              </a:rPr>
              <a:t>■  </a:t>
            </a:r>
            <a:r>
              <a:rPr sz="1400" b="1" i="0">
                <a:solidFill>
                  <a:srgbClr val="1F1B2E"/>
                </a:solidFill>
                <a:latin typeface="Calibri"/>
              </a:rPr>
              <a:t>Each rule: </a:t>
            </a:r>
            <a:r>
              <a:rPr sz="1400" b="0" i="0">
                <a:solidFill>
                  <a:srgbClr val="1F1B2E"/>
                </a:solidFill>
                <a:latin typeface="Calibri"/>
              </a:rPr>
              <a:t>new commitment start, duration, penalty</a:t>
            </a:r>
          </a:p>
          <a:p>
            <a:pPr>
              <a:spcAft>
                <a:spcPts val="500"/>
              </a:spcAft>
            </a:pPr>
            <a:r>
              <a:rPr sz="1000" b="0" i="0">
                <a:solidFill>
                  <a:srgbClr val="5B2C83"/>
                </a:solidFill>
                <a:latin typeface="Calibri"/>
              </a:rPr>
              <a:t>■  </a:t>
            </a:r>
            <a:r>
              <a:rPr sz="1400" b="0" i="0">
                <a:solidFill>
                  <a:srgbClr val="1F1B2E"/>
                </a:solidFill>
                <a:latin typeface="Calibri"/>
              </a:rPr>
              <a:t>CRM uses the rules to offer the customer a valid move</a:t>
            </a:r>
          </a:p>
          <a:p>
            <a:pPr>
              <a:spcAft>
                <a:spcPts val="500"/>
              </a:spcAft>
            </a:pPr>
            <a:r>
              <a:rPr sz="1000" b="0" i="0">
                <a:solidFill>
                  <a:srgbClr val="5B2C83"/>
                </a:solidFill>
                <a:latin typeface="Calibri"/>
              </a:rPr>
              <a:t>■  </a:t>
            </a:r>
            <a:r>
              <a:rPr sz="1400" b="0" i="0">
                <a:solidFill>
                  <a:srgbClr val="1F1B2E"/>
                </a:solidFill>
                <a:latin typeface="Calibri"/>
              </a:rPr>
              <a:t>The move itself is executed by CRM and order management</a:t>
            </a:r>
          </a:p>
        </p:txBody>
      </p:sp>
      <p:sp>
        <p:nvSpPr>
          <p:cNvPr id="13" name="Rounded Rectangle 12"/>
          <p:cNvSpPr/>
          <p:nvPr/>
        </p:nvSpPr>
        <p:spPr>
          <a:xfrm>
            <a:off x="548640" y="5349240"/>
            <a:ext cx="11155680" cy="86868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1F1B2E"/>
                </a:solidFill>
                <a:latin typeface="Calibri"/>
              </a:rPr>
              <a:t>Takeaway: Launch decides what is allowed (the offers and the rules). CRM and order management do the work on real customers.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05  CRM INTEGRATION</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How a product reaches the CRM</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Publishing is initiative-based, ordered by sequence, and tracked per destination</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13</a:t>
            </a:r>
          </a:p>
        </p:txBody>
      </p:sp>
      <p:sp>
        <p:nvSpPr>
          <p:cNvPr id="8" name="Rounded Rectangle 7"/>
          <p:cNvSpPr/>
          <p:nvPr/>
        </p:nvSpPr>
        <p:spPr>
          <a:xfrm>
            <a:off x="548640" y="1737360"/>
            <a:ext cx="1965960" cy="86868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1. Register</a:t>
            </a:r>
          </a:p>
          <a:p>
            <a:pPr algn="ctr"/>
            <a:r>
              <a:rPr sz="1200" b="0" i="0">
                <a:solidFill>
                  <a:srgbClr val="FFFFFF"/>
                </a:solidFill>
                <a:latin typeface="Calibri"/>
              </a:rPr>
              <a:t>destinations</a:t>
            </a:r>
          </a:p>
        </p:txBody>
      </p:sp>
      <p:sp>
        <p:nvSpPr>
          <p:cNvPr id="9" name="TextBox 8"/>
          <p:cNvSpPr txBox="1"/>
          <p:nvPr/>
        </p:nvSpPr>
        <p:spPr>
          <a:xfrm>
            <a:off x="548640" y="2651760"/>
            <a:ext cx="1965960" cy="685800"/>
          </a:xfrm>
          <a:prstGeom prst="rect">
            <a:avLst/>
          </a:prstGeom>
          <a:noFill/>
        </p:spPr>
        <p:txBody>
          <a:bodyPr wrap="square" anchor="t" lIns="45720" rIns="45720">
            <a:spAutoFit/>
          </a:bodyPr>
          <a:lstStyle/>
          <a:p>
            <a:pPr algn="ctr"/>
            <a:r>
              <a:rPr sz="1200" b="0" i="0">
                <a:solidFill>
                  <a:srgbClr val="5F5A6B"/>
                </a:solidFill>
                <a:latin typeface="Calibri"/>
              </a:rPr>
              <a:t>CRM, billing, etc. per</a:t>
            </a:r>
          </a:p>
          <a:p>
            <a:pPr algn="ctr"/>
            <a:r>
              <a:rPr sz="1200" b="0" i="0">
                <a:solidFill>
                  <a:srgbClr val="5F5A6B"/>
                </a:solidFill>
                <a:latin typeface="Calibri"/>
              </a:rPr>
              <a:t>lifecycle status (SIT, UAT, Prod)</a:t>
            </a:r>
          </a:p>
        </p:txBody>
      </p:sp>
      <p:sp>
        <p:nvSpPr>
          <p:cNvPr id="10" name="Right Arrow 9"/>
          <p:cNvSpPr/>
          <p:nvPr/>
        </p:nvSpPr>
        <p:spPr>
          <a:xfrm>
            <a:off x="2542032" y="2029968"/>
            <a:ext cx="274320"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34640" y="1737360"/>
            <a:ext cx="1965960" cy="86868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2. Package</a:t>
            </a:r>
          </a:p>
          <a:p>
            <a:pPr algn="ctr"/>
            <a:r>
              <a:rPr sz="1200" b="0" i="0">
                <a:solidFill>
                  <a:srgbClr val="FFFFFF"/>
                </a:solidFill>
                <a:latin typeface="Calibri"/>
              </a:rPr>
              <a:t>in initiative</a:t>
            </a:r>
          </a:p>
        </p:txBody>
      </p:sp>
      <p:sp>
        <p:nvSpPr>
          <p:cNvPr id="12" name="TextBox 11"/>
          <p:cNvSpPr txBox="1"/>
          <p:nvPr/>
        </p:nvSpPr>
        <p:spPr>
          <a:xfrm>
            <a:off x="2834640" y="2651760"/>
            <a:ext cx="1965960" cy="685800"/>
          </a:xfrm>
          <a:prstGeom prst="rect">
            <a:avLst/>
          </a:prstGeom>
          <a:noFill/>
        </p:spPr>
        <p:txBody>
          <a:bodyPr wrap="square" anchor="t" lIns="45720" rIns="45720">
            <a:spAutoFit/>
          </a:bodyPr>
          <a:lstStyle/>
          <a:p>
            <a:pPr algn="ctr"/>
            <a:r>
              <a:rPr sz="1200" b="0" i="0">
                <a:solidFill>
                  <a:srgbClr val="5F5A6B"/>
                </a:solidFill>
                <a:latin typeface="Calibri"/>
              </a:rPr>
              <a:t>offers, prices,</a:t>
            </a:r>
          </a:p>
          <a:p>
            <a:pPr algn="ctr"/>
            <a:r>
              <a:rPr sz="1200" b="0" i="0">
                <a:solidFill>
                  <a:srgbClr val="5F5A6B"/>
                </a:solidFill>
                <a:latin typeface="Calibri"/>
              </a:rPr>
              <a:t>rules, promotions</a:t>
            </a:r>
          </a:p>
        </p:txBody>
      </p:sp>
      <p:sp>
        <p:nvSpPr>
          <p:cNvPr id="13" name="Right Arrow 12"/>
          <p:cNvSpPr/>
          <p:nvPr/>
        </p:nvSpPr>
        <p:spPr>
          <a:xfrm>
            <a:off x="4828032" y="2029968"/>
            <a:ext cx="274320"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737360"/>
            <a:ext cx="1965960" cy="86868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3. Publish</a:t>
            </a:r>
          </a:p>
        </p:txBody>
      </p:sp>
      <p:sp>
        <p:nvSpPr>
          <p:cNvPr id="15" name="TextBox 14"/>
          <p:cNvSpPr txBox="1"/>
          <p:nvPr/>
        </p:nvSpPr>
        <p:spPr>
          <a:xfrm>
            <a:off x="5120640" y="2651760"/>
            <a:ext cx="1965960" cy="685800"/>
          </a:xfrm>
          <a:prstGeom prst="rect">
            <a:avLst/>
          </a:prstGeom>
          <a:noFill/>
        </p:spPr>
        <p:txBody>
          <a:bodyPr wrap="square" anchor="t" lIns="45720" rIns="45720">
            <a:spAutoFit/>
          </a:bodyPr>
          <a:lstStyle/>
          <a:p>
            <a:pPr algn="ctr"/>
            <a:r>
              <a:rPr sz="1200" b="0" i="0">
                <a:solidFill>
                  <a:srgbClr val="5F5A6B"/>
                </a:solidFill>
                <a:latin typeface="Calibri"/>
              </a:rPr>
              <a:t>event sent to each</a:t>
            </a:r>
          </a:p>
          <a:p>
            <a:pPr algn="ctr"/>
            <a:r>
              <a:rPr sz="1200" b="0" i="0">
                <a:solidFill>
                  <a:srgbClr val="5F5A6B"/>
                </a:solidFill>
                <a:latin typeface="Calibri"/>
              </a:rPr>
              <a:t>spoke's API</a:t>
            </a:r>
          </a:p>
        </p:txBody>
      </p:sp>
      <p:sp>
        <p:nvSpPr>
          <p:cNvPr id="16" name="Right Arrow 15"/>
          <p:cNvSpPr/>
          <p:nvPr/>
        </p:nvSpPr>
        <p:spPr>
          <a:xfrm>
            <a:off x="7114031" y="2029968"/>
            <a:ext cx="274320"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6640" y="1737360"/>
            <a:ext cx="1965960" cy="86868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4. Spoke</a:t>
            </a:r>
          </a:p>
          <a:p>
            <a:pPr algn="ctr"/>
            <a:r>
              <a:rPr sz="1200" b="0" i="0">
                <a:solidFill>
                  <a:srgbClr val="FFFFFF"/>
                </a:solidFill>
                <a:latin typeface="Calibri"/>
              </a:rPr>
              <a:t>confirms</a:t>
            </a:r>
          </a:p>
        </p:txBody>
      </p:sp>
      <p:sp>
        <p:nvSpPr>
          <p:cNvPr id="18" name="TextBox 17"/>
          <p:cNvSpPr txBox="1"/>
          <p:nvPr/>
        </p:nvSpPr>
        <p:spPr>
          <a:xfrm>
            <a:off x="7406640" y="2651760"/>
            <a:ext cx="1965960" cy="685800"/>
          </a:xfrm>
          <a:prstGeom prst="rect">
            <a:avLst/>
          </a:prstGeom>
          <a:noFill/>
        </p:spPr>
        <p:txBody>
          <a:bodyPr wrap="square" anchor="t" lIns="45720" rIns="45720">
            <a:spAutoFit/>
          </a:bodyPr>
          <a:lstStyle/>
          <a:p>
            <a:pPr algn="ctr"/>
            <a:r>
              <a:rPr sz="1200" b="0" i="0">
                <a:solidFill>
                  <a:srgbClr val="5F5A6B"/>
                </a:solidFill>
                <a:latin typeface="Calibri"/>
              </a:rPr>
              <a:t>status moves on only</a:t>
            </a:r>
          </a:p>
          <a:p>
            <a:pPr algn="ctr"/>
            <a:r>
              <a:rPr sz="1200" b="0" i="0">
                <a:solidFill>
                  <a:srgbClr val="5F5A6B"/>
                </a:solidFill>
                <a:latin typeface="Calibri"/>
              </a:rPr>
              <a:t>after all confirm</a:t>
            </a:r>
          </a:p>
        </p:txBody>
      </p:sp>
      <p:sp>
        <p:nvSpPr>
          <p:cNvPr id="19" name="Right Arrow 18"/>
          <p:cNvSpPr/>
          <p:nvPr/>
        </p:nvSpPr>
        <p:spPr>
          <a:xfrm>
            <a:off x="9400032" y="2029968"/>
            <a:ext cx="274320" cy="256032"/>
          </a:xfrm>
          <a:prstGeom prst="rightArrow">
            <a:avLst/>
          </a:prstGeom>
          <a:solidFill>
            <a:srgbClr val="5F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92640" y="1737360"/>
            <a:ext cx="1965960" cy="86868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5. Monitor &amp;</a:t>
            </a:r>
          </a:p>
          <a:p>
            <a:pPr algn="ctr"/>
            <a:r>
              <a:rPr sz="1200" b="0" i="0">
                <a:solidFill>
                  <a:srgbClr val="FFFFFF"/>
                </a:solidFill>
                <a:latin typeface="Calibri"/>
              </a:rPr>
              <a:t>republish</a:t>
            </a:r>
          </a:p>
        </p:txBody>
      </p:sp>
      <p:sp>
        <p:nvSpPr>
          <p:cNvPr id="21" name="TextBox 20"/>
          <p:cNvSpPr txBox="1"/>
          <p:nvPr/>
        </p:nvSpPr>
        <p:spPr>
          <a:xfrm>
            <a:off x="9692640" y="2651760"/>
            <a:ext cx="1965960" cy="685800"/>
          </a:xfrm>
          <a:prstGeom prst="rect">
            <a:avLst/>
          </a:prstGeom>
          <a:noFill/>
        </p:spPr>
        <p:txBody>
          <a:bodyPr wrap="square" anchor="t" lIns="45720" rIns="45720">
            <a:spAutoFit/>
          </a:bodyPr>
          <a:lstStyle/>
          <a:p>
            <a:pPr algn="ctr"/>
            <a:r>
              <a:rPr sz="1200" b="0" i="0">
                <a:solidFill>
                  <a:srgbClr val="5F5A6B"/>
                </a:solidFill>
                <a:latin typeface="Calibri"/>
              </a:rPr>
              <a:t>retry only the</a:t>
            </a:r>
          </a:p>
          <a:p>
            <a:pPr algn="ctr"/>
            <a:r>
              <a:rPr sz="1200" b="0" i="0">
                <a:solidFill>
                  <a:srgbClr val="5F5A6B"/>
                </a:solidFill>
                <a:latin typeface="Calibri"/>
              </a:rPr>
              <a:t>failed destinations</a:t>
            </a:r>
          </a:p>
        </p:txBody>
      </p:sp>
      <p:sp>
        <p:nvSpPr>
          <p:cNvPr id="22" name="TextBox 21"/>
          <p:cNvSpPr txBox="1"/>
          <p:nvPr/>
        </p:nvSpPr>
        <p:spPr>
          <a:xfrm>
            <a:off x="548640" y="3520440"/>
            <a:ext cx="5669280" cy="2743200"/>
          </a:xfrm>
          <a:prstGeom prst="rect">
            <a:avLst/>
          </a:prstGeom>
          <a:noFill/>
        </p:spPr>
        <p:txBody>
          <a:bodyPr wrap="square">
            <a:spAutoFit/>
          </a:bodyPr>
          <a:lstStyle/>
          <a:p>
            <a:pPr>
              <a:spcAft>
                <a:spcPts val="500"/>
              </a:spcAft>
            </a:pPr>
            <a:r>
              <a:rPr sz="1000" b="0" i="0">
                <a:solidFill>
                  <a:srgbClr val="5B2C83"/>
                </a:solidFill>
                <a:latin typeface="Calibri"/>
              </a:rPr>
              <a:t>■  </a:t>
            </a:r>
            <a:r>
              <a:rPr sz="1400" b="1" i="0">
                <a:solidFill>
                  <a:srgbClr val="1F1B2E"/>
                </a:solidFill>
                <a:latin typeface="Calibri"/>
              </a:rPr>
              <a:t>Prebuilt Siebel CRM integration: </a:t>
            </a:r>
            <a:r>
              <a:rPr sz="1400" b="0" i="0">
                <a:solidFill>
                  <a:srgbClr val="1F1B2E"/>
                </a:solidFill>
                <a:latin typeface="Calibri"/>
              </a:rPr>
              <a:t>catalog, products, price lists, promotions, rules</a:t>
            </a:r>
          </a:p>
          <a:p>
            <a:pPr>
              <a:spcAft>
                <a:spcPts val="500"/>
              </a:spcAft>
            </a:pPr>
            <a:r>
              <a:rPr sz="1000" b="0" i="0">
                <a:solidFill>
                  <a:srgbClr val="5B2C83"/>
                </a:solidFill>
                <a:latin typeface="Calibri"/>
              </a:rPr>
              <a:t>■  </a:t>
            </a:r>
            <a:r>
              <a:rPr sz="1400" b="0" i="0">
                <a:solidFill>
                  <a:srgbClr val="1F1B2E"/>
                </a:solidFill>
                <a:latin typeface="Calibri"/>
              </a:rPr>
              <a:t>One-time migration of the existing CRM catalog into Launch</a:t>
            </a:r>
          </a:p>
          <a:p>
            <a:pPr>
              <a:spcAft>
                <a:spcPts val="500"/>
              </a:spcAft>
            </a:pPr>
            <a:r>
              <a:rPr sz="1000" b="0" i="0">
                <a:solidFill>
                  <a:srgbClr val="5B2C83"/>
                </a:solidFill>
                <a:latin typeface="Calibri"/>
              </a:rPr>
              <a:t>■  </a:t>
            </a:r>
            <a:r>
              <a:rPr sz="1400" b="0" i="0">
                <a:solidFill>
                  <a:srgbClr val="1F1B2E"/>
                </a:solidFill>
                <a:latin typeface="Calibri"/>
              </a:rPr>
              <a:t>Any CRM spoke can integrate by implementing one publish-event REST endpoint</a:t>
            </a:r>
          </a:p>
          <a:p>
            <a:pPr>
              <a:spcAft>
                <a:spcPts val="500"/>
              </a:spcAft>
            </a:pPr>
            <a:r>
              <a:rPr sz="1000" b="0" i="0">
                <a:solidFill>
                  <a:srgbClr val="5B2C83"/>
                </a:solidFill>
                <a:latin typeface="Calibri"/>
              </a:rPr>
              <a:t>■  </a:t>
            </a:r>
            <a:r>
              <a:rPr sz="1400" b="1" i="0">
                <a:solidFill>
                  <a:srgbClr val="1F1B2E"/>
                </a:solidFill>
                <a:latin typeface="Calibri"/>
              </a:rPr>
              <a:t>Exclusion rules: </a:t>
            </a:r>
            <a:r>
              <a:rPr sz="1400" b="0" i="0">
                <a:solidFill>
                  <a:srgbClr val="1F1B2E"/>
                </a:solidFill>
                <a:latin typeface="Calibri"/>
              </a:rPr>
              <a:t>send each system only what it needs</a:t>
            </a:r>
          </a:p>
        </p:txBody>
      </p:sp>
      <p:sp>
        <p:nvSpPr>
          <p:cNvPr id="23" name="Rounded Rectangle 22"/>
          <p:cNvSpPr/>
          <p:nvPr/>
        </p:nvSpPr>
        <p:spPr>
          <a:xfrm>
            <a:off x="6492240" y="3520440"/>
            <a:ext cx="5212080" cy="269748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500" b="1" i="0">
                <a:solidFill>
                  <a:srgbClr val="1F1B2E"/>
                </a:solidFill>
                <a:latin typeface="Calibri"/>
              </a:rPr>
              <a:t>Golden rule of the integration</a:t>
            </a:r>
          </a:p>
          <a:p>
            <a:pPr algn="l"/>
            <a:r>
              <a:rPr sz="1300" b="0" i="0">
                <a:solidFill>
                  <a:srgbClr val="1F1B2E"/>
                </a:solidFill>
                <a:latin typeface="Calibri"/>
              </a:rPr>
              <a:t>Anything published by Launch must not be edited ("enriched") in the CRM. The CRM may only add things Launch does not own.</a:t>
            </a:r>
          </a:p>
          <a:p>
            <a:pPr algn="l"/>
            <a:r>
              <a:rPr sz="1300" b="0" i="0">
                <a:solidFill>
                  <a:srgbClr val="1F1B2E"/>
                </a:solidFill>
                <a:latin typeface="Calibri"/>
              </a:rPr>
              <a:t/>
            </a:r>
          </a:p>
          <a:p>
            <a:pPr algn="l"/>
            <a:r>
              <a:rPr sz="1300" b="0" i="0">
                <a:solidFill>
                  <a:srgbClr val="1F1B2E"/>
                </a:solidFill>
                <a:latin typeface="Calibri"/>
              </a:rPr>
              <a:t>So the PLC stays the single source of truth, and the CRM, billing and network always show the same product.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06  TELECOM USE CASE</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Launching "Home Fiber 200" and retiring a legacy ADSL package</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Illustrative scenario for our team; names and numbers are examples, not real tariffs</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14</a:t>
            </a:r>
          </a:p>
        </p:txBody>
      </p:sp>
      <p:graphicFrame>
        <p:nvGraphicFramePr>
          <p:cNvPr id="8" name="Table 7"/>
          <p:cNvGraphicFramePr>
            <a:graphicFrameLocks noGrp="1"/>
          </p:cNvGraphicFramePr>
          <p:nvPr/>
        </p:nvGraphicFramePr>
        <p:xfrm>
          <a:off x="411480" y="1508760"/>
          <a:ext cx="11384280" cy="4572000"/>
        </p:xfrm>
        <a:graphic>
          <a:graphicData uri="http://schemas.openxmlformats.org/drawingml/2006/table">
            <a:tbl>
              <a:tblPr firstRow="1" bandRow="1">
                <a:tableStyleId>{5C22544A-7EE6-4342-B048-85BDC9FD1C3A}</a:tableStyleId>
              </a:tblPr>
              <a:tblGrid>
                <a:gridCol w="320040"/>
                <a:gridCol w="2286000"/>
                <a:gridCol w="1737360"/>
                <a:gridCol w="5349240"/>
                <a:gridCol w="1691640"/>
              </a:tblGrid>
              <a:tr h="457200">
                <a:tc>
                  <a:txBody>
                    <a:bodyPr wrap="square"/>
                    <a:lstStyle/>
                    <a:p>
                      <a:r>
                        <a:rPr sz="1100" b="1" i="0">
                          <a:solidFill>
                            <a:srgbClr val="FFFFFF"/>
                          </a:solidFill>
                          <a:latin typeface="Calibri"/>
                        </a:rPr>
                        <a:t>#</a:t>
                      </a:r>
                    </a:p>
                  </a:txBody>
                  <a:tcPr marL="54864" marR="54864" marT="27432" marB="27432" anchor="ctr">
                    <a:solidFill>
                      <a:srgbClr val="5B2C83"/>
                    </a:solidFill>
                  </a:tcPr>
                </a:tc>
                <a:tc>
                  <a:txBody>
                    <a:bodyPr wrap="square"/>
                    <a:lstStyle/>
                    <a:p>
                      <a:r>
                        <a:rPr sz="1100" b="1" i="0">
                          <a:solidFill>
                            <a:srgbClr val="FFFFFF"/>
                          </a:solidFill>
                          <a:latin typeface="Calibri"/>
                        </a:rPr>
                        <a:t>Step</a:t>
                      </a:r>
                    </a:p>
                  </a:txBody>
                  <a:tcPr marL="54864" marR="54864" marT="27432" marB="27432" anchor="ctr">
                    <a:solidFill>
                      <a:srgbClr val="5B2C83"/>
                    </a:solidFill>
                  </a:tcPr>
                </a:tc>
                <a:tc>
                  <a:txBody>
                    <a:bodyPr wrap="square"/>
                    <a:lstStyle/>
                    <a:p>
                      <a:r>
                        <a:rPr sz="1100" b="1" i="0">
                          <a:solidFill>
                            <a:srgbClr val="FFFFFF"/>
                          </a:solidFill>
                          <a:latin typeface="Calibri"/>
                        </a:rPr>
                        <a:t>Who</a:t>
                      </a:r>
                    </a:p>
                  </a:txBody>
                  <a:tcPr marL="54864" marR="54864" marT="27432" marB="27432" anchor="ctr">
                    <a:solidFill>
                      <a:srgbClr val="5B2C83"/>
                    </a:solidFill>
                  </a:tcPr>
                </a:tc>
                <a:tc>
                  <a:txBody>
                    <a:bodyPr wrap="square"/>
                    <a:lstStyle/>
                    <a:p>
                      <a:r>
                        <a:rPr sz="1100" b="1" i="0">
                          <a:solidFill>
                            <a:srgbClr val="FFFFFF"/>
                          </a:solidFill>
                          <a:latin typeface="Calibri"/>
                        </a:rPr>
                        <a:t>In the system</a:t>
                      </a:r>
                    </a:p>
                  </a:txBody>
                  <a:tcPr marL="54864" marR="54864" marT="27432" marB="27432" anchor="ctr">
                    <a:solidFill>
                      <a:srgbClr val="5B2C83"/>
                    </a:solidFill>
                  </a:tcPr>
                </a:tc>
                <a:tc>
                  <a:txBody>
                    <a:bodyPr wrap="square"/>
                    <a:lstStyle/>
                    <a:p>
                      <a:r>
                        <a:rPr sz="1100" b="1" i="0">
                          <a:solidFill>
                            <a:srgbClr val="FFFFFF"/>
                          </a:solidFill>
                          <a:latin typeface="Calibri"/>
                        </a:rPr>
                        <a:t>Status</a:t>
                      </a:r>
                    </a:p>
                  </a:txBody>
                  <a:tcPr marL="54864" marR="54864" marT="27432" marB="27432" anchor="ctr">
                    <a:solidFill>
                      <a:srgbClr val="5B2C83"/>
                    </a:solidFill>
                  </a:tcPr>
                </a:tc>
              </a:tr>
              <a:tr h="457200">
                <a:tc>
                  <a:txBody>
                    <a:bodyPr wrap="square"/>
                    <a:lstStyle/>
                    <a:p>
                      <a:r>
                        <a:rPr sz="1100" b="1" i="0">
                          <a:solidFill>
                            <a:srgbClr val="1F1B2E"/>
                          </a:solidFill>
                          <a:latin typeface="Calibri"/>
                        </a:rPr>
                        <a:t>1</a:t>
                      </a:r>
                    </a:p>
                  </a:txBody>
                  <a:tcPr marL="54864" marR="54864" marT="27432" marB="27432" anchor="ctr">
                    <a:solidFill>
                      <a:srgbClr val="F4F3F7"/>
                    </a:solidFill>
                  </a:tcPr>
                </a:tc>
                <a:tc>
                  <a:txBody>
                    <a:bodyPr wrap="square"/>
                    <a:lstStyle/>
                    <a:p>
                      <a:r>
                        <a:rPr sz="1100" b="0" i="0">
                          <a:solidFill>
                            <a:srgbClr val="1F1B2E"/>
                          </a:solidFill>
                          <a:latin typeface="Calibri"/>
                        </a:rPr>
                        <a:t>Idea: upsell ADSL customers to fiber</a:t>
                      </a:r>
                    </a:p>
                  </a:txBody>
                  <a:tcPr marL="54864" marR="54864" marT="27432" marB="27432" anchor="ctr">
                    <a:solidFill>
                      <a:srgbClr val="F4F3F7"/>
                    </a:solidFill>
                  </a:tcPr>
                </a:tc>
                <a:tc>
                  <a:txBody>
                    <a:bodyPr wrap="square"/>
                    <a:lstStyle/>
                    <a:p>
                      <a:r>
                        <a:rPr sz="1100" b="0" i="0">
                          <a:solidFill>
                            <a:srgbClr val="1F1B2E"/>
                          </a:solidFill>
                          <a:latin typeface="Calibri"/>
                        </a:rPr>
                        <a:t>Marketing</a:t>
                      </a:r>
                    </a:p>
                  </a:txBody>
                  <a:tcPr marL="54864" marR="54864" marT="27432" marB="27432" anchor="ctr">
                    <a:solidFill>
                      <a:srgbClr val="F4F3F7"/>
                    </a:solidFill>
                  </a:tcPr>
                </a:tc>
                <a:tc>
                  <a:txBody>
                    <a:bodyPr wrap="square"/>
                    <a:lstStyle/>
                    <a:p>
                      <a:r>
                        <a:rPr sz="1100" b="0" i="0">
                          <a:solidFill>
                            <a:srgbClr val="1F1B2E"/>
                          </a:solidFill>
                          <a:latin typeface="Calibri"/>
                        </a:rPr>
                        <a:t>Create initiative "Fiber Upsell Q1"; attach business case; add team and approvers</a:t>
                      </a:r>
                    </a:p>
                  </a:txBody>
                  <a:tcPr marL="54864" marR="54864" marT="27432" marB="27432" anchor="ctr">
                    <a:solidFill>
                      <a:srgbClr val="F4F3F7"/>
                    </a:solidFill>
                  </a:tcPr>
                </a:tc>
                <a:tc>
                  <a:txBody>
                    <a:bodyPr wrap="square"/>
                    <a:lstStyle/>
                    <a:p>
                      <a:r>
                        <a:rPr sz="1100" b="0" i="0">
                          <a:solidFill>
                            <a:srgbClr val="1F1B2E"/>
                          </a:solidFill>
                          <a:latin typeface="Calibri"/>
                        </a:rPr>
                        <a:t>In Design</a:t>
                      </a:r>
                    </a:p>
                  </a:txBody>
                  <a:tcPr marL="54864" marR="54864" marT="27432" marB="27432" anchor="ctr">
                    <a:solidFill>
                      <a:srgbClr val="F4F3F7"/>
                    </a:solidFill>
                  </a:tcPr>
                </a:tc>
              </a:tr>
              <a:tr h="457200">
                <a:tc>
                  <a:txBody>
                    <a:bodyPr wrap="square"/>
                    <a:lstStyle/>
                    <a:p>
                      <a:r>
                        <a:rPr sz="1100" b="1" i="0">
                          <a:solidFill>
                            <a:srgbClr val="1F1B2E"/>
                          </a:solidFill>
                          <a:latin typeface="Calibri"/>
                        </a:rPr>
                        <a:t>2</a:t>
                      </a:r>
                    </a:p>
                  </a:txBody>
                  <a:tcPr marL="54864" marR="54864" marT="27432" marB="27432" anchor="ctr">
                    <a:solidFill>
                      <a:srgbClr val="FFFFFF"/>
                    </a:solidFill>
                  </a:tcPr>
                </a:tc>
                <a:tc>
                  <a:txBody>
                    <a:bodyPr wrap="square"/>
                    <a:lstStyle/>
                    <a:p>
                      <a:r>
                        <a:rPr sz="1100" b="0" i="0">
                          <a:solidFill>
                            <a:srgbClr val="1F1B2E"/>
                          </a:solidFill>
                          <a:latin typeface="Calibri"/>
                        </a:rPr>
                        <a:t>Define product</a:t>
                      </a:r>
                    </a:p>
                  </a:txBody>
                  <a:tcPr marL="54864" marR="54864" marT="27432" marB="27432" anchor="ctr">
                    <a:solidFill>
                      <a:srgbClr val="FFFFFF"/>
                    </a:solidFill>
                  </a:tcPr>
                </a:tc>
                <a:tc>
                  <a:txBody>
                    <a:bodyPr wrap="square"/>
                    <a:lstStyle/>
                    <a:p>
                      <a:r>
                        <a:rPr sz="1100" b="0" i="0">
                          <a:solidFill>
                            <a:srgbClr val="1F1B2E"/>
                          </a:solidFill>
                          <a:latin typeface="Calibri"/>
                        </a:rPr>
                        <a:t>Product Specialist</a:t>
                      </a:r>
                    </a:p>
                  </a:txBody>
                  <a:tcPr marL="54864" marR="54864" marT="27432" marB="27432" anchor="ctr">
                    <a:solidFill>
                      <a:srgbClr val="FFFFFF"/>
                    </a:solidFill>
                  </a:tcPr>
                </a:tc>
                <a:tc>
                  <a:txBody>
                    <a:bodyPr wrap="square"/>
                    <a:lstStyle/>
                    <a:p>
                      <a:r>
                        <a:rPr sz="1100" b="0" i="0">
                          <a:solidFill>
                            <a:srgbClr val="1F1B2E"/>
                          </a:solidFill>
                          <a:latin typeface="Calibri"/>
                        </a:rPr>
                        <a:t>Product spec "FTTH Access 200M" linked to its service spec</a:t>
                      </a:r>
                    </a:p>
                  </a:txBody>
                  <a:tcPr marL="54864" marR="54864" marT="27432" marB="27432" anchor="ctr">
                    <a:solidFill>
                      <a:srgbClr val="FFFFFF"/>
                    </a:solidFill>
                  </a:tcPr>
                </a:tc>
                <a:tc>
                  <a:txBody>
                    <a:bodyPr wrap="square"/>
                    <a:lstStyle/>
                    <a:p>
                      <a:r>
                        <a:rPr sz="1100" b="0" i="0">
                          <a:solidFill>
                            <a:srgbClr val="1F1B2E"/>
                          </a:solidFill>
                          <a:latin typeface="Calibri"/>
                        </a:rPr>
                        <a:t>In Design</a:t>
                      </a:r>
                    </a:p>
                  </a:txBody>
                  <a:tcPr marL="54864" marR="54864" marT="27432" marB="27432" anchor="ctr">
                    <a:solidFill>
                      <a:srgbClr val="FFFFFF"/>
                    </a:solidFill>
                  </a:tcPr>
                </a:tc>
              </a:tr>
              <a:tr h="457200">
                <a:tc>
                  <a:txBody>
                    <a:bodyPr wrap="square"/>
                    <a:lstStyle/>
                    <a:p>
                      <a:r>
                        <a:rPr sz="1100" b="1" i="0">
                          <a:solidFill>
                            <a:srgbClr val="1F1B2E"/>
                          </a:solidFill>
                          <a:latin typeface="Calibri"/>
                        </a:rPr>
                        <a:t>3</a:t>
                      </a:r>
                    </a:p>
                  </a:txBody>
                  <a:tcPr marL="54864" marR="54864" marT="27432" marB="27432" anchor="ctr">
                    <a:solidFill>
                      <a:srgbClr val="F4F3F7"/>
                    </a:solidFill>
                  </a:tcPr>
                </a:tc>
                <a:tc>
                  <a:txBody>
                    <a:bodyPr wrap="square"/>
                    <a:lstStyle/>
                    <a:p>
                      <a:r>
                        <a:rPr sz="1100" b="0" i="0">
                          <a:solidFill>
                            <a:srgbClr val="1F1B2E"/>
                          </a:solidFill>
                          <a:latin typeface="Calibri"/>
                        </a:rPr>
                        <a:t>Define offer</a:t>
                      </a:r>
                    </a:p>
                  </a:txBody>
                  <a:tcPr marL="54864" marR="54864" marT="27432" marB="27432" anchor="ctr">
                    <a:solidFill>
                      <a:srgbClr val="F4F3F7"/>
                    </a:solidFill>
                  </a:tcPr>
                </a:tc>
                <a:tc>
                  <a:txBody>
                    <a:bodyPr wrap="square"/>
                    <a:lstStyle/>
                    <a:p>
                      <a:r>
                        <a:rPr sz="1100" b="0" i="0">
                          <a:solidFill>
                            <a:srgbClr val="1F1B2E"/>
                          </a:solidFill>
                          <a:latin typeface="Calibri"/>
                        </a:rPr>
                        <a:t>Product Manager</a:t>
                      </a:r>
                    </a:p>
                  </a:txBody>
                  <a:tcPr marL="54864" marR="54864" marT="27432" marB="27432" anchor="ctr">
                    <a:solidFill>
                      <a:srgbClr val="F4F3F7"/>
                    </a:solidFill>
                  </a:tcPr>
                </a:tc>
                <a:tc>
                  <a:txBody>
                    <a:bodyPr wrap="square"/>
                    <a:lstStyle/>
                    <a:p>
                      <a:r>
                        <a:rPr sz="1100" b="0" i="0">
                          <a:solidFill>
                            <a:srgbClr val="1F1B2E"/>
                          </a:solidFill>
                          <a:latin typeface="Calibri"/>
                        </a:rPr>
                        <a:t>Simple offers (internet, landline, router) packaged in "Home Fiber 200" with a 12-month term; channels: shops, call center, app; FTTH-covered areas only</a:t>
                      </a:r>
                    </a:p>
                  </a:txBody>
                  <a:tcPr marL="54864" marR="54864" marT="27432" marB="27432" anchor="ctr">
                    <a:solidFill>
                      <a:srgbClr val="F4F3F7"/>
                    </a:solidFill>
                  </a:tcPr>
                </a:tc>
                <a:tc>
                  <a:txBody>
                    <a:bodyPr wrap="square"/>
                    <a:lstStyle/>
                    <a:p>
                      <a:r>
                        <a:rPr sz="1100" b="0" i="0">
                          <a:solidFill>
                            <a:srgbClr val="1F1B2E"/>
                          </a:solidFill>
                          <a:latin typeface="Calibri"/>
                        </a:rPr>
                        <a:t>In Design</a:t>
                      </a:r>
                    </a:p>
                  </a:txBody>
                  <a:tcPr marL="54864" marR="54864" marT="27432" marB="27432" anchor="ctr">
                    <a:solidFill>
                      <a:srgbClr val="F4F3F7"/>
                    </a:solidFill>
                  </a:tcPr>
                </a:tc>
              </a:tr>
              <a:tr h="457200">
                <a:tc>
                  <a:txBody>
                    <a:bodyPr wrap="square"/>
                    <a:lstStyle/>
                    <a:p>
                      <a:r>
                        <a:rPr sz="1100" b="1" i="0">
                          <a:solidFill>
                            <a:srgbClr val="1F1B2E"/>
                          </a:solidFill>
                          <a:latin typeface="Calibri"/>
                        </a:rPr>
                        <a:t>4</a:t>
                      </a:r>
                    </a:p>
                  </a:txBody>
                  <a:tcPr marL="54864" marR="54864" marT="27432" marB="27432" anchor="ctr">
                    <a:solidFill>
                      <a:srgbClr val="FFFFFF"/>
                    </a:solidFill>
                  </a:tcPr>
                </a:tc>
                <a:tc>
                  <a:txBody>
                    <a:bodyPr wrap="square"/>
                    <a:lstStyle/>
                    <a:p>
                      <a:r>
                        <a:rPr sz="1100" b="0" i="0">
                          <a:solidFill>
                            <a:srgbClr val="1F1B2E"/>
                          </a:solidFill>
                          <a:latin typeface="Calibri"/>
                        </a:rPr>
                        <a:t>Price</a:t>
                      </a:r>
                    </a:p>
                  </a:txBody>
                  <a:tcPr marL="54864" marR="54864" marT="27432" marB="27432" anchor="ctr">
                    <a:solidFill>
                      <a:srgbClr val="FFFFFF"/>
                    </a:solidFill>
                  </a:tcPr>
                </a:tc>
                <a:tc>
                  <a:txBody>
                    <a:bodyPr wrap="square"/>
                    <a:lstStyle/>
                    <a:p>
                      <a:r>
                        <a:rPr sz="1100" b="0" i="0">
                          <a:solidFill>
                            <a:srgbClr val="1F1B2E"/>
                          </a:solidFill>
                          <a:latin typeface="Calibri"/>
                        </a:rPr>
                        <a:t>Product Mgr + Finance</a:t>
                      </a:r>
                    </a:p>
                  </a:txBody>
                  <a:tcPr marL="54864" marR="54864" marT="27432" marB="27432" anchor="ctr">
                    <a:solidFill>
                      <a:srgbClr val="FFFFFF"/>
                    </a:solidFill>
                  </a:tcPr>
                </a:tc>
                <a:tc>
                  <a:txBody>
                    <a:bodyPr wrap="square"/>
                    <a:lstStyle/>
                    <a:p>
                      <a:r>
                        <a:rPr sz="1100" b="0" i="0">
                          <a:solidFill>
                            <a:srgbClr val="1F1B2E"/>
                          </a:solidFill>
                          <a:latin typeface="Calibri"/>
                        </a:rPr>
                        <a:t>Monthly fee, installation fee, 3-month launch discount; residential price list</a:t>
                      </a:r>
                    </a:p>
                  </a:txBody>
                  <a:tcPr marL="54864" marR="54864" marT="27432" marB="27432" anchor="ctr">
                    <a:solidFill>
                      <a:srgbClr val="FFFFFF"/>
                    </a:solidFill>
                  </a:tcPr>
                </a:tc>
                <a:tc>
                  <a:txBody>
                    <a:bodyPr wrap="square"/>
                    <a:lstStyle/>
                    <a:p>
                      <a:r>
                        <a:rPr sz="1100" b="0" i="0">
                          <a:solidFill>
                            <a:srgbClr val="1F1B2E"/>
                          </a:solidFill>
                          <a:latin typeface="Calibri"/>
                        </a:rPr>
                        <a:t>In Design</a:t>
                      </a:r>
                    </a:p>
                  </a:txBody>
                  <a:tcPr marL="54864" marR="54864" marT="27432" marB="27432" anchor="ctr">
                    <a:solidFill>
                      <a:srgbClr val="FFFFFF"/>
                    </a:solidFill>
                  </a:tcPr>
                </a:tc>
              </a:tr>
              <a:tr h="457200">
                <a:tc>
                  <a:txBody>
                    <a:bodyPr wrap="square"/>
                    <a:lstStyle/>
                    <a:p>
                      <a:r>
                        <a:rPr sz="1100" b="1" i="0">
                          <a:solidFill>
                            <a:srgbClr val="1F1B2E"/>
                          </a:solidFill>
                          <a:latin typeface="Calibri"/>
                        </a:rPr>
                        <a:t>5</a:t>
                      </a:r>
                    </a:p>
                  </a:txBody>
                  <a:tcPr marL="54864" marR="54864" marT="27432" marB="27432" anchor="ctr">
                    <a:solidFill>
                      <a:srgbClr val="F4F3F7"/>
                    </a:solidFill>
                  </a:tcPr>
                </a:tc>
                <a:tc>
                  <a:txBody>
                    <a:bodyPr wrap="square"/>
                    <a:lstStyle/>
                    <a:p>
                      <a:r>
                        <a:rPr sz="1100" b="0" i="0">
                          <a:solidFill>
                            <a:srgbClr val="1F1B2E"/>
                          </a:solidFill>
                          <a:latin typeface="Calibri"/>
                        </a:rPr>
                        <a:t>Rules</a:t>
                      </a:r>
                    </a:p>
                  </a:txBody>
                  <a:tcPr marL="54864" marR="54864" marT="27432" marB="27432" anchor="ctr">
                    <a:solidFill>
                      <a:srgbClr val="F4F3F7"/>
                    </a:solidFill>
                  </a:tcPr>
                </a:tc>
                <a:tc>
                  <a:txBody>
                    <a:bodyPr wrap="square"/>
                    <a:lstStyle/>
                    <a:p>
                      <a:r>
                        <a:rPr sz="1100" b="0" i="0">
                          <a:solidFill>
                            <a:srgbClr val="1F1B2E"/>
                          </a:solidFill>
                          <a:latin typeface="Calibri"/>
                        </a:rPr>
                        <a:t>Product Manager</a:t>
                      </a:r>
                    </a:p>
                  </a:txBody>
                  <a:tcPr marL="54864" marR="54864" marT="27432" marB="27432" anchor="ctr">
                    <a:solidFill>
                      <a:srgbClr val="F4F3F7"/>
                    </a:solidFill>
                  </a:tcPr>
                </a:tc>
                <a:tc>
                  <a:txBody>
                    <a:bodyPr wrap="square"/>
                    <a:lstStyle/>
                    <a:p>
                      <a:r>
                        <a:rPr sz="1100" b="0" i="0">
                          <a:solidFill>
                            <a:srgbClr val="1F1B2E"/>
                          </a:solidFill>
                          <a:latin typeface="Calibri"/>
                        </a:rPr>
                        <a:t>Requires router; excludes ADSL on same line; migration rule: Upgrade From "ADSL 30"</a:t>
                      </a:r>
                    </a:p>
                  </a:txBody>
                  <a:tcPr marL="54864" marR="54864" marT="27432" marB="27432" anchor="ctr">
                    <a:solidFill>
                      <a:srgbClr val="F4F3F7"/>
                    </a:solidFill>
                  </a:tcPr>
                </a:tc>
                <a:tc>
                  <a:txBody>
                    <a:bodyPr wrap="square"/>
                    <a:lstStyle/>
                    <a:p>
                      <a:r>
                        <a:rPr sz="1100" b="0" i="0">
                          <a:solidFill>
                            <a:srgbClr val="1F1B2E"/>
                          </a:solidFill>
                          <a:latin typeface="Calibri"/>
                        </a:rPr>
                        <a:t>In Design</a:t>
                      </a:r>
                    </a:p>
                  </a:txBody>
                  <a:tcPr marL="54864" marR="54864" marT="27432" marB="27432" anchor="ctr">
                    <a:solidFill>
                      <a:srgbClr val="F4F3F7"/>
                    </a:solidFill>
                  </a:tcPr>
                </a:tc>
              </a:tr>
              <a:tr h="457200">
                <a:tc>
                  <a:txBody>
                    <a:bodyPr wrap="square"/>
                    <a:lstStyle/>
                    <a:p>
                      <a:r>
                        <a:rPr sz="1100" b="1" i="0">
                          <a:solidFill>
                            <a:srgbClr val="1F1B2E"/>
                          </a:solidFill>
                          <a:latin typeface="Calibri"/>
                        </a:rPr>
                        <a:t>6</a:t>
                      </a:r>
                    </a:p>
                  </a:txBody>
                  <a:tcPr marL="54864" marR="54864" marT="27432" marB="27432" anchor="ctr">
                    <a:solidFill>
                      <a:srgbClr val="FFFFFF"/>
                    </a:solidFill>
                  </a:tcPr>
                </a:tc>
                <a:tc>
                  <a:txBody>
                    <a:bodyPr wrap="square"/>
                    <a:lstStyle/>
                    <a:p>
                      <a:r>
                        <a:rPr sz="1100" b="0" i="0">
                          <a:solidFill>
                            <a:srgbClr val="1F1B2E"/>
                          </a:solidFill>
                          <a:latin typeface="Calibri"/>
                        </a:rPr>
                        <a:t>Approve</a:t>
                      </a:r>
                    </a:p>
                  </a:txBody>
                  <a:tcPr marL="54864" marR="54864" marT="27432" marB="27432" anchor="ctr">
                    <a:solidFill>
                      <a:srgbClr val="FFFFFF"/>
                    </a:solidFill>
                  </a:tcPr>
                </a:tc>
                <a:tc>
                  <a:txBody>
                    <a:bodyPr wrap="square"/>
                    <a:lstStyle/>
                    <a:p>
                      <a:r>
                        <a:rPr sz="1100" b="0" i="0">
                          <a:solidFill>
                            <a:srgbClr val="1F1B2E"/>
                          </a:solidFill>
                          <a:latin typeface="Calibri"/>
                        </a:rPr>
                        <a:t>Marketing, Finance, Legal</a:t>
                      </a:r>
                    </a:p>
                  </a:txBody>
                  <a:tcPr marL="54864" marR="54864" marT="27432" marB="27432" anchor="ctr">
                    <a:solidFill>
                      <a:srgbClr val="FFFFFF"/>
                    </a:solidFill>
                  </a:tcPr>
                </a:tc>
                <a:tc>
                  <a:txBody>
                    <a:bodyPr wrap="square"/>
                    <a:lstStyle/>
                    <a:p>
                      <a:r>
                        <a:rPr sz="1100" b="0" i="0">
                          <a:solidFill>
                            <a:srgbClr val="1F1B2E"/>
                          </a:solidFill>
                          <a:latin typeface="Calibri"/>
                        </a:rPr>
                        <a:t>Parallel approval, 100% vote required</a:t>
                      </a:r>
                    </a:p>
                  </a:txBody>
                  <a:tcPr marL="54864" marR="54864" marT="27432" marB="27432" anchor="ctr">
                    <a:solidFill>
                      <a:srgbClr val="FFFFFF"/>
                    </a:solidFill>
                  </a:tcPr>
                </a:tc>
                <a:tc>
                  <a:txBody>
                    <a:bodyPr wrap="square"/>
                    <a:lstStyle/>
                    <a:p>
                      <a:r>
                        <a:rPr sz="1100" b="0" i="0">
                          <a:solidFill>
                            <a:srgbClr val="1F1B2E"/>
                          </a:solidFill>
                          <a:latin typeface="Calibri"/>
                        </a:rPr>
                        <a:t>Approvals Pending</a:t>
                      </a:r>
                    </a:p>
                  </a:txBody>
                  <a:tcPr marL="54864" marR="54864" marT="27432" marB="27432" anchor="ctr">
                    <a:solidFill>
                      <a:srgbClr val="FFFFFF"/>
                    </a:solidFill>
                  </a:tcPr>
                </a:tc>
              </a:tr>
              <a:tr h="457200">
                <a:tc>
                  <a:txBody>
                    <a:bodyPr wrap="square"/>
                    <a:lstStyle/>
                    <a:p>
                      <a:r>
                        <a:rPr sz="1100" b="1" i="0">
                          <a:solidFill>
                            <a:srgbClr val="1F1B2E"/>
                          </a:solidFill>
                          <a:latin typeface="Calibri"/>
                        </a:rPr>
                        <a:t>7</a:t>
                      </a:r>
                    </a:p>
                  </a:txBody>
                  <a:tcPr marL="54864" marR="54864" marT="27432" marB="27432" anchor="ctr">
                    <a:solidFill>
                      <a:srgbClr val="F4F3F7"/>
                    </a:solidFill>
                  </a:tcPr>
                </a:tc>
                <a:tc>
                  <a:txBody>
                    <a:bodyPr wrap="square"/>
                    <a:lstStyle/>
                    <a:p>
                      <a:r>
                        <a:rPr sz="1100" b="0" i="0">
                          <a:solidFill>
                            <a:srgbClr val="1F1B2E"/>
                          </a:solidFill>
                          <a:latin typeface="Calibri"/>
                        </a:rPr>
                        <a:t>Test</a:t>
                      </a:r>
                    </a:p>
                  </a:txBody>
                  <a:tcPr marL="54864" marR="54864" marT="27432" marB="27432" anchor="ctr">
                    <a:solidFill>
                      <a:srgbClr val="F4F3F7"/>
                    </a:solidFill>
                  </a:tcPr>
                </a:tc>
                <a:tc>
                  <a:txBody>
                    <a:bodyPr wrap="square"/>
                    <a:lstStyle/>
                    <a:p>
                      <a:r>
                        <a:rPr sz="1100" b="0" i="0">
                          <a:solidFill>
                            <a:srgbClr val="1F1B2E"/>
                          </a:solidFill>
                          <a:latin typeface="Calibri"/>
                        </a:rPr>
                        <a:t>QA / IT</a:t>
                      </a:r>
                    </a:p>
                  </a:txBody>
                  <a:tcPr marL="54864" marR="54864" marT="27432" marB="27432" anchor="ctr">
                    <a:solidFill>
                      <a:srgbClr val="F4F3F7"/>
                    </a:solidFill>
                  </a:tcPr>
                </a:tc>
                <a:tc>
                  <a:txBody>
                    <a:bodyPr wrap="square"/>
                    <a:lstStyle/>
                    <a:p>
                      <a:r>
                        <a:rPr sz="1100" b="0" i="0">
                          <a:solidFill>
                            <a:srgbClr val="1F1B2E"/>
                          </a:solidFill>
                          <a:latin typeface="Calibri"/>
                        </a:rPr>
                        <a:t>Publish to test CRM, billing, provisioning; end-to-end order test</a:t>
                      </a:r>
                    </a:p>
                  </a:txBody>
                  <a:tcPr marL="54864" marR="54864" marT="27432" marB="27432" anchor="ctr">
                    <a:solidFill>
                      <a:srgbClr val="F4F3F7"/>
                    </a:solidFill>
                  </a:tcPr>
                </a:tc>
                <a:tc>
                  <a:txBody>
                    <a:bodyPr wrap="square"/>
                    <a:lstStyle/>
                    <a:p>
                      <a:r>
                        <a:rPr sz="1100" b="0" i="0">
                          <a:solidFill>
                            <a:srgbClr val="1F1B2E"/>
                          </a:solidFill>
                          <a:latin typeface="Calibri"/>
                        </a:rPr>
                        <a:t>In Test → Active</a:t>
                      </a:r>
                    </a:p>
                  </a:txBody>
                  <a:tcPr marL="54864" marR="54864" marT="27432" marB="27432" anchor="ctr">
                    <a:solidFill>
                      <a:srgbClr val="F4F3F7"/>
                    </a:solidFill>
                  </a:tcPr>
                </a:tc>
              </a:tr>
              <a:tr h="457200">
                <a:tc>
                  <a:txBody>
                    <a:bodyPr wrap="square"/>
                    <a:lstStyle/>
                    <a:p>
                      <a:r>
                        <a:rPr sz="1100" b="1" i="0">
                          <a:solidFill>
                            <a:srgbClr val="1F1B2E"/>
                          </a:solidFill>
                          <a:latin typeface="Calibri"/>
                        </a:rPr>
                        <a:t>8</a:t>
                      </a:r>
                    </a:p>
                  </a:txBody>
                  <a:tcPr marL="54864" marR="54864" marT="27432" marB="27432" anchor="ctr">
                    <a:solidFill>
                      <a:srgbClr val="FFFFFF"/>
                    </a:solidFill>
                  </a:tcPr>
                </a:tc>
                <a:tc>
                  <a:txBody>
                    <a:bodyPr wrap="square"/>
                    <a:lstStyle/>
                    <a:p>
                      <a:r>
                        <a:rPr sz="1100" b="0" i="0">
                          <a:solidFill>
                            <a:srgbClr val="1F1B2E"/>
                          </a:solidFill>
                          <a:latin typeface="Calibri"/>
                        </a:rPr>
                        <a:t>Launch</a:t>
                      </a:r>
                    </a:p>
                  </a:txBody>
                  <a:tcPr marL="54864" marR="54864" marT="27432" marB="27432" anchor="ctr">
                    <a:solidFill>
                      <a:srgbClr val="FFFFFF"/>
                    </a:solidFill>
                  </a:tcPr>
                </a:tc>
                <a:tc>
                  <a:txBody>
                    <a:bodyPr wrap="square"/>
                    <a:lstStyle/>
                    <a:p>
                      <a:r>
                        <a:rPr sz="1100" b="0" i="0">
                          <a:solidFill>
                            <a:srgbClr val="1F1B2E"/>
                          </a:solidFill>
                          <a:latin typeface="Calibri"/>
                        </a:rPr>
                        <a:t>Catalog Admin</a:t>
                      </a:r>
                    </a:p>
                  </a:txBody>
                  <a:tcPr marL="54864" marR="54864" marT="27432" marB="27432" anchor="ctr">
                    <a:solidFill>
                      <a:srgbClr val="FFFFFF"/>
                    </a:solidFill>
                  </a:tcPr>
                </a:tc>
                <a:tc>
                  <a:txBody>
                    <a:bodyPr wrap="square"/>
                    <a:lstStyle/>
                    <a:p>
                      <a:r>
                        <a:rPr sz="1100" b="0" i="0">
                          <a:solidFill>
                            <a:srgbClr val="1F1B2E"/>
                          </a:solidFill>
                          <a:latin typeface="Calibri"/>
                        </a:rPr>
                        <a:t>Publish to production; agents and app can sell it</a:t>
                      </a:r>
                    </a:p>
                  </a:txBody>
                  <a:tcPr marL="54864" marR="54864" marT="27432" marB="27432" anchor="ctr">
                    <a:solidFill>
                      <a:srgbClr val="FFFFFF"/>
                    </a:solidFill>
                  </a:tcPr>
                </a:tc>
                <a:tc>
                  <a:txBody>
                    <a:bodyPr wrap="square"/>
                    <a:lstStyle/>
                    <a:p>
                      <a:r>
                        <a:rPr sz="1100" b="0" i="0">
                          <a:solidFill>
                            <a:srgbClr val="1F1B2E"/>
                          </a:solidFill>
                          <a:latin typeface="Calibri"/>
                        </a:rPr>
                        <a:t>Launched</a:t>
                      </a:r>
                    </a:p>
                  </a:txBody>
                  <a:tcPr marL="54864" marR="54864" marT="27432" marB="27432" anchor="ctr">
                    <a:solidFill>
                      <a:srgbClr val="FFFFFF"/>
                    </a:solidFill>
                  </a:tcPr>
                </a:tc>
              </a:tr>
              <a:tr h="457200">
                <a:tc>
                  <a:txBody>
                    <a:bodyPr wrap="square"/>
                    <a:lstStyle/>
                    <a:p>
                      <a:r>
                        <a:rPr sz="1100" b="1" i="0">
                          <a:solidFill>
                            <a:srgbClr val="1F1B2E"/>
                          </a:solidFill>
                          <a:latin typeface="Calibri"/>
                        </a:rPr>
                        <a:t>9</a:t>
                      </a:r>
                    </a:p>
                  </a:txBody>
                  <a:tcPr marL="54864" marR="54864" marT="27432" marB="27432" anchor="ctr">
                    <a:solidFill>
                      <a:srgbClr val="F4F3F7"/>
                    </a:solidFill>
                  </a:tcPr>
                </a:tc>
                <a:tc>
                  <a:txBody>
                    <a:bodyPr wrap="square"/>
                    <a:lstStyle/>
                    <a:p>
                      <a:r>
                        <a:rPr sz="1100" b="0" i="0">
                          <a:solidFill>
                            <a:srgbClr val="1F1B2E"/>
                          </a:solidFill>
                          <a:latin typeface="Calibri"/>
                        </a:rPr>
                        <a:t>Retire ADSL 30 and migrate</a:t>
                      </a:r>
                    </a:p>
                  </a:txBody>
                  <a:tcPr marL="54864" marR="54864" marT="27432" marB="27432" anchor="ctr">
                    <a:solidFill>
                      <a:srgbClr val="F4F3F7"/>
                    </a:solidFill>
                  </a:tcPr>
                </a:tc>
                <a:tc>
                  <a:txBody>
                    <a:bodyPr wrap="square"/>
                    <a:lstStyle/>
                    <a:p>
                      <a:r>
                        <a:rPr sz="1100" b="0" i="0">
                          <a:solidFill>
                            <a:srgbClr val="1F1B2E"/>
                          </a:solidFill>
                          <a:latin typeface="Calibri"/>
                        </a:rPr>
                        <a:t>PM + CRM team</a:t>
                      </a:r>
                    </a:p>
                  </a:txBody>
                  <a:tcPr marL="54864" marR="54864" marT="27432" marB="27432" anchor="ctr">
                    <a:solidFill>
                      <a:srgbClr val="F4F3F7"/>
                    </a:solidFill>
                  </a:tcPr>
                </a:tc>
                <a:tc>
                  <a:txBody>
                    <a:bodyPr wrap="square"/>
                    <a:lstStyle/>
                    <a:p>
                      <a:r>
                        <a:rPr sz="1100" b="0" i="0">
                          <a:solidFill>
                            <a:srgbClr val="1F1B2E"/>
                          </a:solidFill>
                          <a:latin typeface="Calibri"/>
                        </a:rPr>
                        <a:t>Retire old package (no new sales); CRM offers the upgrade path to its customers</a:t>
                      </a:r>
                    </a:p>
                  </a:txBody>
                  <a:tcPr marL="54864" marR="54864" marT="27432" marB="27432" anchor="ctr">
                    <a:solidFill>
                      <a:srgbClr val="F4F3F7"/>
                    </a:solidFill>
                  </a:tcPr>
                </a:tc>
                <a:tc>
                  <a:txBody>
                    <a:bodyPr wrap="square"/>
                    <a:lstStyle/>
                    <a:p>
                      <a:r>
                        <a:rPr sz="1100" b="0" i="0">
                          <a:solidFill>
                            <a:srgbClr val="1F1B2E"/>
                          </a:solidFill>
                          <a:latin typeface="Calibri"/>
                        </a:rPr>
                        <a:t>Retired</a:t>
                      </a:r>
                    </a:p>
                  </a:txBody>
                  <a:tcPr marL="54864" marR="54864" marT="27432" marB="27432" anchor="ctr">
                    <a:solidFill>
                      <a:srgbClr val="F4F3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07  CONCLUSION</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If we build our own PLC: the modules we need</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Answer to the key question, based on what Oracle Launch does well and where it stops</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15</a:t>
            </a:r>
          </a:p>
        </p:txBody>
      </p:sp>
      <p:sp>
        <p:nvSpPr>
          <p:cNvPr id="8" name="Rounded Rectangle 7"/>
          <p:cNvSpPr/>
          <p:nvPr/>
        </p:nvSpPr>
        <p:spPr>
          <a:xfrm>
            <a:off x="548640" y="1600200"/>
            <a:ext cx="676656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Phase 1: must-have (MVP)</a:t>
            </a:r>
          </a:p>
        </p:txBody>
      </p:sp>
      <p:sp>
        <p:nvSpPr>
          <p:cNvPr id="9" name="Oval 8"/>
          <p:cNvSpPr/>
          <p:nvPr/>
        </p:nvSpPr>
        <p:spPr>
          <a:xfrm>
            <a:off x="548640" y="2148840"/>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1</a:t>
            </a:r>
          </a:p>
        </p:txBody>
      </p:sp>
      <p:sp>
        <p:nvSpPr>
          <p:cNvPr id="10" name="TextBox 9"/>
          <p:cNvSpPr txBox="1"/>
          <p:nvPr/>
        </p:nvSpPr>
        <p:spPr>
          <a:xfrm>
            <a:off x="1024128" y="2167128"/>
            <a:ext cx="2514600" cy="411480"/>
          </a:xfrm>
          <a:prstGeom prst="rect">
            <a:avLst/>
          </a:prstGeom>
          <a:noFill/>
        </p:spPr>
        <p:txBody>
          <a:bodyPr wrap="square" anchor="t" lIns="45720" rIns="45720">
            <a:spAutoFit/>
          </a:bodyPr>
          <a:lstStyle/>
          <a:p>
            <a:pPr algn="l"/>
            <a:r>
              <a:rPr sz="1400" b="1" i="0">
                <a:solidFill>
                  <a:srgbClr val="1F1B2E"/>
                </a:solidFill>
                <a:latin typeface="Calibri"/>
              </a:rPr>
              <a:t>Idea &amp; Business Case</a:t>
            </a:r>
          </a:p>
        </p:txBody>
      </p:sp>
      <p:sp>
        <p:nvSpPr>
          <p:cNvPr id="11" name="TextBox 10"/>
          <p:cNvSpPr txBox="1"/>
          <p:nvPr/>
        </p:nvSpPr>
        <p:spPr>
          <a:xfrm>
            <a:off x="3520440" y="2185416"/>
            <a:ext cx="3840480" cy="411480"/>
          </a:xfrm>
          <a:prstGeom prst="rect">
            <a:avLst/>
          </a:prstGeom>
          <a:noFill/>
        </p:spPr>
        <p:txBody>
          <a:bodyPr wrap="square" anchor="t" lIns="45720" rIns="45720">
            <a:spAutoFit/>
          </a:bodyPr>
          <a:lstStyle/>
          <a:p>
            <a:pPr algn="l"/>
            <a:r>
              <a:rPr sz="1300" b="0" i="0">
                <a:solidFill>
                  <a:srgbClr val="5F5A6B"/>
                </a:solidFill>
                <a:latin typeface="Calibri"/>
              </a:rPr>
              <a:t>backlog, scoring, go / no-go (gap in Oracle)</a:t>
            </a:r>
          </a:p>
        </p:txBody>
      </p:sp>
      <p:sp>
        <p:nvSpPr>
          <p:cNvPr id="12" name="Oval 11"/>
          <p:cNvSpPr/>
          <p:nvPr/>
        </p:nvSpPr>
        <p:spPr>
          <a:xfrm>
            <a:off x="548640" y="2656332"/>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2</a:t>
            </a:r>
          </a:p>
        </p:txBody>
      </p:sp>
      <p:sp>
        <p:nvSpPr>
          <p:cNvPr id="13" name="TextBox 12"/>
          <p:cNvSpPr txBox="1"/>
          <p:nvPr/>
        </p:nvSpPr>
        <p:spPr>
          <a:xfrm>
            <a:off x="1024128" y="2674620"/>
            <a:ext cx="2514600" cy="411480"/>
          </a:xfrm>
          <a:prstGeom prst="rect">
            <a:avLst/>
          </a:prstGeom>
          <a:noFill/>
        </p:spPr>
        <p:txBody>
          <a:bodyPr wrap="square" anchor="t" lIns="45720" rIns="45720">
            <a:spAutoFit/>
          </a:bodyPr>
          <a:lstStyle/>
          <a:p>
            <a:pPr algn="l"/>
            <a:r>
              <a:rPr sz="1400" b="1" i="0">
                <a:solidFill>
                  <a:srgbClr val="1F1B2E"/>
                </a:solidFill>
                <a:latin typeface="Calibri"/>
              </a:rPr>
              <a:t>Product &amp; Offer Catalog</a:t>
            </a:r>
          </a:p>
        </p:txBody>
      </p:sp>
      <p:sp>
        <p:nvSpPr>
          <p:cNvPr id="14" name="TextBox 13"/>
          <p:cNvSpPr txBox="1"/>
          <p:nvPr/>
        </p:nvSpPr>
        <p:spPr>
          <a:xfrm>
            <a:off x="3520440" y="2692908"/>
            <a:ext cx="3840480" cy="411480"/>
          </a:xfrm>
          <a:prstGeom prst="rect">
            <a:avLst/>
          </a:prstGeom>
          <a:noFill/>
        </p:spPr>
        <p:txBody>
          <a:bodyPr wrap="square" anchor="t" lIns="45720" rIns="45720">
            <a:spAutoFit/>
          </a:bodyPr>
          <a:lstStyle/>
          <a:p>
            <a:pPr algn="l"/>
            <a:r>
              <a:rPr sz="1300" b="0" i="0">
                <a:solidFill>
                  <a:srgbClr val="5F5A6B"/>
                </a:solidFill>
                <a:latin typeface="Calibri"/>
              </a:rPr>
              <a:t>commercial offer separate from technical spec</a:t>
            </a:r>
          </a:p>
        </p:txBody>
      </p:sp>
      <p:sp>
        <p:nvSpPr>
          <p:cNvPr id="15" name="Oval 14"/>
          <p:cNvSpPr/>
          <p:nvPr/>
        </p:nvSpPr>
        <p:spPr>
          <a:xfrm>
            <a:off x="548640" y="3163824"/>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3</a:t>
            </a:r>
          </a:p>
        </p:txBody>
      </p:sp>
      <p:sp>
        <p:nvSpPr>
          <p:cNvPr id="16" name="TextBox 15"/>
          <p:cNvSpPr txBox="1"/>
          <p:nvPr/>
        </p:nvSpPr>
        <p:spPr>
          <a:xfrm>
            <a:off x="1024128" y="3182112"/>
            <a:ext cx="2514600" cy="411480"/>
          </a:xfrm>
          <a:prstGeom prst="rect">
            <a:avLst/>
          </a:prstGeom>
          <a:noFill/>
        </p:spPr>
        <p:txBody>
          <a:bodyPr wrap="square" anchor="t" lIns="45720" rIns="45720">
            <a:spAutoFit/>
          </a:bodyPr>
          <a:lstStyle/>
          <a:p>
            <a:pPr algn="l"/>
            <a:r>
              <a:rPr sz="1400" b="1" i="0">
                <a:solidFill>
                  <a:srgbClr val="1F1B2E"/>
                </a:solidFill>
                <a:latin typeface="Calibri"/>
              </a:rPr>
              <a:t>Pricing &amp; Price Lists</a:t>
            </a:r>
          </a:p>
        </p:txBody>
      </p:sp>
      <p:sp>
        <p:nvSpPr>
          <p:cNvPr id="17" name="TextBox 16"/>
          <p:cNvSpPr txBox="1"/>
          <p:nvPr/>
        </p:nvSpPr>
        <p:spPr>
          <a:xfrm>
            <a:off x="3520440" y="3200400"/>
            <a:ext cx="3840480" cy="411480"/>
          </a:xfrm>
          <a:prstGeom prst="rect">
            <a:avLst/>
          </a:prstGeom>
          <a:noFill/>
        </p:spPr>
        <p:txBody>
          <a:bodyPr wrap="square" anchor="t" lIns="45720" rIns="45720">
            <a:spAutoFit/>
          </a:bodyPr>
          <a:lstStyle/>
          <a:p>
            <a:pPr algn="l"/>
            <a:r>
              <a:rPr sz="1300" b="0" i="0">
                <a:solidFill>
                  <a:srgbClr val="5F5A6B"/>
                </a:solidFill>
                <a:latin typeface="Calibri"/>
              </a:rPr>
              <a:t>fees, discounts, segments, approvals on change</a:t>
            </a:r>
          </a:p>
        </p:txBody>
      </p:sp>
      <p:sp>
        <p:nvSpPr>
          <p:cNvPr id="18" name="Oval 17"/>
          <p:cNvSpPr/>
          <p:nvPr/>
        </p:nvSpPr>
        <p:spPr>
          <a:xfrm>
            <a:off x="548640" y="3671316"/>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4</a:t>
            </a:r>
          </a:p>
        </p:txBody>
      </p:sp>
      <p:sp>
        <p:nvSpPr>
          <p:cNvPr id="19" name="TextBox 18"/>
          <p:cNvSpPr txBox="1"/>
          <p:nvPr/>
        </p:nvSpPr>
        <p:spPr>
          <a:xfrm>
            <a:off x="1024128" y="3689604"/>
            <a:ext cx="2514600" cy="411480"/>
          </a:xfrm>
          <a:prstGeom prst="rect">
            <a:avLst/>
          </a:prstGeom>
          <a:noFill/>
        </p:spPr>
        <p:txBody>
          <a:bodyPr wrap="square" anchor="t" lIns="45720" rIns="45720">
            <a:spAutoFit/>
          </a:bodyPr>
          <a:lstStyle/>
          <a:p>
            <a:pPr algn="l"/>
            <a:r>
              <a:rPr sz="1400" b="1" i="0">
                <a:solidFill>
                  <a:srgbClr val="1F1B2E"/>
                </a:solidFill>
                <a:latin typeface="Calibri"/>
              </a:rPr>
              <a:t>Lifecycle Engine</a:t>
            </a:r>
          </a:p>
        </p:txBody>
      </p:sp>
      <p:sp>
        <p:nvSpPr>
          <p:cNvPr id="20" name="TextBox 19"/>
          <p:cNvSpPr txBox="1"/>
          <p:nvPr/>
        </p:nvSpPr>
        <p:spPr>
          <a:xfrm>
            <a:off x="3520440" y="3707892"/>
            <a:ext cx="3840480" cy="411480"/>
          </a:xfrm>
          <a:prstGeom prst="rect">
            <a:avLst/>
          </a:prstGeom>
          <a:noFill/>
        </p:spPr>
        <p:txBody>
          <a:bodyPr wrap="square" anchor="t" lIns="45720" rIns="45720">
            <a:spAutoFit/>
          </a:bodyPr>
          <a:lstStyle/>
          <a:p>
            <a:pPr algn="l"/>
            <a:r>
              <a:rPr sz="1300" b="0" i="0">
                <a:solidFill>
                  <a:srgbClr val="5F5A6B"/>
                </a:solidFill>
                <a:latin typeface="Calibri"/>
              </a:rPr>
              <a:t>configurable statuses and transitions</a:t>
            </a:r>
          </a:p>
        </p:txBody>
      </p:sp>
      <p:sp>
        <p:nvSpPr>
          <p:cNvPr id="21" name="Oval 20"/>
          <p:cNvSpPr/>
          <p:nvPr/>
        </p:nvSpPr>
        <p:spPr>
          <a:xfrm>
            <a:off x="548640" y="4178808"/>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5</a:t>
            </a:r>
          </a:p>
        </p:txBody>
      </p:sp>
      <p:sp>
        <p:nvSpPr>
          <p:cNvPr id="22" name="TextBox 21"/>
          <p:cNvSpPr txBox="1"/>
          <p:nvPr/>
        </p:nvSpPr>
        <p:spPr>
          <a:xfrm>
            <a:off x="1024128" y="4197096"/>
            <a:ext cx="2514600" cy="411480"/>
          </a:xfrm>
          <a:prstGeom prst="rect">
            <a:avLst/>
          </a:prstGeom>
          <a:noFill/>
        </p:spPr>
        <p:txBody>
          <a:bodyPr wrap="square" anchor="t" lIns="45720" rIns="45720">
            <a:spAutoFit/>
          </a:bodyPr>
          <a:lstStyle/>
          <a:p>
            <a:pPr algn="l"/>
            <a:r>
              <a:rPr sz="1400" b="1" i="0">
                <a:solidFill>
                  <a:srgbClr val="1F1B2E"/>
                </a:solidFill>
                <a:latin typeface="Calibri"/>
              </a:rPr>
              <a:t>Approval Workflow</a:t>
            </a:r>
          </a:p>
        </p:txBody>
      </p:sp>
      <p:sp>
        <p:nvSpPr>
          <p:cNvPr id="23" name="TextBox 22"/>
          <p:cNvSpPr txBox="1"/>
          <p:nvPr/>
        </p:nvSpPr>
        <p:spPr>
          <a:xfrm>
            <a:off x="3520440" y="4215384"/>
            <a:ext cx="3840480" cy="411480"/>
          </a:xfrm>
          <a:prstGeom prst="rect">
            <a:avLst/>
          </a:prstGeom>
          <a:noFill/>
        </p:spPr>
        <p:txBody>
          <a:bodyPr wrap="square" anchor="t" lIns="45720" rIns="45720">
            <a:spAutoFit/>
          </a:bodyPr>
          <a:lstStyle/>
          <a:p>
            <a:pPr algn="l"/>
            <a:r>
              <a:rPr sz="1300" b="0" i="0">
                <a:solidFill>
                  <a:srgbClr val="5F5A6B"/>
                </a:solidFill>
                <a:latin typeface="Calibri"/>
              </a:rPr>
              <a:t>sequential / parallel, per-stage approvers, audit</a:t>
            </a:r>
          </a:p>
        </p:txBody>
      </p:sp>
      <p:sp>
        <p:nvSpPr>
          <p:cNvPr id="24" name="Oval 23"/>
          <p:cNvSpPr/>
          <p:nvPr/>
        </p:nvSpPr>
        <p:spPr>
          <a:xfrm>
            <a:off x="548640" y="4686300"/>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6</a:t>
            </a:r>
          </a:p>
        </p:txBody>
      </p:sp>
      <p:sp>
        <p:nvSpPr>
          <p:cNvPr id="25" name="TextBox 24"/>
          <p:cNvSpPr txBox="1"/>
          <p:nvPr/>
        </p:nvSpPr>
        <p:spPr>
          <a:xfrm>
            <a:off x="1024128" y="4704588"/>
            <a:ext cx="2514600" cy="411480"/>
          </a:xfrm>
          <a:prstGeom prst="rect">
            <a:avLst/>
          </a:prstGeom>
          <a:noFill/>
        </p:spPr>
        <p:txBody>
          <a:bodyPr wrap="square" anchor="t" lIns="45720" rIns="45720">
            <a:spAutoFit/>
          </a:bodyPr>
          <a:lstStyle/>
          <a:p>
            <a:pPr algn="l"/>
            <a:r>
              <a:rPr sz="1400" b="1" i="0">
                <a:solidFill>
                  <a:srgbClr val="1F1B2E"/>
                </a:solidFill>
                <a:latin typeface="Calibri"/>
              </a:rPr>
              <a:t>Roles &amp; Permissions</a:t>
            </a:r>
          </a:p>
        </p:txBody>
      </p:sp>
      <p:sp>
        <p:nvSpPr>
          <p:cNvPr id="26" name="TextBox 25"/>
          <p:cNvSpPr txBox="1"/>
          <p:nvPr/>
        </p:nvSpPr>
        <p:spPr>
          <a:xfrm>
            <a:off x="3520440" y="4722876"/>
            <a:ext cx="3840480" cy="411480"/>
          </a:xfrm>
          <a:prstGeom prst="rect">
            <a:avLst/>
          </a:prstGeom>
          <a:noFill/>
        </p:spPr>
        <p:txBody>
          <a:bodyPr wrap="square" anchor="t" lIns="45720" rIns="45720">
            <a:spAutoFit/>
          </a:bodyPr>
          <a:lstStyle/>
          <a:p>
            <a:pPr algn="l"/>
            <a:r>
              <a:rPr sz="1300" b="0" i="0">
                <a:solidFill>
                  <a:srgbClr val="5F5A6B"/>
                </a:solidFill>
                <a:latin typeface="Calibri"/>
              </a:rPr>
              <a:t>view / edit / approve / publish per role</a:t>
            </a:r>
          </a:p>
        </p:txBody>
      </p:sp>
      <p:sp>
        <p:nvSpPr>
          <p:cNvPr id="27" name="Oval 26"/>
          <p:cNvSpPr/>
          <p:nvPr/>
        </p:nvSpPr>
        <p:spPr>
          <a:xfrm>
            <a:off x="548640" y="5193792"/>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7</a:t>
            </a:r>
          </a:p>
        </p:txBody>
      </p:sp>
      <p:sp>
        <p:nvSpPr>
          <p:cNvPr id="28" name="TextBox 27"/>
          <p:cNvSpPr txBox="1"/>
          <p:nvPr/>
        </p:nvSpPr>
        <p:spPr>
          <a:xfrm>
            <a:off x="1024128" y="5212079"/>
            <a:ext cx="2514600" cy="411480"/>
          </a:xfrm>
          <a:prstGeom prst="rect">
            <a:avLst/>
          </a:prstGeom>
          <a:noFill/>
        </p:spPr>
        <p:txBody>
          <a:bodyPr wrap="square" anchor="t" lIns="45720" rIns="45720">
            <a:spAutoFit/>
          </a:bodyPr>
          <a:lstStyle/>
          <a:p>
            <a:pPr algn="l"/>
            <a:r>
              <a:rPr sz="1400" b="1" i="0">
                <a:solidFill>
                  <a:srgbClr val="1F1B2E"/>
                </a:solidFill>
                <a:latin typeface="Calibri"/>
              </a:rPr>
              <a:t>Versioning</a:t>
            </a:r>
          </a:p>
        </p:txBody>
      </p:sp>
      <p:sp>
        <p:nvSpPr>
          <p:cNvPr id="29" name="TextBox 28"/>
          <p:cNvSpPr txBox="1"/>
          <p:nvPr/>
        </p:nvSpPr>
        <p:spPr>
          <a:xfrm>
            <a:off x="3520440" y="5230368"/>
            <a:ext cx="3840480" cy="411480"/>
          </a:xfrm>
          <a:prstGeom prst="rect">
            <a:avLst/>
          </a:prstGeom>
          <a:noFill/>
        </p:spPr>
        <p:txBody>
          <a:bodyPr wrap="square" anchor="t" lIns="45720" rIns="45720">
            <a:spAutoFit/>
          </a:bodyPr>
          <a:lstStyle/>
          <a:p>
            <a:pPr algn="l"/>
            <a:r>
              <a:rPr sz="1300" b="0" i="0">
                <a:solidFill>
                  <a:srgbClr val="5F5A6B"/>
                </a:solidFill>
                <a:latin typeface="Calibri"/>
              </a:rPr>
              <a:t>revise, compare, clone, history</a:t>
            </a:r>
          </a:p>
        </p:txBody>
      </p:sp>
      <p:sp>
        <p:nvSpPr>
          <p:cNvPr id="30" name="Oval 29"/>
          <p:cNvSpPr/>
          <p:nvPr/>
        </p:nvSpPr>
        <p:spPr>
          <a:xfrm>
            <a:off x="548640" y="5701284"/>
            <a:ext cx="384048" cy="384048"/>
          </a:xfrm>
          <a:prstGeom prst="ellipse">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8</a:t>
            </a:r>
          </a:p>
        </p:txBody>
      </p:sp>
      <p:sp>
        <p:nvSpPr>
          <p:cNvPr id="31" name="TextBox 30"/>
          <p:cNvSpPr txBox="1"/>
          <p:nvPr/>
        </p:nvSpPr>
        <p:spPr>
          <a:xfrm>
            <a:off x="1024128" y="5719572"/>
            <a:ext cx="2514600" cy="411480"/>
          </a:xfrm>
          <a:prstGeom prst="rect">
            <a:avLst/>
          </a:prstGeom>
          <a:noFill/>
        </p:spPr>
        <p:txBody>
          <a:bodyPr wrap="square" anchor="t" lIns="45720" rIns="45720">
            <a:spAutoFit/>
          </a:bodyPr>
          <a:lstStyle/>
          <a:p>
            <a:pPr algn="l"/>
            <a:r>
              <a:rPr sz="1400" b="1" i="0">
                <a:solidFill>
                  <a:srgbClr val="1F1B2E"/>
                </a:solidFill>
                <a:latin typeface="Calibri"/>
              </a:rPr>
              <a:t>Publishing to CRM &amp; Billing</a:t>
            </a:r>
          </a:p>
        </p:txBody>
      </p:sp>
      <p:sp>
        <p:nvSpPr>
          <p:cNvPr id="32" name="TextBox 31"/>
          <p:cNvSpPr txBox="1"/>
          <p:nvPr/>
        </p:nvSpPr>
        <p:spPr>
          <a:xfrm>
            <a:off x="3520440" y="5737860"/>
            <a:ext cx="3840480" cy="411480"/>
          </a:xfrm>
          <a:prstGeom prst="rect">
            <a:avLst/>
          </a:prstGeom>
          <a:noFill/>
        </p:spPr>
        <p:txBody>
          <a:bodyPr wrap="square" anchor="t" lIns="45720" rIns="45720">
            <a:spAutoFit/>
          </a:bodyPr>
          <a:lstStyle/>
          <a:p>
            <a:pPr algn="l"/>
            <a:r>
              <a:rPr sz="1300" b="0" i="0">
                <a:solidFill>
                  <a:srgbClr val="5F5A6B"/>
                </a:solidFill>
                <a:latin typeface="Calibri"/>
              </a:rPr>
              <a:t>TMF620 API, sequence, retry, single source of truth</a:t>
            </a:r>
          </a:p>
        </p:txBody>
      </p:sp>
      <p:sp>
        <p:nvSpPr>
          <p:cNvPr id="33" name="Rounded Rectangle 32"/>
          <p:cNvSpPr/>
          <p:nvPr/>
        </p:nvSpPr>
        <p:spPr>
          <a:xfrm>
            <a:off x="7680960" y="1600200"/>
            <a:ext cx="4023360" cy="457200"/>
          </a:xfrm>
          <a:prstGeom prst="roundRect">
            <a:avLst>
              <a:gd name="adj" fmla="val 12000"/>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Phase 2: next</a:t>
            </a:r>
          </a:p>
        </p:txBody>
      </p:sp>
      <p:sp>
        <p:nvSpPr>
          <p:cNvPr id="34" name="TextBox 33"/>
          <p:cNvSpPr txBox="1"/>
          <p:nvPr/>
        </p:nvSpPr>
        <p:spPr>
          <a:xfrm>
            <a:off x="7726679" y="2148840"/>
            <a:ext cx="4023360" cy="292608"/>
          </a:xfrm>
          <a:prstGeom prst="rect">
            <a:avLst/>
          </a:prstGeom>
          <a:noFill/>
        </p:spPr>
        <p:txBody>
          <a:bodyPr wrap="square" anchor="t" lIns="45720" rIns="45720">
            <a:spAutoFit/>
          </a:bodyPr>
          <a:lstStyle/>
          <a:p>
            <a:pPr algn="l"/>
            <a:r>
              <a:rPr sz="1400" b="1" i="0">
                <a:solidFill>
                  <a:srgbClr val="1F1B2E"/>
                </a:solidFill>
                <a:latin typeface="Calibri"/>
              </a:rPr>
              <a:t>Rules Engine</a:t>
            </a:r>
          </a:p>
        </p:txBody>
      </p:sp>
      <p:sp>
        <p:nvSpPr>
          <p:cNvPr id="35" name="TextBox 34"/>
          <p:cNvSpPr txBox="1"/>
          <p:nvPr/>
        </p:nvSpPr>
        <p:spPr>
          <a:xfrm>
            <a:off x="7726679" y="2404872"/>
            <a:ext cx="4023360" cy="292608"/>
          </a:xfrm>
          <a:prstGeom prst="rect">
            <a:avLst/>
          </a:prstGeom>
          <a:noFill/>
        </p:spPr>
        <p:txBody>
          <a:bodyPr wrap="square" anchor="t" lIns="45720" rIns="45720">
            <a:spAutoFit/>
          </a:bodyPr>
          <a:lstStyle/>
          <a:p>
            <a:pPr algn="l"/>
            <a:r>
              <a:rPr sz="1200" b="0" i="0">
                <a:solidFill>
                  <a:srgbClr val="5F5A6B"/>
                </a:solidFill>
                <a:latin typeface="Calibri"/>
              </a:rPr>
              <a:t>eligibility, compatibility, migration</a:t>
            </a:r>
          </a:p>
        </p:txBody>
      </p:sp>
      <p:sp>
        <p:nvSpPr>
          <p:cNvPr id="36" name="TextBox 35"/>
          <p:cNvSpPr txBox="1"/>
          <p:nvPr/>
        </p:nvSpPr>
        <p:spPr>
          <a:xfrm>
            <a:off x="7726679" y="2715768"/>
            <a:ext cx="4023360" cy="292608"/>
          </a:xfrm>
          <a:prstGeom prst="rect">
            <a:avLst/>
          </a:prstGeom>
          <a:noFill/>
        </p:spPr>
        <p:txBody>
          <a:bodyPr wrap="square" anchor="t" lIns="45720" rIns="45720">
            <a:spAutoFit/>
          </a:bodyPr>
          <a:lstStyle/>
          <a:p>
            <a:pPr algn="l"/>
            <a:r>
              <a:rPr sz="1400" b="1" i="0">
                <a:solidFill>
                  <a:srgbClr val="1F1B2E"/>
                </a:solidFill>
                <a:latin typeface="Calibri"/>
              </a:rPr>
              <a:t>Retirement &amp; Migration</a:t>
            </a:r>
          </a:p>
        </p:txBody>
      </p:sp>
      <p:sp>
        <p:nvSpPr>
          <p:cNvPr id="37" name="TextBox 36"/>
          <p:cNvSpPr txBox="1"/>
          <p:nvPr/>
        </p:nvSpPr>
        <p:spPr>
          <a:xfrm>
            <a:off x="7726679" y="2971800"/>
            <a:ext cx="4023360" cy="292608"/>
          </a:xfrm>
          <a:prstGeom prst="rect">
            <a:avLst/>
          </a:prstGeom>
          <a:noFill/>
        </p:spPr>
        <p:txBody>
          <a:bodyPr wrap="square" anchor="t" lIns="45720" rIns="45720">
            <a:spAutoFit/>
          </a:bodyPr>
          <a:lstStyle/>
          <a:p>
            <a:pPr algn="l"/>
            <a:r>
              <a:rPr sz="1200" b="0" i="0">
                <a:solidFill>
                  <a:srgbClr val="5F5A6B"/>
                </a:solidFill>
                <a:latin typeface="Calibri"/>
              </a:rPr>
              <a:t>end-of-sale, upgrade paths, customer moves</a:t>
            </a:r>
          </a:p>
        </p:txBody>
      </p:sp>
      <p:sp>
        <p:nvSpPr>
          <p:cNvPr id="38" name="TextBox 37"/>
          <p:cNvSpPr txBox="1"/>
          <p:nvPr/>
        </p:nvSpPr>
        <p:spPr>
          <a:xfrm>
            <a:off x="7726679" y="3282696"/>
            <a:ext cx="4023360" cy="292608"/>
          </a:xfrm>
          <a:prstGeom prst="rect">
            <a:avLst/>
          </a:prstGeom>
          <a:noFill/>
        </p:spPr>
        <p:txBody>
          <a:bodyPr wrap="square" anchor="t" lIns="45720" rIns="45720">
            <a:spAutoFit/>
          </a:bodyPr>
          <a:lstStyle/>
          <a:p>
            <a:pPr algn="l"/>
            <a:r>
              <a:rPr sz="1400" b="1" i="0">
                <a:solidFill>
                  <a:srgbClr val="1F1B2E"/>
                </a:solidFill>
                <a:latin typeface="Calibri"/>
              </a:rPr>
              <a:t>Promotions</a:t>
            </a:r>
          </a:p>
        </p:txBody>
      </p:sp>
      <p:sp>
        <p:nvSpPr>
          <p:cNvPr id="39" name="TextBox 38"/>
          <p:cNvSpPr txBox="1"/>
          <p:nvPr/>
        </p:nvSpPr>
        <p:spPr>
          <a:xfrm>
            <a:off x="7726679" y="3538728"/>
            <a:ext cx="4023360" cy="292608"/>
          </a:xfrm>
          <a:prstGeom prst="rect">
            <a:avLst/>
          </a:prstGeom>
          <a:noFill/>
        </p:spPr>
        <p:txBody>
          <a:bodyPr wrap="square" anchor="t" lIns="45720" rIns="45720">
            <a:spAutoFit/>
          </a:bodyPr>
          <a:lstStyle/>
          <a:p>
            <a:pPr algn="l"/>
            <a:r>
              <a:rPr sz="1200" b="0" i="0">
                <a:solidFill>
                  <a:srgbClr val="5F5A6B"/>
                </a:solidFill>
                <a:latin typeface="Calibri"/>
              </a:rPr>
              <a:t>time-bound campaigns</a:t>
            </a:r>
          </a:p>
        </p:txBody>
      </p:sp>
      <p:sp>
        <p:nvSpPr>
          <p:cNvPr id="40" name="TextBox 39"/>
          <p:cNvSpPr txBox="1"/>
          <p:nvPr/>
        </p:nvSpPr>
        <p:spPr>
          <a:xfrm>
            <a:off x="7726679" y="3849624"/>
            <a:ext cx="4023360" cy="292608"/>
          </a:xfrm>
          <a:prstGeom prst="rect">
            <a:avLst/>
          </a:prstGeom>
          <a:noFill/>
        </p:spPr>
        <p:txBody>
          <a:bodyPr wrap="square" anchor="t" lIns="45720" rIns="45720">
            <a:spAutoFit/>
          </a:bodyPr>
          <a:lstStyle/>
          <a:p>
            <a:pPr algn="l"/>
            <a:r>
              <a:rPr sz="1400" b="1" i="0">
                <a:solidFill>
                  <a:srgbClr val="1F1B2E"/>
                </a:solidFill>
                <a:latin typeface="Calibri"/>
              </a:rPr>
              <a:t>Dashboards &amp; Bulk Updates</a:t>
            </a:r>
          </a:p>
        </p:txBody>
      </p:sp>
      <p:sp>
        <p:nvSpPr>
          <p:cNvPr id="41" name="TextBox 40"/>
          <p:cNvSpPr txBox="1"/>
          <p:nvPr/>
        </p:nvSpPr>
        <p:spPr>
          <a:xfrm>
            <a:off x="7726679" y="4105656"/>
            <a:ext cx="4023360" cy="292608"/>
          </a:xfrm>
          <a:prstGeom prst="rect">
            <a:avLst/>
          </a:prstGeom>
          <a:noFill/>
        </p:spPr>
        <p:txBody>
          <a:bodyPr wrap="square" anchor="t" lIns="45720" rIns="45720">
            <a:spAutoFit/>
          </a:bodyPr>
          <a:lstStyle/>
          <a:p>
            <a:pPr algn="l"/>
            <a:r>
              <a:rPr sz="1200" b="0" i="0">
                <a:solidFill>
                  <a:srgbClr val="5F5A6B"/>
                </a:solidFill>
                <a:latin typeface="Calibri"/>
              </a:rPr>
              <a:t>time-to-market, bulk price changes</a:t>
            </a:r>
          </a:p>
        </p:txBody>
      </p:sp>
      <p:sp>
        <p:nvSpPr>
          <p:cNvPr id="42" name="TextBox 41"/>
          <p:cNvSpPr txBox="1"/>
          <p:nvPr/>
        </p:nvSpPr>
        <p:spPr>
          <a:xfrm>
            <a:off x="7726679" y="4416552"/>
            <a:ext cx="4023360" cy="292608"/>
          </a:xfrm>
          <a:prstGeom prst="rect">
            <a:avLst/>
          </a:prstGeom>
          <a:noFill/>
        </p:spPr>
        <p:txBody>
          <a:bodyPr wrap="square" anchor="t" lIns="45720" rIns="45720">
            <a:spAutoFit/>
          </a:bodyPr>
          <a:lstStyle/>
          <a:p>
            <a:pPr algn="l"/>
            <a:r>
              <a:rPr sz="1400" b="1" i="0">
                <a:solidFill>
                  <a:srgbClr val="1F1B2E"/>
                </a:solidFill>
                <a:latin typeface="Calibri"/>
              </a:rPr>
              <a:t>AI Validation</a:t>
            </a:r>
          </a:p>
        </p:txBody>
      </p:sp>
      <p:sp>
        <p:nvSpPr>
          <p:cNvPr id="43" name="TextBox 42"/>
          <p:cNvSpPr txBox="1"/>
          <p:nvPr/>
        </p:nvSpPr>
        <p:spPr>
          <a:xfrm>
            <a:off x="7726679" y="4672584"/>
            <a:ext cx="4023360" cy="292608"/>
          </a:xfrm>
          <a:prstGeom prst="rect">
            <a:avLst/>
          </a:prstGeom>
          <a:noFill/>
        </p:spPr>
        <p:txBody>
          <a:bodyPr wrap="square" anchor="t" lIns="45720" rIns="45720">
            <a:spAutoFit/>
          </a:bodyPr>
          <a:lstStyle/>
          <a:p>
            <a:pPr algn="l"/>
            <a:r>
              <a:rPr sz="1200" b="0" i="0">
                <a:solidFill>
                  <a:srgbClr val="5F5A6B"/>
                </a:solidFill>
                <a:latin typeface="Calibri"/>
              </a:rPr>
              <a:t>check offers before publish</a:t>
            </a:r>
          </a:p>
        </p:txBody>
      </p:sp>
      <p:sp>
        <p:nvSpPr>
          <p:cNvPr id="44" name="Rounded Rectangle 43"/>
          <p:cNvSpPr/>
          <p:nvPr/>
        </p:nvSpPr>
        <p:spPr>
          <a:xfrm>
            <a:off x="7680960" y="5074920"/>
            <a:ext cx="4023360" cy="1143000"/>
          </a:xfrm>
          <a:prstGeom prst="roundRect">
            <a:avLst>
              <a:gd name="adj" fmla="val 12000"/>
            </a:avLst>
          </a:prstGeom>
          <a:solidFill>
            <a:srgbClr val="EEE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1F1B2E"/>
                </a:solidFill>
                <a:latin typeface="Calibri"/>
              </a:rPr>
              <a:t>Design principles</a:t>
            </a:r>
          </a:p>
          <a:p>
            <a:pPr algn="ctr"/>
            <a:r>
              <a:rPr sz="1200" b="0" i="0">
                <a:solidFill>
                  <a:srgbClr val="1F1B2E"/>
                </a:solidFill>
                <a:latin typeface="Calibri"/>
              </a:rPr>
              <a:t>One source of truth  |  Test before production  |  TM Forum data model  |  Full audit trail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8229600" cy="320040"/>
          </a:xfrm>
          <a:prstGeom prst="rect">
            <a:avLst/>
          </a:prstGeom>
          <a:noFill/>
        </p:spPr>
        <p:txBody>
          <a:bodyPr wrap="square" anchor="t" lIns="45720" rIns="45720">
            <a:spAutoFit/>
          </a:bodyPr>
          <a:lstStyle/>
          <a:p>
            <a:pPr algn="l"/>
            <a:r>
              <a:rPr sz="1200" b="1" i="0">
                <a:solidFill>
                  <a:srgbClr val="5B2C83"/>
                </a:solidFill>
                <a:latin typeface="Calibri"/>
              </a:rPr>
              <a:t>TEAM COMPARISON</a:t>
            </a:r>
          </a:p>
        </p:txBody>
      </p:sp>
      <p:sp>
        <p:nvSpPr>
          <p:cNvPr id="4" name="TextBox 3"/>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Scorecard for comparing the three systems</a:t>
            </a:r>
          </a:p>
        </p:txBody>
      </p:sp>
      <p:sp>
        <p:nvSpPr>
          <p:cNvPr id="5" name="TextBox 4"/>
          <p:cNvSpPr txBox="1"/>
          <p:nvPr/>
        </p:nvSpPr>
        <p:spPr>
          <a:xfrm>
            <a:off x="502920" y="1115568"/>
            <a:ext cx="11155680" cy="411480"/>
          </a:xfrm>
          <a:prstGeom prst="rect">
            <a:avLst/>
          </a:prstGeom>
          <a:noFill/>
        </p:spPr>
        <p:txBody>
          <a:bodyPr wrap="square" anchor="t" lIns="45720" rIns="45720">
            <a:spAutoFit/>
          </a:bodyPr>
          <a:lstStyle/>
          <a:p>
            <a:pPr algn="l"/>
            <a:r>
              <a:rPr sz="1500" b="0" i="1">
                <a:solidFill>
                  <a:srgbClr val="5F5A6B"/>
                </a:solidFill>
                <a:latin typeface="Calibri"/>
              </a:rPr>
              <a:t>Each team member fills in the column for the system they studied</a:t>
            </a:r>
          </a:p>
        </p:txBody>
      </p:sp>
      <p:sp>
        <p:nvSpPr>
          <p:cNvPr id="6" name="TextBox 5"/>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7" name="TextBox 6"/>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16</a:t>
            </a:r>
          </a:p>
        </p:txBody>
      </p:sp>
      <p:graphicFrame>
        <p:nvGraphicFramePr>
          <p:cNvPr id="8" name="Table 7"/>
          <p:cNvGraphicFramePr>
            <a:graphicFrameLocks noGrp="1"/>
          </p:cNvGraphicFramePr>
          <p:nvPr/>
        </p:nvGraphicFramePr>
        <p:xfrm>
          <a:off x="548640" y="1508760"/>
          <a:ext cx="11155680" cy="4754880"/>
        </p:xfrm>
        <a:graphic>
          <a:graphicData uri="http://schemas.openxmlformats.org/drawingml/2006/table">
            <a:tbl>
              <a:tblPr firstRow="1" bandRow="1">
                <a:tableStyleId>{5C22544A-7EE6-4342-B048-85BDC9FD1C3A}</a:tableStyleId>
              </a:tblPr>
              <a:tblGrid>
                <a:gridCol w="2377440"/>
                <a:gridCol w="3657600"/>
                <a:gridCol w="2560320"/>
                <a:gridCol w="2560320"/>
              </a:tblGrid>
              <a:tr h="365760">
                <a:tc>
                  <a:txBody>
                    <a:bodyPr wrap="square"/>
                    <a:lstStyle/>
                    <a:p>
                      <a:r>
                        <a:rPr sz="1200" b="1" i="0">
                          <a:solidFill>
                            <a:srgbClr val="FFFFFF"/>
                          </a:solidFill>
                          <a:latin typeface="Calibri"/>
                        </a:rPr>
                        <a:t>Feature</a:t>
                      </a:r>
                    </a:p>
                  </a:txBody>
                  <a:tcPr marL="54864" marR="54864" marT="27432" marB="27432" anchor="ctr">
                    <a:solidFill>
                      <a:srgbClr val="5B2C83"/>
                    </a:solidFill>
                  </a:tcPr>
                </a:tc>
                <a:tc>
                  <a:txBody>
                    <a:bodyPr wrap="square"/>
                    <a:lstStyle/>
                    <a:p>
                      <a:r>
                        <a:rPr sz="1200" b="1" i="0">
                          <a:solidFill>
                            <a:srgbClr val="FFFFFF"/>
                          </a:solidFill>
                          <a:latin typeface="Calibri"/>
                        </a:rPr>
                        <a:t>Oracle Launch</a:t>
                      </a:r>
                    </a:p>
                  </a:txBody>
                  <a:tcPr marL="54864" marR="54864" marT="27432" marB="27432" anchor="ctr">
                    <a:solidFill>
                      <a:srgbClr val="5B2C83"/>
                    </a:solidFill>
                  </a:tcPr>
                </a:tc>
                <a:tc>
                  <a:txBody>
                    <a:bodyPr wrap="square"/>
                    <a:lstStyle/>
                    <a:p>
                      <a:r>
                        <a:rPr sz="1200" b="1" i="0">
                          <a:solidFill>
                            <a:srgbClr val="FFFFFF"/>
                          </a:solidFill>
                          <a:latin typeface="Calibri"/>
                        </a:rPr>
                        <a:t>System 2 (Mostafa)</a:t>
                      </a:r>
                    </a:p>
                  </a:txBody>
                  <a:tcPr marL="54864" marR="54864" marT="27432" marB="27432" anchor="ctr">
                    <a:solidFill>
                      <a:srgbClr val="5B2C83"/>
                    </a:solidFill>
                  </a:tcPr>
                </a:tc>
                <a:tc>
                  <a:txBody>
                    <a:bodyPr wrap="square"/>
                    <a:lstStyle/>
                    <a:p>
                      <a:r>
                        <a:rPr sz="1200" b="1" i="0">
                          <a:solidFill>
                            <a:srgbClr val="FFFFFF"/>
                          </a:solidFill>
                          <a:latin typeface="Calibri"/>
                        </a:rPr>
                        <a:t>System 3 (Hamdy)</a:t>
                      </a:r>
                    </a:p>
                  </a:txBody>
                  <a:tcPr marL="54864" marR="54864" marT="27432" marB="27432" anchor="ctr">
                    <a:solidFill>
                      <a:srgbClr val="5B2C83"/>
                    </a:solidFill>
                  </a:tcPr>
                </a:tc>
              </a:tr>
              <a:tr h="365760">
                <a:tc>
                  <a:txBody>
                    <a:bodyPr wrap="square"/>
                    <a:lstStyle/>
                    <a:p>
                      <a:r>
                        <a:rPr sz="1200" b="1" i="0">
                          <a:solidFill>
                            <a:srgbClr val="1F1B2E"/>
                          </a:solidFill>
                          <a:latin typeface="Calibri"/>
                        </a:rPr>
                        <a:t>Product Ideation</a:t>
                      </a:r>
                    </a:p>
                  </a:txBody>
                  <a:tcPr marL="54864" marR="54864" marT="27432" marB="27432" anchor="ctr">
                    <a:solidFill>
                      <a:srgbClr val="F4F3F7"/>
                    </a:solidFill>
                  </a:tcPr>
                </a:tc>
                <a:tc>
                  <a:txBody>
                    <a:bodyPr wrap="square"/>
                    <a:lstStyle/>
                    <a:p>
                      <a:r>
                        <a:rPr sz="1200" b="0" i="0">
                          <a:solidFill>
                            <a:srgbClr val="1F1B2E"/>
                          </a:solidFill>
                          <a:latin typeface="Calibri"/>
                        </a:rPr>
                        <a:t>Partial: initiatives, no idea scoring</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r>
              <a:tr h="365760">
                <a:tc>
                  <a:txBody>
                    <a:bodyPr wrap="square"/>
                    <a:lstStyle/>
                    <a:p>
                      <a:r>
                        <a:rPr sz="1200" b="1" i="0">
                          <a:solidFill>
                            <a:srgbClr val="1F1B2E"/>
                          </a:solidFill>
                          <a:latin typeface="Calibri"/>
                        </a:rPr>
                        <a:t>Product Definition</a:t>
                      </a:r>
                    </a:p>
                  </a:txBody>
                  <a:tcPr marL="54864" marR="54864" marT="27432" marB="27432" anchor="ctr">
                    <a:solidFill>
                      <a:srgbClr val="FFFFFF"/>
                    </a:solidFill>
                  </a:tcPr>
                </a:tc>
                <a:tc>
                  <a:txBody>
                    <a:bodyPr wrap="square"/>
                    <a:lstStyle/>
                    <a:p>
                      <a:r>
                        <a:rPr sz="1200" b="0" i="0">
                          <a:solidFill>
                            <a:srgbClr val="1F1B2E"/>
                          </a:solidFill>
                          <a:latin typeface="Calibri"/>
                        </a:rPr>
                        <a:t>Strong: guided flow, spec vs offer</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r>
              <a:tr h="365760">
                <a:tc>
                  <a:txBody>
                    <a:bodyPr wrap="square"/>
                    <a:lstStyle/>
                    <a:p>
                      <a:r>
                        <a:rPr sz="1200" b="1" i="0">
                          <a:solidFill>
                            <a:srgbClr val="1F1B2E"/>
                          </a:solidFill>
                          <a:latin typeface="Calibri"/>
                        </a:rPr>
                        <a:t>Approval Workflow</a:t>
                      </a:r>
                    </a:p>
                  </a:txBody>
                  <a:tcPr marL="54864" marR="54864" marT="27432" marB="27432" anchor="ctr">
                    <a:solidFill>
                      <a:srgbClr val="F4F3F7"/>
                    </a:solidFill>
                  </a:tcPr>
                </a:tc>
                <a:tc>
                  <a:txBody>
                    <a:bodyPr wrap="square"/>
                    <a:lstStyle/>
                    <a:p>
                      <a:r>
                        <a:rPr sz="1200" b="0" i="0">
                          <a:solidFill>
                            <a:srgbClr val="1F1B2E"/>
                          </a:solidFill>
                          <a:latin typeface="Calibri"/>
                        </a:rPr>
                        <a:t>Strong: sequential / parallel, voting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r>
              <a:tr h="365760">
                <a:tc>
                  <a:txBody>
                    <a:bodyPr wrap="square"/>
                    <a:lstStyle/>
                    <a:p>
                      <a:r>
                        <a:rPr sz="1200" b="1" i="0">
                          <a:solidFill>
                            <a:srgbClr val="1F1B2E"/>
                          </a:solidFill>
                          <a:latin typeface="Calibri"/>
                        </a:rPr>
                        <a:t>Product Catalog</a:t>
                      </a:r>
                    </a:p>
                  </a:txBody>
                  <a:tcPr marL="54864" marR="54864" marT="27432" marB="27432" anchor="ctr">
                    <a:solidFill>
                      <a:srgbClr val="FFFFFF"/>
                    </a:solidFill>
                  </a:tcPr>
                </a:tc>
                <a:tc>
                  <a:txBody>
                    <a:bodyPr wrap="square"/>
                    <a:lstStyle/>
                    <a:p>
                      <a:r>
                        <a:rPr sz="1200" b="0" i="0">
                          <a:solidFill>
                            <a:srgbClr val="1F1B2E"/>
                          </a:solidFill>
                          <a:latin typeface="Calibri"/>
                        </a:rPr>
                        <a:t>Strong: simple, bundle, package</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r>
              <a:tr h="365760">
                <a:tc>
                  <a:txBody>
                    <a:bodyPr wrap="square"/>
                    <a:lstStyle/>
                    <a:p>
                      <a:r>
                        <a:rPr sz="1200" b="1" i="0">
                          <a:solidFill>
                            <a:srgbClr val="1F1B2E"/>
                          </a:solidFill>
                          <a:latin typeface="Calibri"/>
                        </a:rPr>
                        <a:t>Pricing Management</a:t>
                      </a:r>
                    </a:p>
                  </a:txBody>
                  <a:tcPr marL="54864" marR="54864" marT="27432" marB="27432" anchor="ctr">
                    <a:solidFill>
                      <a:srgbClr val="F4F3F7"/>
                    </a:solidFill>
                  </a:tcPr>
                </a:tc>
                <a:tc>
                  <a:txBody>
                    <a:bodyPr wrap="square"/>
                    <a:lstStyle/>
                    <a:p>
                      <a:r>
                        <a:rPr sz="1200" b="0" i="0">
                          <a:solidFill>
                            <a:srgbClr val="1F1B2E"/>
                          </a:solidFill>
                          <a:latin typeface="Calibri"/>
                        </a:rPr>
                        <a:t>Strong: price lists, tiers, bulk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r>
              <a:tr h="365760">
                <a:tc>
                  <a:txBody>
                    <a:bodyPr wrap="square"/>
                    <a:lstStyle/>
                    <a:p>
                      <a:r>
                        <a:rPr sz="1200" b="1" i="0">
                          <a:solidFill>
                            <a:srgbClr val="1F1B2E"/>
                          </a:solidFill>
                          <a:latin typeface="Calibri"/>
                        </a:rPr>
                        <a:t>Product Versioning</a:t>
                      </a:r>
                    </a:p>
                  </a:txBody>
                  <a:tcPr marL="54864" marR="54864" marT="27432" marB="27432" anchor="ctr">
                    <a:solidFill>
                      <a:srgbClr val="FFFFFF"/>
                    </a:solidFill>
                  </a:tcPr>
                </a:tc>
                <a:tc>
                  <a:txBody>
                    <a:bodyPr wrap="square"/>
                    <a:lstStyle/>
                    <a:p>
                      <a:r>
                        <a:rPr sz="1200" b="0" i="0">
                          <a:solidFill>
                            <a:srgbClr val="1F1B2E"/>
                          </a:solidFill>
                          <a:latin typeface="Calibri"/>
                        </a:rPr>
                        <a:t>Strong: revise, compare, clone</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r>
              <a:tr h="365760">
                <a:tc>
                  <a:txBody>
                    <a:bodyPr wrap="square"/>
                    <a:lstStyle/>
                    <a:p>
                      <a:r>
                        <a:rPr sz="1200" b="1" i="0">
                          <a:solidFill>
                            <a:srgbClr val="1F1B2E"/>
                          </a:solidFill>
                          <a:latin typeface="Calibri"/>
                        </a:rPr>
                        <a:t>Role-Based Access</a:t>
                      </a:r>
                    </a:p>
                  </a:txBody>
                  <a:tcPr marL="54864" marR="54864" marT="27432" marB="27432" anchor="ctr">
                    <a:solidFill>
                      <a:srgbClr val="F4F3F7"/>
                    </a:solidFill>
                  </a:tcPr>
                </a:tc>
                <a:tc>
                  <a:txBody>
                    <a:bodyPr wrap="square"/>
                    <a:lstStyle/>
                    <a:p>
                      <a:r>
                        <a:rPr sz="1200" b="0" i="0">
                          <a:solidFill>
                            <a:srgbClr val="1F1B2E"/>
                          </a:solidFill>
                          <a:latin typeface="Calibri"/>
                        </a:rPr>
                        <a:t>Strong: 5 seeded roles + custom</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r>
              <a:tr h="365760">
                <a:tc>
                  <a:txBody>
                    <a:bodyPr wrap="square"/>
                    <a:lstStyle/>
                    <a:p>
                      <a:r>
                        <a:rPr sz="1200" b="1" i="0">
                          <a:solidFill>
                            <a:srgbClr val="1F1B2E"/>
                          </a:solidFill>
                          <a:latin typeface="Calibri"/>
                        </a:rPr>
                        <a:t>Product Launch</a:t>
                      </a:r>
                    </a:p>
                  </a:txBody>
                  <a:tcPr marL="54864" marR="54864" marT="27432" marB="27432" anchor="ctr">
                    <a:solidFill>
                      <a:srgbClr val="FFFFFF"/>
                    </a:solidFill>
                  </a:tcPr>
                </a:tc>
                <a:tc>
                  <a:txBody>
                    <a:bodyPr wrap="square"/>
                    <a:lstStyle/>
                    <a:p>
                      <a:r>
                        <a:rPr sz="1200" b="0" i="0">
                          <a:solidFill>
                            <a:srgbClr val="1F1B2E"/>
                          </a:solidFill>
                          <a:latin typeface="Calibri"/>
                        </a:rPr>
                        <a:t>Strong: channel, location, segment</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r>
              <a:tr h="365760">
                <a:tc>
                  <a:txBody>
                    <a:bodyPr wrap="square"/>
                    <a:lstStyle/>
                    <a:p>
                      <a:r>
                        <a:rPr sz="1200" b="1" i="0">
                          <a:solidFill>
                            <a:srgbClr val="1F1B2E"/>
                          </a:solidFill>
                          <a:latin typeface="Calibri"/>
                        </a:rPr>
                        <a:t>CRM Integration</a:t>
                      </a:r>
                    </a:p>
                  </a:txBody>
                  <a:tcPr marL="54864" marR="54864" marT="27432" marB="27432" anchor="ctr">
                    <a:solidFill>
                      <a:srgbClr val="F4F3F7"/>
                    </a:solidFill>
                  </a:tcPr>
                </a:tc>
                <a:tc>
                  <a:txBody>
                    <a:bodyPr wrap="square"/>
                    <a:lstStyle/>
                    <a:p>
                      <a:r>
                        <a:rPr sz="1200" b="0" i="0">
                          <a:solidFill>
                            <a:srgbClr val="1F1B2E"/>
                          </a:solidFill>
                          <a:latin typeface="Calibri"/>
                        </a:rPr>
                        <a:t>Strong: prebuilt Siebel; open API</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r>
              <a:tr h="365760">
                <a:tc>
                  <a:txBody>
                    <a:bodyPr wrap="square"/>
                    <a:lstStyle/>
                    <a:p>
                      <a:r>
                        <a:rPr sz="1200" b="1" i="0">
                          <a:solidFill>
                            <a:srgbClr val="1F1B2E"/>
                          </a:solidFill>
                          <a:latin typeface="Calibri"/>
                        </a:rPr>
                        <a:t>Retirement</a:t>
                      </a:r>
                    </a:p>
                  </a:txBody>
                  <a:tcPr marL="54864" marR="54864" marT="27432" marB="27432" anchor="ctr">
                    <a:solidFill>
                      <a:srgbClr val="FFFFFF"/>
                    </a:solidFill>
                  </a:tcPr>
                </a:tc>
                <a:tc>
                  <a:txBody>
                    <a:bodyPr wrap="square"/>
                    <a:lstStyle/>
                    <a:p>
                      <a:r>
                        <a:rPr sz="1200" b="0" i="0">
                          <a:solidFill>
                            <a:srgbClr val="1F1B2E"/>
                          </a:solidFill>
                          <a:latin typeface="Calibri"/>
                        </a:rPr>
                        <a:t>Strong: lifecycle-controlled</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r>
              <a:tr h="365760">
                <a:tc>
                  <a:txBody>
                    <a:bodyPr wrap="square"/>
                    <a:lstStyle/>
                    <a:p>
                      <a:r>
                        <a:rPr sz="1200" b="1" i="0">
                          <a:solidFill>
                            <a:srgbClr val="1F1B2E"/>
                          </a:solidFill>
                          <a:latin typeface="Calibri"/>
                        </a:rPr>
                        <a:t>Migration</a:t>
                      </a:r>
                    </a:p>
                  </a:txBody>
                  <a:tcPr marL="54864" marR="54864" marT="27432" marB="27432" anchor="ctr">
                    <a:solidFill>
                      <a:srgbClr val="F4F3F7"/>
                    </a:solidFill>
                  </a:tcPr>
                </a:tc>
                <a:tc>
                  <a:txBody>
                    <a:bodyPr wrap="square"/>
                    <a:lstStyle/>
                    <a:p>
                      <a:r>
                        <a:rPr sz="1200" b="0" i="0">
                          <a:solidFill>
                            <a:srgbClr val="1F1B2E"/>
                          </a:solidFill>
                          <a:latin typeface="Calibri"/>
                        </a:rPr>
                        <a:t>Rules only; executed in CRM</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c>
                  <a:txBody>
                    <a:bodyPr wrap="square"/>
                    <a:lstStyle/>
                    <a:p>
                      <a:r>
                        <a:rPr sz="1200" b="0" i="0">
                          <a:solidFill>
                            <a:srgbClr val="1F1B2E"/>
                          </a:solidFill>
                          <a:latin typeface="Calibri"/>
                        </a:rPr>
                        <a:t/>
                      </a:r>
                    </a:p>
                  </a:txBody>
                  <a:tcPr marL="54864" marR="54864" marT="27432" marB="27432" anchor="ctr">
                    <a:solidFill>
                      <a:srgbClr val="F4F3F7"/>
                    </a:solidFill>
                  </a:tcPr>
                </a:tc>
              </a:tr>
              <a:tr h="365760">
                <a:tc>
                  <a:txBody>
                    <a:bodyPr wrap="square"/>
                    <a:lstStyle/>
                    <a:p>
                      <a:r>
                        <a:rPr sz="1200" b="1" i="0">
                          <a:solidFill>
                            <a:srgbClr val="1F1B2E"/>
                          </a:solidFill>
                          <a:latin typeface="Calibri"/>
                        </a:rPr>
                        <a:t>Standards</a:t>
                      </a:r>
                    </a:p>
                  </a:txBody>
                  <a:tcPr marL="54864" marR="54864" marT="27432" marB="27432" anchor="ctr">
                    <a:solidFill>
                      <a:srgbClr val="FFFFFF"/>
                    </a:solidFill>
                  </a:tcPr>
                </a:tc>
                <a:tc>
                  <a:txBody>
                    <a:bodyPr wrap="square"/>
                    <a:lstStyle/>
                    <a:p>
                      <a:r>
                        <a:rPr sz="1200" b="0" i="0">
                          <a:solidFill>
                            <a:srgbClr val="1F1B2E"/>
                          </a:solidFill>
                          <a:latin typeface="Calibri"/>
                        </a:rPr>
                        <a:t>TM Forum TMF620-based APIs</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c>
                  <a:txBody>
                    <a:bodyPr wrap="square"/>
                    <a:lstStyle/>
                    <a:p>
                      <a:r>
                        <a:rPr sz="1200" b="0" i="0">
                          <a:solidFill>
                            <a:srgbClr val="1F1B2E"/>
                          </a:solidFill>
                          <a:latin typeface="Calibri"/>
                        </a:rPr>
                        <a:t/>
                      </a:r>
                    </a:p>
                  </a:txBody>
                  <a:tcPr marL="54864" marR="54864" marT="27432" marB="27432"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5B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30352"/>
            <a:ext cx="11155680" cy="640080"/>
          </a:xfrm>
          <a:prstGeom prst="rect">
            <a:avLst/>
          </a:prstGeom>
          <a:noFill/>
        </p:spPr>
        <p:txBody>
          <a:bodyPr wrap="square" anchor="t" lIns="45720" rIns="45720">
            <a:spAutoFit/>
          </a:bodyPr>
          <a:lstStyle/>
          <a:p>
            <a:pPr algn="l"/>
            <a:r>
              <a:rPr sz="3000" b="1" i="0">
                <a:solidFill>
                  <a:srgbClr val="1F1B2E"/>
                </a:solidFill>
                <a:latin typeface="Calibri"/>
              </a:rPr>
              <a:t>Questions?</a:t>
            </a:r>
          </a:p>
        </p:txBody>
      </p:sp>
      <p:sp>
        <p:nvSpPr>
          <p:cNvPr id="4" name="TextBox 3"/>
          <p:cNvSpPr txBox="1"/>
          <p:nvPr/>
        </p:nvSpPr>
        <p:spPr>
          <a:xfrm>
            <a:off x="502920" y="6446520"/>
            <a:ext cx="8229600" cy="274320"/>
          </a:xfrm>
          <a:prstGeom prst="rect">
            <a:avLst/>
          </a:prstGeom>
          <a:noFill/>
        </p:spPr>
        <p:txBody>
          <a:bodyPr wrap="square" anchor="t" lIns="45720" rIns="45720">
            <a:spAutoFit/>
          </a:bodyPr>
          <a:lstStyle/>
          <a:p>
            <a:pPr algn="l"/>
            <a:r>
              <a:rPr sz="1000" b="0" i="0">
                <a:solidFill>
                  <a:srgbClr val="5F5A6B"/>
                </a:solidFill>
                <a:latin typeface="Calibri"/>
              </a:rPr>
              <a:t>PLC Study  |  Oracle Communications Launch Cloud Service</a:t>
            </a:r>
          </a:p>
        </p:txBody>
      </p:sp>
      <p:sp>
        <p:nvSpPr>
          <p:cNvPr id="5" name="TextBox 4"/>
          <p:cNvSpPr txBox="1"/>
          <p:nvPr/>
        </p:nvSpPr>
        <p:spPr>
          <a:xfrm>
            <a:off x="10972800" y="6446520"/>
            <a:ext cx="731520" cy="274320"/>
          </a:xfrm>
          <a:prstGeom prst="rect">
            <a:avLst/>
          </a:prstGeom>
          <a:noFill/>
        </p:spPr>
        <p:txBody>
          <a:bodyPr wrap="square" anchor="t" lIns="45720" rIns="45720">
            <a:spAutoFit/>
          </a:bodyPr>
          <a:lstStyle/>
          <a:p>
            <a:pPr algn="r"/>
            <a:r>
              <a:rPr sz="1000" b="0" i="0">
                <a:solidFill>
                  <a:srgbClr val="5F5A6B"/>
                </a:solidFill>
                <a:latin typeface="Calibri"/>
              </a:rPr>
              <a:t>17</a:t>
            </a:r>
          </a:p>
        </p:txBody>
      </p:sp>
      <p:sp>
        <p:nvSpPr>
          <p:cNvPr id="6" name="TextBox 5"/>
          <p:cNvSpPr txBox="1"/>
          <p:nvPr/>
        </p:nvSpPr>
        <p:spPr>
          <a:xfrm>
            <a:off x="548640" y="1371600"/>
            <a:ext cx="10972800" cy="365760"/>
          </a:xfrm>
          <a:prstGeom prst="rect">
            <a:avLst/>
          </a:prstGeom>
          <a:noFill/>
        </p:spPr>
        <p:txBody>
          <a:bodyPr wrap="square" anchor="t" lIns="45720" rIns="45720">
            <a:spAutoFit/>
          </a:bodyPr>
          <a:lstStyle/>
          <a:p>
            <a:pPr algn="l"/>
            <a:r>
              <a:rPr sz="1600" b="1" i="0">
                <a:solidFill>
                  <a:srgbClr val="5B2C83"/>
                </a:solidFill>
                <a:latin typeface="Calibri"/>
              </a:rPr>
              <a:t>Sources (Oracle official documentation, releases 25B to 26D)</a:t>
            </a:r>
          </a:p>
        </p:txBody>
      </p:sp>
      <p:sp>
        <p:nvSpPr>
          <p:cNvPr id="7" name="TextBox 6"/>
          <p:cNvSpPr txBox="1"/>
          <p:nvPr/>
        </p:nvSpPr>
        <p:spPr>
          <a:xfrm>
            <a:off x="548640" y="1828800"/>
            <a:ext cx="11247120" cy="4389120"/>
          </a:xfrm>
          <a:prstGeom prst="rect">
            <a:avLst/>
          </a:prstGeom>
          <a:noFill/>
        </p:spPr>
        <p:txBody>
          <a:bodyPr wrap="square">
            <a:spAutoFit/>
          </a:bodyPr>
          <a:lstStyle/>
          <a:p>
            <a:pPr>
              <a:spcAft>
                <a:spcPts val="400"/>
              </a:spcAft>
            </a:pPr>
            <a:r>
              <a:rPr sz="1000" b="0" i="0">
                <a:solidFill>
                  <a:srgbClr val="5B2C83"/>
                </a:solidFill>
                <a:latin typeface="Calibri"/>
              </a:rPr>
              <a:t>■  </a:t>
            </a:r>
            <a:r>
              <a:rPr sz="1400" b="1" i="0">
                <a:solidFill>
                  <a:srgbClr val="1F1B2E"/>
                </a:solidFill>
                <a:latin typeface="Calibri"/>
              </a:rPr>
              <a:t>Launch Cloud Service User's Guide: </a:t>
            </a:r>
            <a:r>
              <a:rPr sz="1400" b="0" i="0">
                <a:solidFill>
                  <a:srgbClr val="1F1B2E"/>
                </a:solidFill>
                <a:latin typeface="Calibri"/>
              </a:rPr>
              <a:t>Launch Overview, Product Offers, Rules, Entity Lifecycle Management</a:t>
            </a:r>
          </a:p>
          <a:p>
            <a:pPr>
              <a:spcAft>
                <a:spcPts val="400"/>
              </a:spcAft>
            </a:pPr>
            <a:r>
              <a:rPr sz="1200" b="0" i="0">
                <a:solidFill>
                  <a:srgbClr val="5F5A6B"/>
                </a:solidFill>
                <a:latin typeface="Calibri"/>
              </a:rPr>
              <a:t>      –  </a:t>
            </a:r>
            <a:r>
              <a:rPr sz="1200" b="0" i="0">
                <a:solidFill>
                  <a:srgbClr val="5F5A6B"/>
                </a:solidFill>
                <a:latin typeface="Calibri"/>
              </a:rPr>
              <a:t>docs.oracle.com/en/industries/communications/launch-cloud-service/26c/user-guide/</a:t>
            </a:r>
          </a:p>
          <a:p>
            <a:pPr>
              <a:spcAft>
                <a:spcPts val="400"/>
              </a:spcAft>
            </a:pPr>
            <a:r>
              <a:rPr sz="1000" b="0" i="0">
                <a:solidFill>
                  <a:srgbClr val="5B2C83"/>
                </a:solidFill>
                <a:latin typeface="Calibri"/>
              </a:rPr>
              <a:t>■  </a:t>
            </a:r>
            <a:r>
              <a:rPr sz="1400" b="1" i="0">
                <a:solidFill>
                  <a:srgbClr val="1F1B2E"/>
                </a:solidFill>
                <a:latin typeface="Calibri"/>
              </a:rPr>
              <a:t>Launch Cloud Service Implementation Guide: </a:t>
            </a:r>
            <a:r>
              <a:rPr sz="1400" b="0" i="0">
                <a:solidFill>
                  <a:srgbClr val="1F1B2E"/>
                </a:solidFill>
                <a:latin typeface="Calibri"/>
              </a:rPr>
              <a:t>Set Up Users and Roles, Predefined Job Roles, Publish Catalogs</a:t>
            </a:r>
          </a:p>
          <a:p>
            <a:pPr>
              <a:spcAft>
                <a:spcPts val="400"/>
              </a:spcAft>
            </a:pPr>
            <a:r>
              <a:rPr sz="1200" b="0" i="0">
                <a:solidFill>
                  <a:srgbClr val="5F5A6B"/>
                </a:solidFill>
                <a:latin typeface="Calibri"/>
              </a:rPr>
              <a:t>      –  </a:t>
            </a:r>
            <a:r>
              <a:rPr sz="1200" b="0" i="0">
                <a:solidFill>
                  <a:srgbClr val="5F5A6B"/>
                </a:solidFill>
                <a:latin typeface="Calibri"/>
              </a:rPr>
              <a:t>docs.oracle.com/en/industries/communications/launch-cloud-service/26d/implement-guide/</a:t>
            </a:r>
          </a:p>
          <a:p>
            <a:pPr>
              <a:spcAft>
                <a:spcPts val="400"/>
              </a:spcAft>
            </a:pPr>
            <a:r>
              <a:rPr sz="1000" b="0" i="0">
                <a:solidFill>
                  <a:srgbClr val="5B2C83"/>
                </a:solidFill>
                <a:latin typeface="Calibri"/>
              </a:rPr>
              <a:t>■  </a:t>
            </a:r>
            <a:r>
              <a:rPr sz="1400" b="1" i="0">
                <a:solidFill>
                  <a:srgbClr val="1F1B2E"/>
                </a:solidFill>
                <a:latin typeface="Calibri"/>
              </a:rPr>
              <a:t>Launch Cloud Service Integration Guide: </a:t>
            </a:r>
            <a:r>
              <a:rPr sz="1400" b="0" i="0">
                <a:solidFill>
                  <a:srgbClr val="1F1B2E"/>
                </a:solidFill>
                <a:latin typeface="Calibri"/>
              </a:rPr>
              <a:t>Integration with Siebel CRM</a:t>
            </a:r>
          </a:p>
          <a:p>
            <a:pPr>
              <a:spcAft>
                <a:spcPts val="400"/>
              </a:spcAft>
            </a:pPr>
            <a:r>
              <a:rPr sz="1200" b="0" i="0">
                <a:solidFill>
                  <a:srgbClr val="5F5A6B"/>
                </a:solidFill>
                <a:latin typeface="Calibri"/>
              </a:rPr>
              <a:t>      –  </a:t>
            </a:r>
            <a:r>
              <a:rPr sz="1200" b="0" i="0">
                <a:solidFill>
                  <a:srgbClr val="5F5A6B"/>
                </a:solidFill>
                <a:latin typeface="Calibri"/>
              </a:rPr>
              <a:t>docs.oracle.com/en/industries/communications/launch-cloud-service/26b/integration/</a:t>
            </a:r>
          </a:p>
          <a:p>
            <a:pPr>
              <a:spcAft>
                <a:spcPts val="400"/>
              </a:spcAft>
            </a:pPr>
            <a:r>
              <a:rPr sz="1000" b="0" i="0">
                <a:solidFill>
                  <a:srgbClr val="5B2C83"/>
                </a:solidFill>
                <a:latin typeface="Calibri"/>
              </a:rPr>
              <a:t>■  </a:t>
            </a:r>
            <a:r>
              <a:rPr sz="1400" b="0" i="0">
                <a:solidFill>
                  <a:srgbClr val="1F1B2E"/>
                </a:solidFill>
                <a:latin typeface="Calibri"/>
              </a:rPr>
              <a:t>Release notes 26A and What's New 26C (Initiatives enhancements, Offer Design Integrity AI agent)</a:t>
            </a:r>
          </a:p>
          <a:p>
            <a:pPr>
              <a:spcAft>
                <a:spcPts val="400"/>
              </a:spcAft>
            </a:pPr>
            <a:r>
              <a:rPr sz="1000" b="0" i="0">
                <a:solidFill>
                  <a:srgbClr val="5B2C83"/>
                </a:solidFill>
                <a:latin typeface="Calibri"/>
              </a:rPr>
              <a:t>■  </a:t>
            </a:r>
            <a:r>
              <a:rPr sz="1400" b="1" i="0">
                <a:solidFill>
                  <a:srgbClr val="1F1B2E"/>
                </a:solidFill>
                <a:latin typeface="Calibri"/>
              </a:rPr>
              <a:t>TM Forum: </a:t>
            </a:r>
            <a:r>
              <a:rPr sz="1400" b="0" i="0">
                <a:solidFill>
                  <a:srgbClr val="1F1B2E"/>
                </a:solidFill>
                <a:latin typeface="Calibri"/>
              </a:rPr>
              <a:t>TMF620 Product Catalog Management API and TMFC001 Product Catalog Management component</a:t>
            </a:r>
          </a:p>
        </p:txBody>
      </p:sp>
      <p:sp>
        <p:nvSpPr>
          <p:cNvPr id="8" name="TextBox 7"/>
          <p:cNvSpPr txBox="1"/>
          <p:nvPr/>
        </p:nvSpPr>
        <p:spPr>
          <a:xfrm>
            <a:off x="548640" y="5852160"/>
            <a:ext cx="11155680" cy="457200"/>
          </a:xfrm>
          <a:prstGeom prst="rect">
            <a:avLst/>
          </a:prstGeom>
          <a:noFill/>
        </p:spPr>
        <p:txBody>
          <a:bodyPr wrap="square" anchor="t" lIns="45720" rIns="45720">
            <a:spAutoFit/>
          </a:bodyPr>
          <a:lstStyle/>
          <a:p>
            <a:pPr algn="l"/>
            <a:r>
              <a:rPr sz="1200" b="0" i="1">
                <a:solidFill>
                  <a:srgbClr val="5F5A6B"/>
                </a:solidFill>
                <a:latin typeface="Calibri"/>
              </a:rPr>
              <a:t>Telecom use case, approval matrix and build blueprint are our own proposals for discussion, not Oracle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